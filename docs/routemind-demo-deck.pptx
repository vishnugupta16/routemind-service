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572768"/>
            <a:ext cx="7498079" cy="924051"/>
          </a:xfrm>
          <a:prstGeom prst="rect">
            <a:avLst/>
          </a:prstGeom>
          <a:noFill/>
        </p:spPr>
        <p:txBody>
          <a:bodyPr wrap="square" lIns="0" rIns="0" tIns="0" bIns="0">
            <a:spAutoFit/>
          </a:bodyPr>
          <a:lstStyle/>
          <a:p>
            <a:pPr algn="l">
              <a:lnSpc>
                <a:spcPct val="100000"/>
              </a:lnSpc>
            </a:pPr>
            <a:r>
              <a:rPr sz="5800" b="1" i="0">
                <a:solidFill>
                  <a:srgbClr val="12161C"/>
                </a:solidFill>
                <a:latin typeface="Arial"/>
              </a:rPr>
              <a:t>RouteMind</a:t>
            </a:r>
          </a:p>
        </p:txBody>
      </p:sp>
      <p:sp>
        <p:nvSpPr>
          <p:cNvPr id="5" name="TextBox 4"/>
          <p:cNvSpPr txBox="1"/>
          <p:nvPr/>
        </p:nvSpPr>
        <p:spPr>
          <a:xfrm>
            <a:off x="566928" y="2670048"/>
            <a:ext cx="6949440" cy="1124864"/>
          </a:xfrm>
          <a:prstGeom prst="rect">
            <a:avLst/>
          </a:prstGeom>
          <a:noFill/>
        </p:spPr>
        <p:txBody>
          <a:bodyPr wrap="square" lIns="0" rIns="0" tIns="0" bIns="0">
            <a:spAutoFit/>
          </a:bodyPr>
          <a:lstStyle/>
          <a:p>
            <a:pPr algn="l">
              <a:lnSpc>
                <a:spcPct val="140000"/>
              </a:lnSpc>
            </a:pPr>
            <a:r>
              <a:rPr sz="1700" b="0" i="0">
                <a:solidFill>
                  <a:srgbClr val="5A6472"/>
                </a:solidFill>
                <a:latin typeface="Arial"/>
              </a:rPr>
              <a:t>Metric degradation and root-cause analysis for enterprise employee transport. How we find what broke, why it broke, and what the LLM is (and isn't) allowed to do.</a:t>
            </a:r>
          </a:p>
        </p:txBody>
      </p:sp>
      <p:sp>
        <p:nvSpPr>
          <p:cNvPr id="6" name="Rectangle 5"/>
          <p:cNvSpPr/>
          <p:nvPr/>
        </p:nvSpPr>
        <p:spPr>
          <a:xfrm>
            <a:off x="566928" y="3822191"/>
            <a:ext cx="2103120" cy="32004"/>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4224528"/>
            <a:ext cx="5486400" cy="227202"/>
          </a:xfrm>
          <a:prstGeom prst="rect">
            <a:avLst/>
          </a:prstGeom>
          <a:noFill/>
        </p:spPr>
        <p:txBody>
          <a:bodyPr wrap="square" lIns="0" rIns="0" tIns="0" bIns="0">
            <a:spAutoFit/>
          </a:bodyPr>
          <a:lstStyle/>
          <a:p>
            <a:pPr algn="l">
              <a:lnSpc>
                <a:spcPct val="100000"/>
              </a:lnSpc>
            </a:pPr>
            <a:r>
              <a:rPr sz="1150" b="0" i="0">
                <a:solidFill>
                  <a:srgbClr val="5A6472"/>
                </a:solidFill>
                <a:latin typeface="Menlo"/>
              </a:rPr>
              <a:t>615,546 trips · May–Jul 2026</a:t>
            </a:r>
          </a:p>
        </p:txBody>
      </p:sp>
      <p:sp>
        <p:nvSpPr>
          <p:cNvPr id="8" name="TextBox 7"/>
          <p:cNvSpPr txBox="1"/>
          <p:nvPr/>
        </p:nvSpPr>
        <p:spPr>
          <a:xfrm>
            <a:off x="566928" y="4552315"/>
            <a:ext cx="5486400" cy="227202"/>
          </a:xfrm>
          <a:prstGeom prst="rect">
            <a:avLst/>
          </a:prstGeom>
          <a:noFill/>
        </p:spPr>
        <p:txBody>
          <a:bodyPr wrap="square" lIns="0" rIns="0" tIns="0" bIns="0">
            <a:spAutoFit/>
          </a:bodyPr>
          <a:lstStyle/>
          <a:p>
            <a:pPr algn="l">
              <a:lnSpc>
                <a:spcPct val="100000"/>
              </a:lnSpc>
            </a:pPr>
            <a:r>
              <a:rPr sz="1150" b="0" i="0">
                <a:solidFill>
                  <a:srgbClr val="5A6472"/>
                </a:solidFill>
                <a:latin typeface="Menlo"/>
              </a:rPr>
              <a:t>5 business units · 9 metrics</a:t>
            </a:r>
          </a:p>
        </p:txBody>
      </p:sp>
      <p:sp>
        <p:nvSpPr>
          <p:cNvPr id="9" name="TextBox 8"/>
          <p:cNvSpPr txBox="1"/>
          <p:nvPr/>
        </p:nvSpPr>
        <p:spPr>
          <a:xfrm>
            <a:off x="566928" y="4880101"/>
            <a:ext cx="5486400" cy="227202"/>
          </a:xfrm>
          <a:prstGeom prst="rect">
            <a:avLst/>
          </a:prstGeom>
          <a:noFill/>
        </p:spPr>
        <p:txBody>
          <a:bodyPr wrap="square" lIns="0" rIns="0" tIns="0" bIns="0">
            <a:spAutoFit/>
          </a:bodyPr>
          <a:lstStyle/>
          <a:p>
            <a:pPr algn="l">
              <a:lnSpc>
                <a:spcPct val="100000"/>
              </a:lnSpc>
            </a:pPr>
            <a:r>
              <a:rPr sz="1150" b="0" i="0">
                <a:solidFill>
                  <a:srgbClr val="5A6472"/>
                </a:solidFill>
                <a:latin typeface="Menlo"/>
              </a:rPr>
              <a:t>Spring Boot 4 · Java 24 · Postgres</a:t>
            </a:r>
          </a:p>
        </p:txBody>
      </p:sp>
      <p:sp>
        <p:nvSpPr>
          <p:cNvPr id="10" name="TextBox 9"/>
          <p:cNvSpPr txBox="1"/>
          <p:nvPr/>
        </p:nvSpPr>
        <p:spPr>
          <a:xfrm>
            <a:off x="566928" y="5207888"/>
            <a:ext cx="5486400" cy="227202"/>
          </a:xfrm>
          <a:prstGeom prst="rect">
            <a:avLst/>
          </a:prstGeom>
          <a:noFill/>
        </p:spPr>
        <p:txBody>
          <a:bodyPr wrap="square" lIns="0" rIns="0" tIns="0" bIns="0">
            <a:spAutoFit/>
          </a:bodyPr>
          <a:lstStyle/>
          <a:p>
            <a:pPr algn="l">
              <a:lnSpc>
                <a:spcPct val="100000"/>
              </a:lnSpc>
            </a:pPr>
            <a:r>
              <a:rPr sz="1150" b="0" i="0">
                <a:solidFill>
                  <a:srgbClr val="5A6472"/>
                </a:solidFill>
                <a:latin typeface="Menlo"/>
              </a:rPr>
              <a:t>answers grounded in this data only</a:t>
            </a:r>
          </a:p>
        </p:txBody>
      </p:sp>
      <p:sp>
        <p:nvSpPr>
          <p:cNvPr id="11" name="Rectangle 10"/>
          <p:cNvSpPr/>
          <p:nvPr/>
        </p:nvSpPr>
        <p:spPr>
          <a:xfrm>
            <a:off x="8275320" y="1463040"/>
            <a:ext cx="3346704" cy="3840480"/>
          </a:xfrm>
          <a:prstGeom prst="rect">
            <a:avLst/>
          </a:prstGeom>
          <a:solidFill>
            <a:srgbClr val="FFFFFF"/>
          </a:solidFill>
          <a:ln w="9525">
            <a:solidFill>
              <a:srgbClr val="C3C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49640" y="1755648"/>
            <a:ext cx="2834640" cy="239941"/>
          </a:xfrm>
          <a:prstGeom prst="rect">
            <a:avLst/>
          </a:prstGeom>
          <a:noFill/>
        </p:spPr>
        <p:txBody>
          <a:bodyPr wrap="square" lIns="0" rIns="0" tIns="0" bIns="0">
            <a:spAutoFit/>
          </a:bodyPr>
          <a:lstStyle/>
          <a:p>
            <a:pPr algn="l">
              <a:lnSpc>
                <a:spcPct val="130000"/>
              </a:lnSpc>
            </a:pPr>
            <a:r>
              <a:rPr sz="950" b="1" i="0">
                <a:solidFill>
                  <a:srgbClr val="5A6472"/>
                </a:solidFill>
                <a:latin typeface="Menlo"/>
              </a:rPr>
              <a:t>THE QUESTION</a:t>
            </a:r>
          </a:p>
        </p:txBody>
      </p:sp>
      <p:sp>
        <p:nvSpPr>
          <p:cNvPr id="13" name="TextBox 12"/>
          <p:cNvSpPr txBox="1"/>
          <p:nvPr/>
        </p:nvSpPr>
        <p:spPr>
          <a:xfrm>
            <a:off x="8549640" y="2029967"/>
            <a:ext cx="2798064" cy="1178814"/>
          </a:xfrm>
          <a:prstGeom prst="rect">
            <a:avLst/>
          </a:prstGeom>
          <a:noFill/>
        </p:spPr>
        <p:txBody>
          <a:bodyPr wrap="square" lIns="0" rIns="0" tIns="0" bIns="0">
            <a:spAutoFit/>
          </a:bodyPr>
          <a:lstStyle/>
          <a:p>
            <a:pPr algn="l">
              <a:lnSpc>
                <a:spcPct val="125000"/>
              </a:lnSpc>
            </a:pPr>
            <a:r>
              <a:rPr sz="2000" b="1" i="0">
                <a:solidFill>
                  <a:srgbClr val="12161C"/>
                </a:solidFill>
                <a:latin typeface="Arial"/>
              </a:rPr>
              <a:t>“On-time arrival dropped two points last month. </a:t>
            </a:r>
            <a:r>
              <a:rPr sz="2000" b="1" i="0">
                <a:solidFill>
                  <a:srgbClr val="1F5FA8"/>
                </a:solidFill>
                <a:latin typeface="Arial"/>
              </a:rPr>
              <a:t>Why?</a:t>
            </a:r>
            <a:r>
              <a:rPr sz="2000" b="1" i="0">
                <a:solidFill>
                  <a:srgbClr val="12161C"/>
                </a:solidFill>
                <a:latin typeface="Arial"/>
              </a:rPr>
              <a:t>”</a:t>
            </a:r>
          </a:p>
        </p:txBody>
      </p:sp>
      <p:sp>
        <p:nvSpPr>
          <p:cNvPr id="14" name="Rectangle 13"/>
          <p:cNvSpPr/>
          <p:nvPr/>
        </p:nvSpPr>
        <p:spPr>
          <a:xfrm>
            <a:off x="8549640" y="3483102"/>
            <a:ext cx="2798064" cy="8229"/>
          </a:xfrm>
          <a:prstGeom prst="rect">
            <a:avLst/>
          </a:prstGeom>
          <a:solidFill>
            <a:srgbClr val="DCD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49640" y="3702557"/>
            <a:ext cx="2798064" cy="1261237"/>
          </a:xfrm>
          <a:prstGeom prst="rect">
            <a:avLst/>
          </a:prstGeom>
          <a:noFill/>
        </p:spPr>
        <p:txBody>
          <a:bodyPr wrap="square" lIns="0" rIns="0" tIns="0" bIns="0">
            <a:spAutoFit/>
          </a:bodyPr>
          <a:lstStyle/>
          <a:p>
            <a:pPr algn="l">
              <a:lnSpc>
                <a:spcPct val="140000"/>
              </a:lnSpc>
            </a:pPr>
            <a:r>
              <a:rPr sz="1150" b="0" i="0">
                <a:solidFill>
                  <a:srgbClr val="5A6472"/>
                </a:solidFill>
                <a:latin typeface="Arial"/>
              </a:rPr>
              <a:t>A dashboard shows the drop. It does not say which of 97,554 morning pickups caused it, which vendor to call, or whether the cause was even inside your control.</a:t>
            </a:r>
          </a:p>
        </p:txBody>
      </p:sp>
      <p:sp>
        <p:nvSpPr>
          <p:cNvPr id="16" name="TextBox 15"/>
          <p:cNvSpPr txBox="1"/>
          <p:nvPr/>
        </p:nvSpPr>
        <p:spPr>
          <a:xfrm>
            <a:off x="566928" y="6455664"/>
            <a:ext cx="11057839" cy="230200"/>
          </a:xfrm>
          <a:prstGeom prst="rect">
            <a:avLst/>
          </a:prstGeom>
          <a:noFill/>
        </p:spPr>
        <p:txBody>
          <a:bodyPr wrap="square" lIns="0" rIns="0" tIns="0" bIns="0">
            <a:spAutoFit/>
          </a:bodyPr>
          <a:lstStyle/>
          <a:p>
            <a:pPr algn="ctr">
              <a:lnSpc>
                <a:spcPct val="130000"/>
              </a:lnSpc>
            </a:pPr>
            <a:r>
              <a:rPr sz="900" b="0" i="0">
                <a:solidFill>
                  <a:srgbClr val="8A93A0"/>
                </a:solidFill>
                <a:latin typeface="Menlo"/>
              </a:rPr>
              <a:t>RouteMind · figures computed live from the loaded dataset, 5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10509199" cy="239941"/>
          </a:xfrm>
          <a:prstGeom prst="rect">
            <a:avLst/>
          </a:prstGeom>
          <a:noFill/>
        </p:spPr>
        <p:txBody>
          <a:bodyPr wrap="square" lIns="0" rIns="0" tIns="0" bIns="0">
            <a:spAutoFit/>
          </a:bodyPr>
          <a:lstStyle/>
          <a:p>
            <a:pPr algn="l">
              <a:lnSpc>
                <a:spcPct val="130000"/>
              </a:lnSpc>
            </a:pPr>
            <a:r>
              <a:rPr sz="950" b="0" i="0">
                <a:solidFill>
                  <a:srgbClr val="8A93A0"/>
                </a:solidFill>
                <a:latin typeface="Menlo"/>
              </a:rPr>
              <a:t>THE GAP BETWEEN NOTICING AND ACTING</a:t>
            </a:r>
          </a:p>
        </p:txBody>
      </p:sp>
      <p:sp>
        <p:nvSpPr>
          <p:cNvPr id="4" name="TextBox 3"/>
          <p:cNvSpPr txBox="1"/>
          <p:nvPr/>
        </p:nvSpPr>
        <p:spPr>
          <a:xfrm>
            <a:off x="566928" y="667512"/>
            <a:ext cx="10509199" cy="479717"/>
          </a:xfrm>
          <a:prstGeom prst="rect">
            <a:avLst/>
          </a:prstGeom>
          <a:noFill/>
        </p:spPr>
        <p:txBody>
          <a:bodyPr wrap="square" lIns="0" rIns="0" tIns="0" bIns="0">
            <a:spAutoFit/>
          </a:bodyPr>
          <a:lstStyle/>
          <a:p>
            <a:pPr algn="l">
              <a:lnSpc>
                <a:spcPct val="105000"/>
              </a:lnSpc>
            </a:pPr>
            <a:r>
              <a:rPr sz="2700" b="1" i="0">
                <a:solidFill>
                  <a:srgbClr val="12161C"/>
                </a:solidFill>
                <a:latin typeface="Arial"/>
              </a:rPr>
              <a:t>That gap is the product</a:t>
            </a:r>
          </a:p>
        </p:txBody>
      </p:sp>
      <p:sp>
        <p:nvSpPr>
          <p:cNvPr id="5" name="Rectangle 4"/>
          <p:cNvSpPr/>
          <p:nvPr/>
        </p:nvSpPr>
        <p:spPr>
          <a:xfrm>
            <a:off x="566928" y="1435608"/>
            <a:ext cx="2654731" cy="1572768"/>
          </a:xfrm>
          <a:prstGeom prst="rect">
            <a:avLst/>
          </a:prstGeom>
          <a:solidFill>
            <a:srgbClr val="FFFFFF"/>
          </a:solidFill>
          <a:ln w="9525">
            <a:solidFill>
              <a:srgbClr val="C3C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5608"/>
            <a:ext cx="2654731" cy="36576"/>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83080"/>
            <a:ext cx="2288971" cy="425018"/>
          </a:xfrm>
          <a:prstGeom prst="rect">
            <a:avLst/>
          </a:prstGeom>
          <a:noFill/>
        </p:spPr>
        <p:txBody>
          <a:bodyPr wrap="square" lIns="0" rIns="0" tIns="0" bIns="0">
            <a:spAutoFit/>
          </a:bodyPr>
          <a:lstStyle/>
          <a:p>
            <a:pPr algn="l">
              <a:lnSpc>
                <a:spcPct val="130000"/>
              </a:lnSpc>
            </a:pPr>
            <a:r>
              <a:rPr sz="1900" b="1" i="0">
                <a:solidFill>
                  <a:srgbClr val="12161C"/>
                </a:solidFill>
                <a:latin typeface="Menlo"/>
              </a:rPr>
              <a:t>97.4% → 95.4%</a:t>
            </a:r>
          </a:p>
        </p:txBody>
      </p:sp>
      <p:sp>
        <p:nvSpPr>
          <p:cNvPr id="8" name="TextBox 7"/>
          <p:cNvSpPr txBox="1"/>
          <p:nvPr/>
        </p:nvSpPr>
        <p:spPr>
          <a:xfrm>
            <a:off x="768096" y="2276856"/>
            <a:ext cx="2288971" cy="520179"/>
          </a:xfrm>
          <a:prstGeom prst="rect">
            <a:avLst/>
          </a:prstGeom>
          <a:noFill/>
        </p:spPr>
        <p:txBody>
          <a:bodyPr wrap="square" lIns="0" rIns="0" tIns="0" bIns="0">
            <a:spAutoFit/>
          </a:bodyPr>
          <a:lstStyle/>
          <a:p>
            <a:pPr algn="l">
              <a:lnSpc>
                <a:spcPct val="135000"/>
              </a:lnSpc>
            </a:pPr>
            <a:r>
              <a:rPr sz="1150" b="0" i="0">
                <a:solidFill>
                  <a:srgbClr val="5A6472"/>
                </a:solidFill>
                <a:latin typeface="Arial"/>
              </a:rPr>
              <a:t>June OTA vs May. A real, measured 2-point fall.</a:t>
            </a:r>
          </a:p>
        </p:txBody>
      </p:sp>
      <p:sp>
        <p:nvSpPr>
          <p:cNvPr id="9" name="Rectangle 8"/>
          <p:cNvSpPr/>
          <p:nvPr/>
        </p:nvSpPr>
        <p:spPr>
          <a:xfrm>
            <a:off x="3367963" y="1435608"/>
            <a:ext cx="2654731" cy="1572768"/>
          </a:xfrm>
          <a:prstGeom prst="rect">
            <a:avLst/>
          </a:prstGeom>
          <a:solidFill>
            <a:srgbClr val="FFFFFF"/>
          </a:solidFill>
          <a:ln w="9525">
            <a:solidFill>
              <a:srgbClr val="C3C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67963" y="1435608"/>
            <a:ext cx="2654731" cy="36576"/>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9131" y="1783080"/>
            <a:ext cx="2288971" cy="425018"/>
          </a:xfrm>
          <a:prstGeom prst="rect">
            <a:avLst/>
          </a:prstGeom>
          <a:noFill/>
        </p:spPr>
        <p:txBody>
          <a:bodyPr wrap="square" lIns="0" rIns="0" tIns="0" bIns="0">
            <a:spAutoFit/>
          </a:bodyPr>
          <a:lstStyle/>
          <a:p>
            <a:pPr algn="l">
              <a:lnSpc>
                <a:spcPct val="130000"/>
              </a:lnSpc>
            </a:pPr>
            <a:r>
              <a:rPr sz="1900" b="1" i="0">
                <a:solidFill>
                  <a:srgbClr val="12161C"/>
                </a:solidFill>
                <a:latin typeface="Menlo"/>
              </a:rPr>
              <a:t>−1.8 pts</a:t>
            </a:r>
          </a:p>
        </p:txBody>
      </p:sp>
      <p:sp>
        <p:nvSpPr>
          <p:cNvPr id="12" name="TextBox 11"/>
          <p:cNvSpPr txBox="1"/>
          <p:nvPr/>
        </p:nvSpPr>
        <p:spPr>
          <a:xfrm>
            <a:off x="3569131" y="2276856"/>
            <a:ext cx="2288971" cy="520179"/>
          </a:xfrm>
          <a:prstGeom prst="rect">
            <a:avLst/>
          </a:prstGeom>
          <a:noFill/>
        </p:spPr>
        <p:txBody>
          <a:bodyPr wrap="square" lIns="0" rIns="0" tIns="0" bIns="0">
            <a:spAutoFit/>
          </a:bodyPr>
          <a:lstStyle/>
          <a:p>
            <a:pPr algn="l">
              <a:lnSpc>
                <a:spcPct val="135000"/>
              </a:lnSpc>
            </a:pPr>
            <a:r>
              <a:rPr sz="1150" b="0" i="0">
                <a:solidFill>
                  <a:srgbClr val="5A6472"/>
                </a:solidFill>
                <a:latin typeface="Arial"/>
              </a:rPr>
              <a:t>of it sits in morning pickups (LOGIN) alone</a:t>
            </a:r>
          </a:p>
        </p:txBody>
      </p:sp>
      <p:sp>
        <p:nvSpPr>
          <p:cNvPr id="13" name="Rectangle 12"/>
          <p:cNvSpPr/>
          <p:nvPr/>
        </p:nvSpPr>
        <p:spPr>
          <a:xfrm>
            <a:off x="6168999" y="1435608"/>
            <a:ext cx="2654731" cy="1572768"/>
          </a:xfrm>
          <a:prstGeom prst="rect">
            <a:avLst/>
          </a:prstGeom>
          <a:solidFill>
            <a:srgbClr val="FFFFFF"/>
          </a:solidFill>
          <a:ln w="9525">
            <a:solidFill>
              <a:srgbClr val="C3C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68999" y="1435608"/>
            <a:ext cx="2654731" cy="36576"/>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70167" y="1783080"/>
            <a:ext cx="2288971" cy="425018"/>
          </a:xfrm>
          <a:prstGeom prst="rect">
            <a:avLst/>
          </a:prstGeom>
          <a:noFill/>
        </p:spPr>
        <p:txBody>
          <a:bodyPr wrap="square" lIns="0" rIns="0" tIns="0" bIns="0">
            <a:spAutoFit/>
          </a:bodyPr>
          <a:lstStyle/>
          <a:p>
            <a:pPr algn="l">
              <a:lnSpc>
                <a:spcPct val="130000"/>
              </a:lnSpc>
            </a:pPr>
            <a:r>
              <a:rPr sz="1900" b="1" i="0">
                <a:solidFill>
                  <a:srgbClr val="12161C"/>
                </a:solidFill>
                <a:latin typeface="Menlo"/>
              </a:rPr>
              <a:t>Denver</a:t>
            </a:r>
          </a:p>
        </p:txBody>
      </p:sp>
      <p:sp>
        <p:nvSpPr>
          <p:cNvPr id="16" name="TextBox 15"/>
          <p:cNvSpPr txBox="1"/>
          <p:nvPr/>
        </p:nvSpPr>
        <p:spPr>
          <a:xfrm>
            <a:off x="6370167" y="2276856"/>
            <a:ext cx="2288971" cy="520179"/>
          </a:xfrm>
          <a:prstGeom prst="rect">
            <a:avLst/>
          </a:prstGeom>
          <a:noFill/>
        </p:spPr>
        <p:txBody>
          <a:bodyPr wrap="square" lIns="0" rIns="0" tIns="0" bIns="0">
            <a:spAutoFit/>
          </a:bodyPr>
          <a:lstStyle/>
          <a:p>
            <a:pPr algn="l">
              <a:lnSpc>
                <a:spcPct val="135000"/>
              </a:lnSpc>
            </a:pPr>
            <a:r>
              <a:rPr sz="1150" b="0" i="0">
                <a:solidFill>
                  <a:srgbClr val="5A6472"/>
                </a:solidFill>
                <a:latin typeface="Arial"/>
              </a:rPr>
              <a:t>one office carries 0.9 pts of the total drop</a:t>
            </a:r>
          </a:p>
        </p:txBody>
      </p:sp>
      <p:sp>
        <p:nvSpPr>
          <p:cNvPr id="17" name="Rectangle 16"/>
          <p:cNvSpPr/>
          <p:nvPr/>
        </p:nvSpPr>
        <p:spPr>
          <a:xfrm>
            <a:off x="8970035" y="1435608"/>
            <a:ext cx="2654731" cy="1572768"/>
          </a:xfrm>
          <a:prstGeom prst="rect">
            <a:avLst/>
          </a:prstGeom>
          <a:solidFill>
            <a:srgbClr val="FFFFFF"/>
          </a:solidFill>
          <a:ln w="9525">
            <a:solidFill>
              <a:srgbClr val="C3C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970035" y="1435608"/>
            <a:ext cx="2654731" cy="36576"/>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71203" y="1783080"/>
            <a:ext cx="2288971" cy="425018"/>
          </a:xfrm>
          <a:prstGeom prst="rect">
            <a:avLst/>
          </a:prstGeom>
          <a:noFill/>
        </p:spPr>
        <p:txBody>
          <a:bodyPr wrap="square" lIns="0" rIns="0" tIns="0" bIns="0">
            <a:spAutoFit/>
          </a:bodyPr>
          <a:lstStyle/>
          <a:p>
            <a:pPr algn="l">
              <a:lnSpc>
                <a:spcPct val="130000"/>
              </a:lnSpc>
            </a:pPr>
            <a:r>
              <a:rPr sz="1900" b="1" i="0">
                <a:solidFill>
                  <a:srgbClr val="12161C"/>
                </a:solidFill>
                <a:latin typeface="Menlo"/>
              </a:rPr>
              <a:t>29.5% → 33.2%</a:t>
            </a:r>
          </a:p>
        </p:txBody>
      </p:sp>
      <p:sp>
        <p:nvSpPr>
          <p:cNvPr id="20" name="TextBox 19"/>
          <p:cNvSpPr txBox="1"/>
          <p:nvPr/>
        </p:nvSpPr>
        <p:spPr>
          <a:xfrm>
            <a:off x="9171203" y="2276856"/>
            <a:ext cx="2288971" cy="520179"/>
          </a:xfrm>
          <a:prstGeom prst="rect">
            <a:avLst/>
          </a:prstGeom>
          <a:noFill/>
        </p:spPr>
        <p:txBody>
          <a:bodyPr wrap="square" lIns="0" rIns="0" tIns="0" bIns="0">
            <a:spAutoFit/>
          </a:bodyPr>
          <a:lstStyle/>
          <a:p>
            <a:pPr algn="l">
              <a:lnSpc>
                <a:spcPct val="135000"/>
              </a:lnSpc>
            </a:pPr>
            <a:r>
              <a:rPr sz="1150" b="0" i="0">
                <a:solidFill>
                  <a:srgbClr val="5A6472"/>
                </a:solidFill>
                <a:latin typeface="Arial"/>
              </a:rPr>
              <a:t>driver-caused lateness — the controllable share</a:t>
            </a:r>
          </a:p>
        </p:txBody>
      </p:sp>
      <p:sp>
        <p:nvSpPr>
          <p:cNvPr id="21" name="TextBox 20"/>
          <p:cNvSpPr txBox="1"/>
          <p:nvPr/>
        </p:nvSpPr>
        <p:spPr>
          <a:xfrm>
            <a:off x="566928" y="3401568"/>
            <a:ext cx="5486400" cy="239941"/>
          </a:xfrm>
          <a:prstGeom prst="rect">
            <a:avLst/>
          </a:prstGeom>
          <a:noFill/>
        </p:spPr>
        <p:txBody>
          <a:bodyPr wrap="square" lIns="0" rIns="0" tIns="0" bIns="0">
            <a:spAutoFit/>
          </a:bodyPr>
          <a:lstStyle/>
          <a:p>
            <a:pPr algn="l">
              <a:lnSpc>
                <a:spcPct val="130000"/>
              </a:lnSpc>
            </a:pPr>
            <a:r>
              <a:rPr sz="950" b="1" i="0">
                <a:solidFill>
                  <a:srgbClr val="5A6472"/>
                </a:solidFill>
                <a:latin typeface="Menlo"/>
              </a:rPr>
              <a:t>WHAT A MANAGER ACTUALLY NEEDS</a:t>
            </a:r>
          </a:p>
        </p:txBody>
      </p:sp>
      <p:sp>
        <p:nvSpPr>
          <p:cNvPr id="22" name="TextBox 21"/>
          <p:cNvSpPr txBox="1"/>
          <p:nvPr/>
        </p:nvSpPr>
        <p:spPr>
          <a:xfrm>
            <a:off x="566928" y="3675887"/>
            <a:ext cx="201168" cy="317868"/>
          </a:xfrm>
          <a:prstGeom prst="rect">
            <a:avLst/>
          </a:prstGeom>
          <a:noFill/>
        </p:spPr>
        <p:txBody>
          <a:bodyPr wrap="square" lIns="0" rIns="0" tIns="0" bIns="0">
            <a:spAutoFit/>
          </a:bodyPr>
          <a:lstStyle/>
          <a:p>
            <a:pPr algn="l">
              <a:lnSpc>
                <a:spcPct val="130000"/>
              </a:lnSpc>
            </a:pPr>
            <a:r>
              <a:rPr sz="1350" b="0" i="0">
                <a:solidFill>
                  <a:srgbClr val="8A93A0"/>
                </a:solidFill>
                <a:latin typeface="Arial"/>
              </a:rPr>
              <a:t>—</a:t>
            </a:r>
          </a:p>
        </p:txBody>
      </p:sp>
      <p:sp>
        <p:nvSpPr>
          <p:cNvPr id="23" name="TextBox 22"/>
          <p:cNvSpPr txBox="1"/>
          <p:nvPr/>
        </p:nvSpPr>
        <p:spPr>
          <a:xfrm>
            <a:off x="804672" y="3675887"/>
            <a:ext cx="5157216" cy="317868"/>
          </a:xfrm>
          <a:prstGeom prst="rect">
            <a:avLst/>
          </a:prstGeom>
          <a:noFill/>
        </p:spPr>
        <p:txBody>
          <a:bodyPr wrap="square" lIns="0" rIns="0" tIns="0" bIns="0">
            <a:spAutoFit/>
          </a:bodyPr>
          <a:lstStyle/>
          <a:p>
            <a:pPr algn="l">
              <a:lnSpc>
                <a:spcPct val="130000"/>
              </a:lnSpc>
            </a:pPr>
            <a:r>
              <a:rPr sz="1350" b="1" i="0">
                <a:solidFill>
                  <a:srgbClr val="12161C"/>
                </a:solidFill>
                <a:latin typeface="Arial"/>
              </a:rPr>
              <a:t>Which slice broke</a:t>
            </a:r>
            <a:r>
              <a:rPr sz="1350" b="0" i="0">
                <a:solidFill>
                  <a:srgbClr val="12161C"/>
                </a:solidFill>
                <a:latin typeface="Arial"/>
              </a:rPr>
              <a:t> — not that the average moved</a:t>
            </a:r>
          </a:p>
        </p:txBody>
      </p:sp>
      <p:sp>
        <p:nvSpPr>
          <p:cNvPr id="24" name="TextBox 23"/>
          <p:cNvSpPr txBox="1"/>
          <p:nvPr/>
        </p:nvSpPr>
        <p:spPr>
          <a:xfrm>
            <a:off x="566928" y="4176636"/>
            <a:ext cx="201168" cy="317868"/>
          </a:xfrm>
          <a:prstGeom prst="rect">
            <a:avLst/>
          </a:prstGeom>
          <a:noFill/>
        </p:spPr>
        <p:txBody>
          <a:bodyPr wrap="square" lIns="0" rIns="0" tIns="0" bIns="0">
            <a:spAutoFit/>
          </a:bodyPr>
          <a:lstStyle/>
          <a:p>
            <a:pPr algn="l">
              <a:lnSpc>
                <a:spcPct val="130000"/>
              </a:lnSpc>
            </a:pPr>
            <a:r>
              <a:rPr sz="1350" b="0" i="0">
                <a:solidFill>
                  <a:srgbClr val="8A93A0"/>
                </a:solidFill>
                <a:latin typeface="Arial"/>
              </a:rPr>
              <a:t>—</a:t>
            </a:r>
          </a:p>
        </p:txBody>
      </p:sp>
      <p:sp>
        <p:nvSpPr>
          <p:cNvPr id="25" name="TextBox 24"/>
          <p:cNvSpPr txBox="1"/>
          <p:nvPr/>
        </p:nvSpPr>
        <p:spPr>
          <a:xfrm>
            <a:off x="804672" y="4176636"/>
            <a:ext cx="5157216" cy="317868"/>
          </a:xfrm>
          <a:prstGeom prst="rect">
            <a:avLst/>
          </a:prstGeom>
          <a:noFill/>
        </p:spPr>
        <p:txBody>
          <a:bodyPr wrap="square" lIns="0" rIns="0" tIns="0" bIns="0">
            <a:spAutoFit/>
          </a:bodyPr>
          <a:lstStyle/>
          <a:p>
            <a:pPr algn="l">
              <a:lnSpc>
                <a:spcPct val="130000"/>
              </a:lnSpc>
            </a:pPr>
            <a:r>
              <a:rPr sz="1350" b="1" i="0">
                <a:solidFill>
                  <a:srgbClr val="12161C"/>
                </a:solidFill>
                <a:latin typeface="Arial"/>
              </a:rPr>
              <a:t>Who to call</a:t>
            </a:r>
            <a:r>
              <a:rPr sz="1350" b="0" i="0">
                <a:solidFill>
                  <a:srgbClr val="12161C"/>
                </a:solidFill>
                <a:latin typeface="Arial"/>
              </a:rPr>
              <a:t> — the vendor, office and shift that own it</a:t>
            </a:r>
          </a:p>
        </p:txBody>
      </p:sp>
      <p:sp>
        <p:nvSpPr>
          <p:cNvPr id="26" name="TextBox 25"/>
          <p:cNvSpPr txBox="1"/>
          <p:nvPr/>
        </p:nvSpPr>
        <p:spPr>
          <a:xfrm>
            <a:off x="566928" y="4677384"/>
            <a:ext cx="201168" cy="317868"/>
          </a:xfrm>
          <a:prstGeom prst="rect">
            <a:avLst/>
          </a:prstGeom>
          <a:noFill/>
        </p:spPr>
        <p:txBody>
          <a:bodyPr wrap="square" lIns="0" rIns="0" tIns="0" bIns="0">
            <a:spAutoFit/>
          </a:bodyPr>
          <a:lstStyle/>
          <a:p>
            <a:pPr algn="l">
              <a:lnSpc>
                <a:spcPct val="130000"/>
              </a:lnSpc>
            </a:pPr>
            <a:r>
              <a:rPr sz="1350" b="0" i="0">
                <a:solidFill>
                  <a:srgbClr val="8A93A0"/>
                </a:solidFill>
                <a:latin typeface="Arial"/>
              </a:rPr>
              <a:t>—</a:t>
            </a:r>
          </a:p>
        </p:txBody>
      </p:sp>
      <p:sp>
        <p:nvSpPr>
          <p:cNvPr id="27" name="TextBox 26"/>
          <p:cNvSpPr txBox="1"/>
          <p:nvPr/>
        </p:nvSpPr>
        <p:spPr>
          <a:xfrm>
            <a:off x="804672" y="4677384"/>
            <a:ext cx="5157216" cy="580872"/>
          </a:xfrm>
          <a:prstGeom prst="rect">
            <a:avLst/>
          </a:prstGeom>
          <a:noFill/>
        </p:spPr>
        <p:txBody>
          <a:bodyPr wrap="square" lIns="0" rIns="0" tIns="0" bIns="0">
            <a:spAutoFit/>
          </a:bodyPr>
          <a:lstStyle/>
          <a:p>
            <a:pPr algn="l">
              <a:lnSpc>
                <a:spcPct val="130000"/>
              </a:lnSpc>
            </a:pPr>
            <a:r>
              <a:rPr sz="1350" b="1" i="0">
                <a:solidFill>
                  <a:srgbClr val="12161C"/>
                </a:solidFill>
                <a:latin typeface="Arial"/>
              </a:rPr>
              <a:t>Whether it was ours</a:t>
            </a:r>
            <a:r>
              <a:rPr sz="1350" b="0" i="0">
                <a:solidFill>
                  <a:srgbClr val="12161C"/>
                </a:solidFill>
                <a:latin typeface="Arial"/>
              </a:rPr>
              <a:t> — traffic and employee no-shows are not vendor failures</a:t>
            </a:r>
          </a:p>
        </p:txBody>
      </p:sp>
      <p:sp>
        <p:nvSpPr>
          <p:cNvPr id="28" name="TextBox 27"/>
          <p:cNvSpPr txBox="1"/>
          <p:nvPr/>
        </p:nvSpPr>
        <p:spPr>
          <a:xfrm>
            <a:off x="566928" y="5441137"/>
            <a:ext cx="201168" cy="317868"/>
          </a:xfrm>
          <a:prstGeom prst="rect">
            <a:avLst/>
          </a:prstGeom>
          <a:noFill/>
        </p:spPr>
        <p:txBody>
          <a:bodyPr wrap="square" lIns="0" rIns="0" tIns="0" bIns="0">
            <a:spAutoFit/>
          </a:bodyPr>
          <a:lstStyle/>
          <a:p>
            <a:pPr algn="l">
              <a:lnSpc>
                <a:spcPct val="130000"/>
              </a:lnSpc>
            </a:pPr>
            <a:r>
              <a:rPr sz="1350" b="0" i="0">
                <a:solidFill>
                  <a:srgbClr val="8A93A0"/>
                </a:solidFill>
                <a:latin typeface="Arial"/>
              </a:rPr>
              <a:t>—</a:t>
            </a:r>
          </a:p>
        </p:txBody>
      </p:sp>
      <p:sp>
        <p:nvSpPr>
          <p:cNvPr id="29" name="TextBox 28"/>
          <p:cNvSpPr txBox="1"/>
          <p:nvPr/>
        </p:nvSpPr>
        <p:spPr>
          <a:xfrm>
            <a:off x="804672" y="5441137"/>
            <a:ext cx="5157216" cy="317868"/>
          </a:xfrm>
          <a:prstGeom prst="rect">
            <a:avLst/>
          </a:prstGeom>
          <a:noFill/>
        </p:spPr>
        <p:txBody>
          <a:bodyPr wrap="square" lIns="0" rIns="0" tIns="0" bIns="0">
            <a:spAutoFit/>
          </a:bodyPr>
          <a:lstStyle/>
          <a:p>
            <a:pPr algn="l">
              <a:lnSpc>
                <a:spcPct val="130000"/>
              </a:lnSpc>
            </a:pPr>
            <a:r>
              <a:rPr sz="1350" b="1" i="0">
                <a:solidFill>
                  <a:srgbClr val="12161C"/>
                </a:solidFill>
                <a:latin typeface="Arial"/>
              </a:rPr>
              <a:t>Proof</a:t>
            </a:r>
            <a:r>
              <a:rPr sz="1350" b="0" i="0">
                <a:solidFill>
                  <a:srgbClr val="12161C"/>
                </a:solidFill>
                <a:latin typeface="Arial"/>
              </a:rPr>
              <a:t> — the SQL behind the claim, so it survives a dispute</a:t>
            </a:r>
          </a:p>
        </p:txBody>
      </p:sp>
      <p:sp>
        <p:nvSpPr>
          <p:cNvPr id="30" name="TextBox 29"/>
          <p:cNvSpPr txBox="1"/>
          <p:nvPr/>
        </p:nvSpPr>
        <p:spPr>
          <a:xfrm>
            <a:off x="6876288" y="3401568"/>
            <a:ext cx="5303520" cy="239941"/>
          </a:xfrm>
          <a:prstGeom prst="rect">
            <a:avLst/>
          </a:prstGeom>
          <a:noFill/>
        </p:spPr>
        <p:txBody>
          <a:bodyPr wrap="square" lIns="0" rIns="0" tIns="0" bIns="0">
            <a:spAutoFit/>
          </a:bodyPr>
          <a:lstStyle/>
          <a:p>
            <a:pPr algn="l">
              <a:lnSpc>
                <a:spcPct val="130000"/>
              </a:lnSpc>
            </a:pPr>
            <a:r>
              <a:rPr sz="950" b="1" i="0">
                <a:solidFill>
                  <a:srgbClr val="5A6472"/>
                </a:solidFill>
                <a:latin typeface="Menlo"/>
              </a:rPr>
              <a:t>EVERY FIGURE HERE IS LIVE</a:t>
            </a:r>
          </a:p>
        </p:txBody>
      </p:sp>
      <p:sp>
        <p:nvSpPr>
          <p:cNvPr id="31" name="TextBox 30"/>
          <p:cNvSpPr txBox="1"/>
          <p:nvPr/>
        </p:nvSpPr>
        <p:spPr>
          <a:xfrm>
            <a:off x="6876288" y="3675887"/>
            <a:ext cx="5257800" cy="601103"/>
          </a:xfrm>
          <a:prstGeom prst="rect">
            <a:avLst/>
          </a:prstGeom>
          <a:noFill/>
        </p:spPr>
        <p:txBody>
          <a:bodyPr wrap="square" lIns="0" rIns="0" tIns="0" bIns="0">
            <a:spAutoFit/>
          </a:bodyPr>
          <a:lstStyle/>
          <a:p>
            <a:pPr algn="l">
              <a:lnSpc>
                <a:spcPct val="135000"/>
              </a:lnSpc>
            </a:pPr>
            <a:r>
              <a:rPr sz="1350" b="0" i="0">
                <a:solidFill>
                  <a:srgbClr val="5A6472"/>
                </a:solidFill>
                <a:latin typeface="Arial"/>
              </a:rPr>
              <a:t>Computed from the loaded dataset and cross-checked against raw SQL. Nothing in this deck is illustrative.</a:t>
            </a:r>
          </a:p>
        </p:txBody>
      </p:sp>
      <p:sp>
        <p:nvSpPr>
          <p:cNvPr id="32" name="Rectangle 31"/>
          <p:cNvSpPr/>
          <p:nvPr/>
        </p:nvSpPr>
        <p:spPr>
          <a:xfrm>
            <a:off x="6876288" y="4551311"/>
            <a:ext cx="5257800" cy="1160881"/>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876288" y="4551311"/>
            <a:ext cx="21945" cy="1160881"/>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22592" y="4670183"/>
            <a:ext cx="5020056" cy="941425"/>
          </a:xfrm>
          <a:prstGeom prst="rect">
            <a:avLst/>
          </a:prstGeom>
          <a:noFill/>
        </p:spPr>
        <p:txBody>
          <a:bodyPr wrap="square" lIns="0" rIns="0" tIns="0" bIns="0">
            <a:spAutoFit/>
          </a:bodyPr>
          <a:lstStyle/>
          <a:p>
            <a:pPr>
              <a:lnSpc>
                <a:spcPct val="140000"/>
              </a:lnSpc>
            </a:pPr>
            <a:r>
              <a:rPr sz="1100" b="0" i="0">
                <a:solidFill>
                  <a:srgbClr val="1F5FA8"/>
                </a:solidFill>
                <a:latin typeface="Menlo"/>
              </a:rPr>
              <a:t>psql</a:t>
            </a:r>
            <a:r>
              <a:rPr sz="1100" b="0" i="0">
                <a:solidFill>
                  <a:srgbClr val="12161C"/>
                </a:solidFill>
                <a:latin typeface="Menlo"/>
              </a:rPr>
              <a:t> -f verify.sql</a:t>
            </a:r>
          </a:p>
          <a:p>
            <a:pPr>
              <a:lnSpc>
                <a:spcPct val="140000"/>
              </a:lnSpc>
            </a:pPr>
            <a:r>
              <a:rPr sz="1100" b="0" i="0">
                <a:solidFill>
                  <a:srgbClr val="5A6472"/>
                </a:solidFill>
                <a:latin typeface="Menlo"/>
              </a:rPr>
              <a:t>→ 615,546 trips  ·  2026-05-01 .. 2026-07-31</a:t>
            </a:r>
          </a:p>
          <a:p>
            <a:pPr>
              <a:lnSpc>
                <a:spcPct val="140000"/>
              </a:lnSpc>
            </a:pPr>
            <a:r>
              <a:rPr sz="1100" b="0" i="0">
                <a:solidFill>
                  <a:srgbClr val="5A6472"/>
                </a:solidFill>
                <a:latin typeface="Menlo"/>
              </a:rPr>
              <a:t>→ OTA 96.4%  ·  monthly 97.3 / 95.2 / 96.8</a:t>
            </a:r>
          </a:p>
          <a:p>
            <a:pPr>
              <a:lnSpc>
                <a:spcPct val="140000"/>
              </a:lnSpc>
            </a:pPr>
            <a:r>
              <a:rPr sz="1100" b="0" i="0">
                <a:solidFill>
                  <a:srgbClr val="5A6472"/>
                </a:solidFill>
                <a:latin typeface="Menlo"/>
              </a:rPr>
              <a:t>→ worst vendor 93.2%  ·  top owner 13.3%</a:t>
            </a:r>
          </a:p>
        </p:txBody>
      </p:sp>
      <p:sp>
        <p:nvSpPr>
          <p:cNvPr id="35" name="TextBox 34"/>
          <p:cNvSpPr txBox="1"/>
          <p:nvPr/>
        </p:nvSpPr>
        <p:spPr>
          <a:xfrm>
            <a:off x="566928" y="6455664"/>
            <a:ext cx="11057839" cy="230200"/>
          </a:xfrm>
          <a:prstGeom prst="rect">
            <a:avLst/>
          </a:prstGeom>
          <a:noFill/>
        </p:spPr>
        <p:txBody>
          <a:bodyPr wrap="square" lIns="0" rIns="0" tIns="0" bIns="0">
            <a:spAutoFit/>
          </a:bodyPr>
          <a:lstStyle/>
          <a:p>
            <a:pPr algn="ctr">
              <a:lnSpc>
                <a:spcPct val="130000"/>
              </a:lnSpc>
            </a:pPr>
            <a:r>
              <a:rPr sz="900" b="0" i="0">
                <a:solidFill>
                  <a:srgbClr val="8A93A0"/>
                </a:solidFill>
                <a:latin typeface="Menlo"/>
              </a:rPr>
              <a:t>RouteMind · figures computed live from the loaded dataset, 5 September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48640"/>
            <a:ext cx="457200" cy="288645"/>
          </a:xfrm>
          <a:prstGeom prst="rect">
            <a:avLst/>
          </a:prstGeom>
          <a:noFill/>
        </p:spPr>
        <p:txBody>
          <a:bodyPr wrap="square" lIns="0" rIns="0" tIns="0" bIns="0">
            <a:spAutoFit/>
          </a:bodyPr>
          <a:lstStyle/>
          <a:p>
            <a:pPr algn="l">
              <a:lnSpc>
                <a:spcPct val="130000"/>
              </a:lnSpc>
            </a:pPr>
            <a:r>
              <a:rPr sz="1200" b="1" i="0">
                <a:solidFill>
                  <a:srgbClr val="1F5FA8"/>
                </a:solidFill>
                <a:latin typeface="Menlo"/>
              </a:rPr>
              <a:t>01</a:t>
            </a:r>
          </a:p>
        </p:txBody>
      </p:sp>
      <p:sp>
        <p:nvSpPr>
          <p:cNvPr id="4" name="TextBox 3"/>
          <p:cNvSpPr txBox="1"/>
          <p:nvPr/>
        </p:nvSpPr>
        <p:spPr>
          <a:xfrm>
            <a:off x="1097280" y="475488"/>
            <a:ext cx="10509199" cy="239941"/>
          </a:xfrm>
          <a:prstGeom prst="rect">
            <a:avLst/>
          </a:prstGeom>
          <a:noFill/>
        </p:spPr>
        <p:txBody>
          <a:bodyPr wrap="square" lIns="0" rIns="0" tIns="0" bIns="0">
            <a:spAutoFit/>
          </a:bodyPr>
          <a:lstStyle/>
          <a:p>
            <a:pPr algn="l">
              <a:lnSpc>
                <a:spcPct val="130000"/>
              </a:lnSpc>
            </a:pPr>
            <a:r>
              <a:rPr sz="950" b="0" i="0">
                <a:solidFill>
                  <a:srgbClr val="8A93A0"/>
                </a:solidFill>
                <a:latin typeface="Menlo"/>
              </a:rPr>
              <a:t>DETECTION</a:t>
            </a:r>
          </a:p>
        </p:txBody>
      </p:sp>
      <p:sp>
        <p:nvSpPr>
          <p:cNvPr id="5" name="TextBox 4"/>
          <p:cNvSpPr txBox="1"/>
          <p:nvPr/>
        </p:nvSpPr>
        <p:spPr>
          <a:xfrm>
            <a:off x="1097280" y="667512"/>
            <a:ext cx="10509199" cy="479717"/>
          </a:xfrm>
          <a:prstGeom prst="rect">
            <a:avLst/>
          </a:prstGeom>
          <a:noFill/>
        </p:spPr>
        <p:txBody>
          <a:bodyPr wrap="square" lIns="0" rIns="0" tIns="0" bIns="0">
            <a:spAutoFit/>
          </a:bodyPr>
          <a:lstStyle/>
          <a:p>
            <a:pPr algn="l">
              <a:lnSpc>
                <a:spcPct val="105000"/>
              </a:lnSpc>
            </a:pPr>
            <a:r>
              <a:rPr sz="2700" b="1" i="0">
                <a:solidFill>
                  <a:srgbClr val="12161C"/>
                </a:solidFill>
                <a:latin typeface="Arial"/>
              </a:rPr>
              <a:t>Finding a degrading metric</a:t>
            </a:r>
          </a:p>
        </p:txBody>
      </p:sp>
      <p:sp>
        <p:nvSpPr>
          <p:cNvPr id="6" name="TextBox 5"/>
          <p:cNvSpPr txBox="1"/>
          <p:nvPr/>
        </p:nvSpPr>
        <p:spPr>
          <a:xfrm>
            <a:off x="566928" y="1344168"/>
            <a:ext cx="11057839" cy="580872"/>
          </a:xfrm>
          <a:prstGeom prst="rect">
            <a:avLst/>
          </a:prstGeom>
          <a:noFill/>
        </p:spPr>
        <p:txBody>
          <a:bodyPr wrap="square" lIns="0" rIns="0" tIns="0" bIns="0">
            <a:spAutoFit/>
          </a:bodyPr>
          <a:lstStyle/>
          <a:p>
            <a:pPr algn="l">
              <a:lnSpc>
                <a:spcPct val="135000"/>
              </a:lnSpc>
            </a:pPr>
            <a:r>
              <a:rPr sz="1300" b="0" i="0">
                <a:solidFill>
                  <a:srgbClr val="5A6472"/>
                </a:solidFill>
                <a:latin typeface="Arial"/>
              </a:rPr>
              <a:t>Every registered metric is asked three questions on a schedule. The answers are model-free on purpose: a manager does not need a change-point algorithm, they need “this broke on Tuesday” told apart from “this has been sliding for three weeks”.</a:t>
            </a:r>
          </a:p>
        </p:txBody>
      </p:sp>
      <p:sp>
        <p:nvSpPr>
          <p:cNvPr id="7" name="TextBox 6"/>
          <p:cNvSpPr txBox="1"/>
          <p:nvPr/>
        </p:nvSpPr>
        <p:spPr>
          <a:xfrm>
            <a:off x="566928" y="2126208"/>
            <a:ext cx="6309360" cy="239941"/>
          </a:xfrm>
          <a:prstGeom prst="rect">
            <a:avLst/>
          </a:prstGeom>
          <a:noFill/>
        </p:spPr>
        <p:txBody>
          <a:bodyPr wrap="square" lIns="0" rIns="0" tIns="0" bIns="0">
            <a:spAutoFit/>
          </a:bodyPr>
          <a:lstStyle/>
          <a:p>
            <a:pPr algn="l">
              <a:lnSpc>
                <a:spcPct val="130000"/>
              </a:lnSpc>
            </a:pPr>
            <a:r>
              <a:rPr sz="950" b="1" i="0">
                <a:solidFill>
                  <a:srgbClr val="5A6472"/>
                </a:solidFill>
                <a:latin typeface="Menlo"/>
              </a:rPr>
              <a:t>THE THREE QUESTIONS</a:t>
            </a:r>
          </a:p>
        </p:txBody>
      </p:sp>
      <p:sp>
        <p:nvSpPr>
          <p:cNvPr id="8" name="Rectangle 7"/>
          <p:cNvSpPr/>
          <p:nvPr/>
        </p:nvSpPr>
        <p:spPr>
          <a:xfrm>
            <a:off x="566928" y="2427960"/>
            <a:ext cx="256032" cy="256032"/>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Menlo"/>
              </a:rPr>
              <a:t>1</a:t>
            </a:r>
          </a:p>
        </p:txBody>
      </p:sp>
      <p:sp>
        <p:nvSpPr>
          <p:cNvPr id="9" name="TextBox 8"/>
          <p:cNvSpPr txBox="1"/>
          <p:nvPr/>
        </p:nvSpPr>
        <p:spPr>
          <a:xfrm>
            <a:off x="987552" y="2400528"/>
            <a:ext cx="5852160" cy="327609"/>
          </a:xfrm>
          <a:prstGeom prst="rect">
            <a:avLst/>
          </a:prstGeom>
          <a:noFill/>
        </p:spPr>
        <p:txBody>
          <a:bodyPr wrap="square" lIns="0" rIns="0" tIns="0" bIns="0">
            <a:spAutoFit/>
          </a:bodyPr>
          <a:lstStyle/>
          <a:p>
            <a:pPr algn="l">
              <a:lnSpc>
                <a:spcPct val="130000"/>
              </a:lnSpc>
            </a:pPr>
            <a:r>
              <a:rPr sz="1400" b="1" i="0">
                <a:solidFill>
                  <a:srgbClr val="12161C"/>
                </a:solidFill>
                <a:latin typeface="Arial"/>
              </a:rPr>
              <a:t>Is it degrading?</a:t>
            </a:r>
          </a:p>
        </p:txBody>
      </p:sp>
      <p:sp>
        <p:nvSpPr>
          <p:cNvPr id="10" name="TextBox 9"/>
          <p:cNvSpPr txBox="1"/>
          <p:nvPr/>
        </p:nvSpPr>
        <p:spPr>
          <a:xfrm>
            <a:off x="987552" y="2674848"/>
            <a:ext cx="5852160" cy="783183"/>
          </a:xfrm>
          <a:prstGeom prst="rect">
            <a:avLst/>
          </a:prstGeom>
          <a:noFill/>
        </p:spPr>
        <p:txBody>
          <a:bodyPr wrap="square" lIns="0" rIns="0" tIns="0" bIns="0">
            <a:spAutoFit/>
          </a:bodyPr>
          <a:lstStyle/>
          <a:p>
            <a:pPr algn="l">
              <a:lnSpc>
                <a:spcPct val="135000"/>
              </a:lnSpc>
            </a:pPr>
            <a:r>
              <a:rPr sz="1200" b="0" i="0">
                <a:solidFill>
                  <a:srgbClr val="5A6472"/>
                </a:solidFill>
                <a:latin typeface="Arial"/>
              </a:rPr>
              <a:t>Value on the wrong side of its reference, or moving away from it. Reference is a contractual SLA where one exists, otherwise an operational level set near observed normal — so deviation, not absolute value, is the signal.</a:t>
            </a:r>
          </a:p>
        </p:txBody>
      </p:sp>
      <p:sp>
        <p:nvSpPr>
          <p:cNvPr id="11" name="Rectangle 10"/>
          <p:cNvSpPr/>
          <p:nvPr/>
        </p:nvSpPr>
        <p:spPr>
          <a:xfrm>
            <a:off x="566928" y="3522040"/>
            <a:ext cx="6172200" cy="8229"/>
          </a:xfrm>
          <a:prstGeom prst="rect">
            <a:avLst/>
          </a:prstGeom>
          <a:solidFill>
            <a:srgbClr val="DCD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3686632"/>
            <a:ext cx="256032" cy="256032"/>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Menlo"/>
              </a:rPr>
              <a:t>2</a:t>
            </a:r>
          </a:p>
        </p:txBody>
      </p:sp>
      <p:sp>
        <p:nvSpPr>
          <p:cNvPr id="13" name="TextBox 12"/>
          <p:cNvSpPr txBox="1"/>
          <p:nvPr/>
        </p:nvSpPr>
        <p:spPr>
          <a:xfrm>
            <a:off x="987552" y="3659200"/>
            <a:ext cx="5852160" cy="327609"/>
          </a:xfrm>
          <a:prstGeom prst="rect">
            <a:avLst/>
          </a:prstGeom>
          <a:noFill/>
        </p:spPr>
        <p:txBody>
          <a:bodyPr wrap="square" lIns="0" rIns="0" tIns="0" bIns="0">
            <a:spAutoFit/>
          </a:bodyPr>
          <a:lstStyle/>
          <a:p>
            <a:pPr algn="l">
              <a:lnSpc>
                <a:spcPct val="130000"/>
              </a:lnSpc>
            </a:pPr>
            <a:r>
              <a:rPr sz="1400" b="1" i="0">
                <a:solidFill>
                  <a:srgbClr val="12161C"/>
                </a:solidFill>
                <a:latin typeface="Arial"/>
              </a:rPr>
              <a:t>What shape?</a:t>
            </a:r>
          </a:p>
        </p:txBody>
      </p:sp>
      <p:sp>
        <p:nvSpPr>
          <p:cNvPr id="14" name="TextBox 13"/>
          <p:cNvSpPr txBox="1"/>
          <p:nvPr/>
        </p:nvSpPr>
        <p:spPr>
          <a:xfrm>
            <a:off x="987552" y="3933520"/>
            <a:ext cx="5852160" cy="783183"/>
          </a:xfrm>
          <a:prstGeom prst="rect">
            <a:avLst/>
          </a:prstGeom>
          <a:noFill/>
        </p:spPr>
        <p:txBody>
          <a:bodyPr wrap="square" lIns="0" rIns="0" tIns="0" bIns="0">
            <a:spAutoFit/>
          </a:bodyPr>
          <a:lstStyle/>
          <a:p>
            <a:pPr algn="l">
              <a:lnSpc>
                <a:spcPct val="135000"/>
              </a:lnSpc>
            </a:pPr>
            <a:r>
              <a:rPr sz="1200" b="0" i="0">
                <a:solidFill>
                  <a:srgbClr val="5A6472"/>
                </a:solidFill>
                <a:latin typeface="Arial"/>
              </a:rPr>
              <a:t>Split the window into 6 buckets. slope = OLS across all of them. step = how far the last bucket sits from the run before it, in standard deviations. A step beats a slide — an incident that just happened is acted on first.</a:t>
            </a:r>
          </a:p>
        </p:txBody>
      </p:sp>
      <p:sp>
        <p:nvSpPr>
          <p:cNvPr id="15" name="Rectangle 14"/>
          <p:cNvSpPr/>
          <p:nvPr/>
        </p:nvSpPr>
        <p:spPr>
          <a:xfrm>
            <a:off x="566928" y="4780711"/>
            <a:ext cx="6172200" cy="8229"/>
          </a:xfrm>
          <a:prstGeom prst="rect">
            <a:avLst/>
          </a:prstGeom>
          <a:solidFill>
            <a:srgbClr val="DCD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4945303"/>
            <a:ext cx="256032" cy="256032"/>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Menlo"/>
              </a:rPr>
              <a:t>3</a:t>
            </a:r>
          </a:p>
        </p:txBody>
      </p:sp>
      <p:sp>
        <p:nvSpPr>
          <p:cNvPr id="17" name="TextBox 16"/>
          <p:cNvSpPr txBox="1"/>
          <p:nvPr/>
        </p:nvSpPr>
        <p:spPr>
          <a:xfrm>
            <a:off x="987552" y="4917871"/>
            <a:ext cx="5852160" cy="327609"/>
          </a:xfrm>
          <a:prstGeom prst="rect">
            <a:avLst/>
          </a:prstGeom>
          <a:noFill/>
        </p:spPr>
        <p:txBody>
          <a:bodyPr wrap="square" lIns="0" rIns="0" tIns="0" bIns="0">
            <a:spAutoFit/>
          </a:bodyPr>
          <a:lstStyle/>
          <a:p>
            <a:pPr algn="l">
              <a:lnSpc>
                <a:spcPct val="130000"/>
              </a:lnSpc>
            </a:pPr>
            <a:r>
              <a:rPr sz="1400" b="1" i="0">
                <a:solidFill>
                  <a:srgbClr val="12161C"/>
                </a:solidFill>
                <a:latin typeface="Arial"/>
              </a:rPr>
              <a:t>Why?</a:t>
            </a:r>
          </a:p>
        </p:txBody>
      </p:sp>
      <p:sp>
        <p:nvSpPr>
          <p:cNvPr id="18" name="TextBox 17"/>
          <p:cNvSpPr txBox="1"/>
          <p:nvPr/>
        </p:nvSpPr>
        <p:spPr>
          <a:xfrm>
            <a:off x="987552" y="5192191"/>
            <a:ext cx="5852160" cy="783183"/>
          </a:xfrm>
          <a:prstGeom prst="rect">
            <a:avLst/>
          </a:prstGeom>
          <a:noFill/>
        </p:spPr>
        <p:txBody>
          <a:bodyPr wrap="square" lIns="0" rIns="0" tIns="0" bIns="0">
            <a:spAutoFit/>
          </a:bodyPr>
          <a:lstStyle/>
          <a:p>
            <a:pPr algn="l">
              <a:lnSpc>
                <a:spcPct val="135000"/>
              </a:lnSpc>
            </a:pPr>
            <a:r>
              <a:rPr sz="1200" b="0" i="0">
                <a:solidFill>
                  <a:srgbClr val="5A6472"/>
                </a:solidFill>
                <a:latin typeface="Arial"/>
              </a:rPr>
              <a:t>The metric's own attribution: which vendor, office or shift owns the bad side. Each metric declares its own dimension, so cost attributes differently from safety.</a:t>
            </a:r>
          </a:p>
        </p:txBody>
      </p:sp>
      <p:sp>
        <p:nvSpPr>
          <p:cNvPr id="19" name="TextBox 18"/>
          <p:cNvSpPr txBox="1"/>
          <p:nvPr/>
        </p:nvSpPr>
        <p:spPr>
          <a:xfrm>
            <a:off x="7242048" y="2126208"/>
            <a:ext cx="4382719" cy="239941"/>
          </a:xfrm>
          <a:prstGeom prst="rect">
            <a:avLst/>
          </a:prstGeom>
          <a:noFill/>
        </p:spPr>
        <p:txBody>
          <a:bodyPr wrap="square" lIns="0" rIns="0" tIns="0" bIns="0">
            <a:spAutoFit/>
          </a:bodyPr>
          <a:lstStyle/>
          <a:p>
            <a:pPr algn="l">
              <a:lnSpc>
                <a:spcPct val="130000"/>
              </a:lnSpc>
            </a:pPr>
            <a:r>
              <a:rPr sz="950" b="1" i="0">
                <a:solidFill>
                  <a:srgbClr val="5A6472"/>
                </a:solidFill>
                <a:latin typeface="Menlo"/>
              </a:rPr>
              <a:t>CLASSIFICATION THRESHOLDS</a:t>
            </a:r>
          </a:p>
        </p:txBody>
      </p:sp>
      <p:sp>
        <p:nvSpPr>
          <p:cNvPr id="20" name="Rectangle 19"/>
          <p:cNvSpPr/>
          <p:nvPr/>
        </p:nvSpPr>
        <p:spPr>
          <a:xfrm>
            <a:off x="7242048" y="2400528"/>
            <a:ext cx="4382719" cy="3175000"/>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242048" y="2400528"/>
            <a:ext cx="21945" cy="3175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88352" y="2519400"/>
            <a:ext cx="4144975" cy="2955544"/>
          </a:xfrm>
          <a:prstGeom prst="rect">
            <a:avLst/>
          </a:prstGeom>
          <a:noFill/>
        </p:spPr>
        <p:txBody>
          <a:bodyPr wrap="square" lIns="0" rIns="0" tIns="0" bIns="0">
            <a:spAutoFit/>
          </a:bodyPr>
          <a:lstStyle/>
          <a:p>
            <a:pPr>
              <a:lnSpc>
                <a:spcPct val="140000"/>
              </a:lnSpc>
            </a:pPr>
            <a:r>
              <a:rPr sz="1000" b="0" i="0">
                <a:solidFill>
                  <a:srgbClr val="8A93A0"/>
                </a:solidFill>
                <a:latin typeface="Menlo"/>
              </a:rPr>
              <a:t>// worsening is normalised, so a</a:t>
            </a:r>
          </a:p>
          <a:p>
            <a:pPr>
              <a:lnSpc>
                <a:spcPct val="140000"/>
              </a:lnSpc>
            </a:pPr>
            <a:r>
              <a:rPr sz="1000" b="0" i="0">
                <a:solidFill>
                  <a:srgbClr val="8A93A0"/>
                </a:solidFill>
                <a:latin typeface="Menlo"/>
              </a:rPr>
              <a:t>// positive number always means “worse”</a:t>
            </a:r>
          </a:p>
          <a:p>
            <a:pPr>
              <a:lnSpc>
                <a:spcPct val="140000"/>
              </a:lnSpc>
            </a:pPr>
            <a:r>
              <a:rPr sz="1000" b="0" i="0">
                <a:solidFill>
                  <a:srgbClr val="12161C"/>
                </a:solidFill>
                <a:latin typeface="Menlo"/>
              </a:rPr>
              <a:t>worsenSlope = higherBetter ? -slope : slope</a:t>
            </a:r>
          </a:p>
          <a:p>
            <a:pPr>
              <a:lnSpc>
                <a:spcPct val="140000"/>
              </a:lnSpc>
            </a:pPr>
            <a:r>
              <a:rPr sz="1000" b="0" i="0">
                <a:solidFill>
                  <a:srgbClr val="12161C"/>
                </a:solidFill>
                <a:latin typeface="Menlo"/>
              </a:rPr>
              <a:t>worsenStep  = higherBetter ? (runMean - last)</a:t>
            </a:r>
          </a:p>
          <a:p>
            <a:pPr>
              <a:lnSpc>
                <a:spcPct val="140000"/>
              </a:lnSpc>
            </a:pPr>
            <a:r>
              <a:rPr sz="1000" b="0" i="0">
                <a:solidFill>
                  <a:srgbClr val="12161C"/>
                </a:solidFill>
                <a:latin typeface="Menlo"/>
              </a:rPr>
              <a:t>                           : (last - runMean)</a:t>
            </a:r>
          </a:p>
          <a:p>
            <a:pPr>
              <a:lnSpc>
                <a:spcPct val="140000"/>
              </a:lnSpc>
            </a:pPr>
            <a:r>
              <a:rPr sz="1000" b="0" i="0">
                <a:solidFill>
                  <a:srgbClr val="12161C"/>
                </a:solidFill>
                <a:latin typeface="Menlo"/>
              </a:rPr>
              <a:t>stepZ       = worsenStep / runSd</a:t>
            </a:r>
          </a:p>
          <a:p>
            <a:pPr>
              <a:lnSpc>
                <a:spcPct val="140000"/>
              </a:lnSpc>
            </a:pPr>
            <a:r>
              <a:rPr sz="1000" b="0" i="0">
                <a:solidFill>
                  <a:srgbClr val="12161C"/>
                </a:solidFill>
                <a:latin typeface="Menlo"/>
              </a:rPr>
              <a:t/>
            </a:r>
          </a:p>
          <a:p>
            <a:pPr>
              <a:lnSpc>
                <a:spcPct val="140000"/>
              </a:lnSpc>
            </a:pPr>
            <a:r>
              <a:rPr sz="1000" b="0" i="0">
                <a:solidFill>
                  <a:srgbClr val="8A93A0"/>
                </a:solidFill>
                <a:latin typeface="Menlo"/>
              </a:rPr>
              <a:t>// sub-noise wiggles are not signals</a:t>
            </a:r>
          </a:p>
          <a:p>
            <a:pPr>
              <a:lnSpc>
                <a:spcPct val="140000"/>
              </a:lnSpc>
            </a:pPr>
            <a:r>
              <a:rPr sz="1000" b="0" i="0">
                <a:solidFill>
                  <a:srgbClr val="12161C"/>
                </a:solidFill>
                <a:latin typeface="Menlo"/>
              </a:rPr>
              <a:t>meaningful  = max(0.5, level * 0.02)</a:t>
            </a:r>
          </a:p>
          <a:p>
            <a:pPr>
              <a:lnSpc>
                <a:spcPct val="140000"/>
              </a:lnSpc>
            </a:pPr>
            <a:r>
              <a:rPr sz="1000" b="0" i="0">
                <a:solidFill>
                  <a:srgbClr val="12161C"/>
                </a:solidFill>
                <a:latin typeface="Menlo"/>
              </a:rPr>
              <a:t/>
            </a:r>
          </a:p>
          <a:p>
            <a:pPr>
              <a:lnSpc>
                <a:spcPct val="140000"/>
              </a:lnSpc>
            </a:pPr>
            <a:r>
              <a:rPr sz="1000" b="0" i="0">
                <a:solidFill>
                  <a:srgbClr val="1F5FA8"/>
                </a:solidFill>
                <a:latin typeface="Menlo"/>
              </a:rPr>
              <a:t>SUDDEN</a:t>
            </a:r>
            <a:r>
              <a:rPr sz="1000" b="0" i="0">
                <a:solidFill>
                  <a:srgbClr val="12161C"/>
                </a:solidFill>
                <a:latin typeface="Menlo"/>
              </a:rPr>
              <a:t>      stepZ &gt;= 2.0 &amp;&amp; step &gt;= meaningful</a:t>
            </a:r>
          </a:p>
          <a:p>
            <a:pPr>
              <a:lnSpc>
                <a:spcPct val="140000"/>
              </a:lnSpc>
            </a:pPr>
            <a:r>
              <a:rPr sz="1000" b="0" i="0">
                <a:solidFill>
                  <a:srgbClr val="1F5FA8"/>
                </a:solidFill>
                <a:latin typeface="Menlo"/>
              </a:rPr>
              <a:t>INCREMENTAL</a:t>
            </a:r>
            <a:r>
              <a:rPr sz="1000" b="0" i="0">
                <a:solidFill>
                  <a:srgbClr val="12161C"/>
                </a:solidFill>
                <a:latin typeface="Menlo"/>
              </a:rPr>
              <a:t> worsenSlope &gt;= meaningful * 0.5</a:t>
            </a:r>
          </a:p>
          <a:p>
            <a:pPr>
              <a:lnSpc>
                <a:spcPct val="140000"/>
              </a:lnSpc>
            </a:pPr>
            <a:r>
              <a:rPr sz="1000" b="0" i="0">
                <a:solidFill>
                  <a:srgbClr val="1F5FA8"/>
                </a:solidFill>
                <a:latin typeface="Menlo"/>
              </a:rPr>
              <a:t>IMPROVING</a:t>
            </a:r>
            <a:r>
              <a:rPr sz="1000" b="0" i="0">
                <a:solidFill>
                  <a:srgbClr val="12161C"/>
                </a:solidFill>
                <a:latin typeface="Menlo"/>
              </a:rPr>
              <a:t>   worsenSlope &lt;= -meaningful * 0.5</a:t>
            </a:r>
          </a:p>
          <a:p>
            <a:pPr>
              <a:lnSpc>
                <a:spcPct val="140000"/>
              </a:lnSpc>
            </a:pPr>
            <a:r>
              <a:rPr sz="1000" b="0" i="0">
                <a:solidFill>
                  <a:srgbClr val="1F5FA8"/>
                </a:solidFill>
                <a:latin typeface="Menlo"/>
              </a:rPr>
              <a:t>STABLE</a:t>
            </a:r>
            <a:r>
              <a:rPr sz="1000" b="0" i="0">
                <a:solidFill>
                  <a:srgbClr val="12161C"/>
                </a:solidFill>
                <a:latin typeface="Menlo"/>
              </a:rPr>
              <a:t>      otherwise</a:t>
            </a:r>
          </a:p>
        </p:txBody>
      </p:sp>
      <p:sp>
        <p:nvSpPr>
          <p:cNvPr id="23" name="Rectangle 22"/>
          <p:cNvSpPr/>
          <p:nvPr/>
        </p:nvSpPr>
        <p:spPr>
          <a:xfrm>
            <a:off x="7242048" y="5813272"/>
            <a:ext cx="20116" cy="481660"/>
          </a:xfrm>
          <a:prstGeom prst="rect">
            <a:avLst/>
          </a:prstGeom>
          <a:solidFill>
            <a:srgbClr val="C3C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06640" y="5813272"/>
            <a:ext cx="4218127" cy="499948"/>
          </a:xfrm>
          <a:prstGeom prst="rect">
            <a:avLst/>
          </a:prstGeom>
          <a:noFill/>
        </p:spPr>
        <p:txBody>
          <a:bodyPr wrap="square" lIns="0" rIns="0" tIns="0" bIns="0">
            <a:spAutoFit/>
          </a:bodyPr>
          <a:lstStyle/>
          <a:p>
            <a:pPr algn="l">
              <a:lnSpc>
                <a:spcPct val="135000"/>
              </a:lnSpc>
            </a:pPr>
            <a:r>
              <a:rPr sz="1100" b="0" i="0">
                <a:solidFill>
                  <a:srgbClr val="5A6472"/>
                </a:solidFill>
                <a:latin typeface="Arial"/>
              </a:rPr>
              <a:t>A bucket needs ≥ 50 samples to count, so a thin slice can never fake a trend.</a:t>
            </a:r>
          </a:p>
        </p:txBody>
      </p:sp>
      <p:sp>
        <p:nvSpPr>
          <p:cNvPr id="25" name="TextBox 24"/>
          <p:cNvSpPr txBox="1"/>
          <p:nvPr/>
        </p:nvSpPr>
        <p:spPr>
          <a:xfrm>
            <a:off x="566928" y="6455664"/>
            <a:ext cx="11057839" cy="230200"/>
          </a:xfrm>
          <a:prstGeom prst="rect">
            <a:avLst/>
          </a:prstGeom>
          <a:noFill/>
        </p:spPr>
        <p:txBody>
          <a:bodyPr wrap="square" lIns="0" rIns="0" tIns="0" bIns="0">
            <a:spAutoFit/>
          </a:bodyPr>
          <a:lstStyle/>
          <a:p>
            <a:pPr algn="ctr">
              <a:lnSpc>
                <a:spcPct val="130000"/>
              </a:lnSpc>
            </a:pPr>
            <a:r>
              <a:rPr sz="900" b="0" i="0">
                <a:solidFill>
                  <a:srgbClr val="8A93A0"/>
                </a:solidFill>
                <a:latin typeface="Menlo"/>
              </a:rPr>
              <a:t>RouteMind · figures computed live from the loaded dataset, 5 September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48640"/>
            <a:ext cx="457200" cy="288645"/>
          </a:xfrm>
          <a:prstGeom prst="rect">
            <a:avLst/>
          </a:prstGeom>
          <a:noFill/>
        </p:spPr>
        <p:txBody>
          <a:bodyPr wrap="square" lIns="0" rIns="0" tIns="0" bIns="0">
            <a:spAutoFit/>
          </a:bodyPr>
          <a:lstStyle/>
          <a:p>
            <a:pPr algn="l">
              <a:lnSpc>
                <a:spcPct val="130000"/>
              </a:lnSpc>
            </a:pPr>
            <a:r>
              <a:rPr sz="1200" b="1" i="0">
                <a:solidFill>
                  <a:srgbClr val="1F5FA8"/>
                </a:solidFill>
                <a:latin typeface="Menlo"/>
              </a:rPr>
              <a:t>01</a:t>
            </a:r>
          </a:p>
        </p:txBody>
      </p:sp>
      <p:sp>
        <p:nvSpPr>
          <p:cNvPr id="4" name="TextBox 3"/>
          <p:cNvSpPr txBox="1"/>
          <p:nvPr/>
        </p:nvSpPr>
        <p:spPr>
          <a:xfrm>
            <a:off x="1097280" y="475488"/>
            <a:ext cx="10509199" cy="239941"/>
          </a:xfrm>
          <a:prstGeom prst="rect">
            <a:avLst/>
          </a:prstGeom>
          <a:noFill/>
        </p:spPr>
        <p:txBody>
          <a:bodyPr wrap="square" lIns="0" rIns="0" tIns="0" bIns="0">
            <a:spAutoFit/>
          </a:bodyPr>
          <a:lstStyle/>
          <a:p>
            <a:pPr algn="l">
              <a:lnSpc>
                <a:spcPct val="130000"/>
              </a:lnSpc>
            </a:pPr>
            <a:r>
              <a:rPr sz="950" b="0" i="0">
                <a:solidFill>
                  <a:srgbClr val="8A93A0"/>
                </a:solidFill>
                <a:latin typeface="Menlo"/>
              </a:rPr>
              <a:t>DETECTION</a:t>
            </a:r>
          </a:p>
        </p:txBody>
      </p:sp>
      <p:sp>
        <p:nvSpPr>
          <p:cNvPr id="5" name="TextBox 4"/>
          <p:cNvSpPr txBox="1"/>
          <p:nvPr/>
        </p:nvSpPr>
        <p:spPr>
          <a:xfrm>
            <a:off x="1097280" y="667512"/>
            <a:ext cx="10509199" cy="479717"/>
          </a:xfrm>
          <a:prstGeom prst="rect">
            <a:avLst/>
          </a:prstGeom>
          <a:noFill/>
        </p:spPr>
        <p:txBody>
          <a:bodyPr wrap="square" lIns="0" rIns="0" tIns="0" bIns="0">
            <a:spAutoFit/>
          </a:bodyPr>
          <a:lstStyle/>
          <a:p>
            <a:pPr algn="l">
              <a:lnSpc>
                <a:spcPct val="105000"/>
              </a:lnSpc>
            </a:pPr>
            <a:r>
              <a:rPr sz="2700" b="1" i="0">
                <a:solidFill>
                  <a:srgbClr val="12161C"/>
                </a:solidFill>
                <a:latin typeface="Arial"/>
              </a:rPr>
              <a:t>Metrics ranked by urgency</a:t>
            </a:r>
          </a:p>
        </p:txBody>
      </p:sp>
      <p:sp>
        <p:nvSpPr>
          <p:cNvPr id="6" name="TextBox 5"/>
          <p:cNvSpPr txBox="1"/>
          <p:nvPr/>
        </p:nvSpPr>
        <p:spPr>
          <a:xfrm>
            <a:off x="566928" y="1344168"/>
            <a:ext cx="11057839" cy="317868"/>
          </a:xfrm>
          <a:prstGeom prst="rect">
            <a:avLst/>
          </a:prstGeom>
          <a:noFill/>
        </p:spPr>
        <p:txBody>
          <a:bodyPr wrap="square" lIns="0" rIns="0" tIns="0" bIns="0">
            <a:spAutoFit/>
          </a:bodyPr>
          <a:lstStyle/>
          <a:p>
            <a:pPr algn="l">
              <a:lnSpc>
                <a:spcPct val="135000"/>
              </a:lnSpc>
            </a:pPr>
            <a:r>
              <a:rPr sz="1300" b="0" i="0">
                <a:solidFill>
                  <a:srgbClr val="5A6472"/>
                </a:solidFill>
                <a:latin typeface="Arial"/>
              </a:rPr>
              <a:t>May–June window. Shape and verdict are computed independently.</a:t>
            </a:r>
          </a:p>
        </p:txBody>
      </p:sp>
      <p:sp>
        <p:nvSpPr>
          <p:cNvPr id="7" name="TextBox 6"/>
          <p:cNvSpPr txBox="1"/>
          <p:nvPr/>
        </p:nvSpPr>
        <p:spPr>
          <a:xfrm>
            <a:off x="566928" y="1954644"/>
            <a:ext cx="2242108" cy="220459"/>
          </a:xfrm>
          <a:prstGeom prst="rect">
            <a:avLst/>
          </a:prstGeom>
          <a:noFill/>
        </p:spPr>
        <p:txBody>
          <a:bodyPr wrap="square" lIns="0" rIns="0" tIns="0" bIns="0">
            <a:spAutoFit/>
          </a:bodyPr>
          <a:lstStyle/>
          <a:p>
            <a:pPr algn="l">
              <a:lnSpc>
                <a:spcPct val="130000"/>
              </a:lnSpc>
            </a:pPr>
            <a:r>
              <a:rPr sz="850" b="1" i="0">
                <a:solidFill>
                  <a:srgbClr val="5A6472"/>
                </a:solidFill>
                <a:latin typeface="Menlo"/>
              </a:rPr>
              <a:t>METRIC</a:t>
            </a:r>
          </a:p>
        </p:txBody>
      </p:sp>
      <p:sp>
        <p:nvSpPr>
          <p:cNvPr id="8" name="TextBox 7"/>
          <p:cNvSpPr txBox="1"/>
          <p:nvPr/>
        </p:nvSpPr>
        <p:spPr>
          <a:xfrm>
            <a:off x="2900476" y="1954644"/>
            <a:ext cx="1598371" cy="220459"/>
          </a:xfrm>
          <a:prstGeom prst="rect">
            <a:avLst/>
          </a:prstGeom>
          <a:noFill/>
        </p:spPr>
        <p:txBody>
          <a:bodyPr wrap="square" lIns="0" rIns="0" tIns="0" bIns="0">
            <a:spAutoFit/>
          </a:bodyPr>
          <a:lstStyle/>
          <a:p>
            <a:pPr algn="l">
              <a:lnSpc>
                <a:spcPct val="130000"/>
              </a:lnSpc>
            </a:pPr>
            <a:r>
              <a:rPr sz="850" b="1" i="0">
                <a:solidFill>
                  <a:srgbClr val="5A6472"/>
                </a:solidFill>
                <a:latin typeface="Menlo"/>
              </a:rPr>
              <a:t>SHAPE</a:t>
            </a:r>
          </a:p>
        </p:txBody>
      </p:sp>
      <p:sp>
        <p:nvSpPr>
          <p:cNvPr id="9" name="TextBox 8"/>
          <p:cNvSpPr txBox="1"/>
          <p:nvPr/>
        </p:nvSpPr>
        <p:spPr>
          <a:xfrm>
            <a:off x="4590288" y="1954644"/>
            <a:ext cx="874166" cy="220459"/>
          </a:xfrm>
          <a:prstGeom prst="rect">
            <a:avLst/>
          </a:prstGeom>
          <a:noFill/>
        </p:spPr>
        <p:txBody>
          <a:bodyPr wrap="square" lIns="0" rIns="0" tIns="0" bIns="0">
            <a:spAutoFit/>
          </a:bodyPr>
          <a:lstStyle/>
          <a:p>
            <a:pPr algn="r">
              <a:lnSpc>
                <a:spcPct val="130000"/>
              </a:lnSpc>
            </a:pPr>
            <a:r>
              <a:rPr sz="850" b="1" i="0">
                <a:solidFill>
                  <a:srgbClr val="5A6472"/>
                </a:solidFill>
                <a:latin typeface="Menlo"/>
              </a:rPr>
              <a:t>LATEST</a:t>
            </a:r>
          </a:p>
        </p:txBody>
      </p:sp>
      <p:sp>
        <p:nvSpPr>
          <p:cNvPr id="10" name="TextBox 9"/>
          <p:cNvSpPr txBox="1"/>
          <p:nvPr/>
        </p:nvSpPr>
        <p:spPr>
          <a:xfrm>
            <a:off x="5555894" y="1954644"/>
            <a:ext cx="874166" cy="220459"/>
          </a:xfrm>
          <a:prstGeom prst="rect">
            <a:avLst/>
          </a:prstGeom>
          <a:noFill/>
        </p:spPr>
        <p:txBody>
          <a:bodyPr wrap="square" lIns="0" rIns="0" tIns="0" bIns="0">
            <a:spAutoFit/>
          </a:bodyPr>
          <a:lstStyle/>
          <a:p>
            <a:pPr algn="r">
              <a:lnSpc>
                <a:spcPct val="130000"/>
              </a:lnSpc>
            </a:pPr>
            <a:r>
              <a:rPr sz="850" b="1" i="0">
                <a:solidFill>
                  <a:srgbClr val="5A6472"/>
                </a:solidFill>
                <a:latin typeface="Menlo"/>
              </a:rPr>
              <a:t>TARGET</a:t>
            </a:r>
          </a:p>
        </p:txBody>
      </p:sp>
      <p:sp>
        <p:nvSpPr>
          <p:cNvPr id="11" name="TextBox 10"/>
          <p:cNvSpPr txBox="1"/>
          <p:nvPr/>
        </p:nvSpPr>
        <p:spPr>
          <a:xfrm>
            <a:off x="6521500" y="1954644"/>
            <a:ext cx="632764" cy="220459"/>
          </a:xfrm>
          <a:prstGeom prst="rect">
            <a:avLst/>
          </a:prstGeom>
          <a:noFill/>
        </p:spPr>
        <p:txBody>
          <a:bodyPr wrap="square" lIns="0" rIns="0" tIns="0" bIns="0">
            <a:spAutoFit/>
          </a:bodyPr>
          <a:lstStyle/>
          <a:p>
            <a:pPr algn="r">
              <a:lnSpc>
                <a:spcPct val="130000"/>
              </a:lnSpc>
            </a:pPr>
            <a:r>
              <a:rPr sz="850" b="1" i="0">
                <a:solidFill>
                  <a:srgbClr val="5A6472"/>
                </a:solidFill>
                <a:latin typeface="Menlo"/>
              </a:rPr>
              <a:t>URG.</a:t>
            </a:r>
          </a:p>
        </p:txBody>
      </p:sp>
      <p:sp>
        <p:nvSpPr>
          <p:cNvPr id="12" name="TextBox 11"/>
          <p:cNvSpPr txBox="1"/>
          <p:nvPr/>
        </p:nvSpPr>
        <p:spPr>
          <a:xfrm>
            <a:off x="7245705" y="1954644"/>
            <a:ext cx="1276502" cy="220459"/>
          </a:xfrm>
          <a:prstGeom prst="rect">
            <a:avLst/>
          </a:prstGeom>
          <a:noFill/>
        </p:spPr>
        <p:txBody>
          <a:bodyPr wrap="square" lIns="0" rIns="0" tIns="0" bIns="0">
            <a:spAutoFit/>
          </a:bodyPr>
          <a:lstStyle/>
          <a:p>
            <a:pPr algn="l">
              <a:lnSpc>
                <a:spcPct val="130000"/>
              </a:lnSpc>
            </a:pPr>
            <a:r>
              <a:rPr sz="850" b="1" i="0">
                <a:solidFill>
                  <a:srgbClr val="5A6472"/>
                </a:solidFill>
                <a:latin typeface="Menlo"/>
              </a:rPr>
              <a:t>VERDICT</a:t>
            </a:r>
          </a:p>
        </p:txBody>
      </p:sp>
      <p:sp>
        <p:nvSpPr>
          <p:cNvPr id="13" name="Rectangle 12"/>
          <p:cNvSpPr/>
          <p:nvPr/>
        </p:nvSpPr>
        <p:spPr>
          <a:xfrm>
            <a:off x="566928" y="2192388"/>
            <a:ext cx="8046720" cy="8229"/>
          </a:xfrm>
          <a:prstGeom prst="rect">
            <a:avLst/>
          </a:prstGeom>
          <a:solidFill>
            <a:srgbClr val="C3C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283828"/>
            <a:ext cx="2242108" cy="289020"/>
          </a:xfrm>
          <a:prstGeom prst="rect">
            <a:avLst/>
          </a:prstGeom>
          <a:noFill/>
        </p:spPr>
        <p:txBody>
          <a:bodyPr wrap="square" lIns="0" rIns="0" tIns="0" bIns="0">
            <a:spAutoFit/>
          </a:bodyPr>
          <a:lstStyle/>
          <a:p>
            <a:pPr algn="l">
              <a:lnSpc>
                <a:spcPct val="125000"/>
              </a:lnSpc>
            </a:pPr>
            <a:r>
              <a:rPr sz="1250" b="0" i="0">
                <a:solidFill>
                  <a:srgbClr val="12161C"/>
                </a:solidFill>
                <a:latin typeface="Arial"/>
              </a:rPr>
              <a:t>no_show_rate</a:t>
            </a:r>
          </a:p>
        </p:txBody>
      </p:sp>
      <p:sp>
        <p:nvSpPr>
          <p:cNvPr id="15" name="Rectangle 14"/>
          <p:cNvSpPr/>
          <p:nvPr/>
        </p:nvSpPr>
        <p:spPr>
          <a:xfrm>
            <a:off x="2900476" y="2302116"/>
            <a:ext cx="788212" cy="201168"/>
          </a:xfrm>
          <a:prstGeom prst="rect">
            <a:avLst/>
          </a:prstGeom>
          <a:solidFill>
            <a:srgbClr val="E5F0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2E6B4F"/>
                </a:solidFill>
                <a:latin typeface="Menlo"/>
              </a:rPr>
              <a:t>IMPROVING</a:t>
            </a:r>
          </a:p>
        </p:txBody>
      </p:sp>
      <p:sp>
        <p:nvSpPr>
          <p:cNvPr id="16" name="TextBox 15"/>
          <p:cNvSpPr txBox="1"/>
          <p:nvPr/>
        </p:nvSpPr>
        <p:spPr>
          <a:xfrm>
            <a:off x="4590288" y="2283828"/>
            <a:ext cx="874166" cy="289020"/>
          </a:xfrm>
          <a:prstGeom prst="rect">
            <a:avLst/>
          </a:prstGeom>
          <a:noFill/>
        </p:spPr>
        <p:txBody>
          <a:bodyPr wrap="square" lIns="0" rIns="0" tIns="0" bIns="0">
            <a:spAutoFit/>
          </a:bodyPr>
          <a:lstStyle/>
          <a:p>
            <a:pPr algn="r">
              <a:lnSpc>
                <a:spcPct val="125000"/>
              </a:lnSpc>
            </a:pPr>
            <a:r>
              <a:rPr sz="1250" b="0" i="0">
                <a:solidFill>
                  <a:srgbClr val="12161C"/>
                </a:solidFill>
                <a:latin typeface="Menlo"/>
              </a:rPr>
              <a:t>8.1</a:t>
            </a:r>
          </a:p>
        </p:txBody>
      </p:sp>
      <p:sp>
        <p:nvSpPr>
          <p:cNvPr id="17" name="TextBox 16"/>
          <p:cNvSpPr txBox="1"/>
          <p:nvPr/>
        </p:nvSpPr>
        <p:spPr>
          <a:xfrm>
            <a:off x="5555894" y="2283828"/>
            <a:ext cx="874166" cy="289020"/>
          </a:xfrm>
          <a:prstGeom prst="rect">
            <a:avLst/>
          </a:prstGeom>
          <a:noFill/>
        </p:spPr>
        <p:txBody>
          <a:bodyPr wrap="square" lIns="0" rIns="0" tIns="0" bIns="0">
            <a:spAutoFit/>
          </a:bodyPr>
          <a:lstStyle/>
          <a:p>
            <a:pPr algn="r">
              <a:lnSpc>
                <a:spcPct val="125000"/>
              </a:lnSpc>
            </a:pPr>
            <a:r>
              <a:rPr sz="1250" b="0" i="0">
                <a:solidFill>
                  <a:srgbClr val="12161C"/>
                </a:solidFill>
                <a:latin typeface="Menlo"/>
              </a:rPr>
              <a:t>8.0</a:t>
            </a:r>
          </a:p>
        </p:txBody>
      </p:sp>
      <p:sp>
        <p:nvSpPr>
          <p:cNvPr id="18" name="TextBox 17"/>
          <p:cNvSpPr txBox="1"/>
          <p:nvPr/>
        </p:nvSpPr>
        <p:spPr>
          <a:xfrm>
            <a:off x="6521500" y="2283828"/>
            <a:ext cx="632764" cy="289020"/>
          </a:xfrm>
          <a:prstGeom prst="rect">
            <a:avLst/>
          </a:prstGeom>
          <a:noFill/>
        </p:spPr>
        <p:txBody>
          <a:bodyPr wrap="square" lIns="0" rIns="0" tIns="0" bIns="0">
            <a:spAutoFit/>
          </a:bodyPr>
          <a:lstStyle/>
          <a:p>
            <a:pPr algn="r">
              <a:lnSpc>
                <a:spcPct val="125000"/>
              </a:lnSpc>
            </a:pPr>
            <a:r>
              <a:rPr sz="1250" b="0" i="0">
                <a:solidFill>
                  <a:srgbClr val="12161C"/>
                </a:solidFill>
                <a:latin typeface="Menlo"/>
              </a:rPr>
              <a:t>55</a:t>
            </a:r>
          </a:p>
        </p:txBody>
      </p:sp>
      <p:sp>
        <p:nvSpPr>
          <p:cNvPr id="19" name="Rectangle 18"/>
          <p:cNvSpPr/>
          <p:nvPr/>
        </p:nvSpPr>
        <p:spPr>
          <a:xfrm>
            <a:off x="7245705" y="2302116"/>
            <a:ext cx="574243" cy="201168"/>
          </a:xfrm>
          <a:prstGeom prst="rect">
            <a:avLst/>
          </a:prstGeom>
          <a:solidFill>
            <a:srgbClr val="FAE9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A63328"/>
                </a:solidFill>
                <a:latin typeface="Menlo"/>
              </a:rPr>
              <a:t>BREACH</a:t>
            </a:r>
          </a:p>
        </p:txBody>
      </p:sp>
      <p:sp>
        <p:nvSpPr>
          <p:cNvPr id="20" name="Rectangle 19"/>
          <p:cNvSpPr/>
          <p:nvPr/>
        </p:nvSpPr>
        <p:spPr>
          <a:xfrm>
            <a:off x="566928" y="2609424"/>
            <a:ext cx="8046720" cy="8229"/>
          </a:xfrm>
          <a:prstGeom prst="rect">
            <a:avLst/>
          </a:prstGeom>
          <a:solidFill>
            <a:srgbClr val="DCD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2700864"/>
            <a:ext cx="2242108" cy="289020"/>
          </a:xfrm>
          <a:prstGeom prst="rect">
            <a:avLst/>
          </a:prstGeom>
          <a:noFill/>
        </p:spPr>
        <p:txBody>
          <a:bodyPr wrap="square" lIns="0" rIns="0" tIns="0" bIns="0">
            <a:spAutoFit/>
          </a:bodyPr>
          <a:lstStyle/>
          <a:p>
            <a:pPr algn="l">
              <a:lnSpc>
                <a:spcPct val="125000"/>
              </a:lnSpc>
            </a:pPr>
            <a:r>
              <a:rPr sz="1250" b="0" i="0">
                <a:solidFill>
                  <a:srgbClr val="12161C"/>
                </a:solidFill>
                <a:latin typeface="Arial"/>
              </a:rPr>
              <a:t>penalty_exposure</a:t>
            </a:r>
          </a:p>
        </p:txBody>
      </p:sp>
      <p:sp>
        <p:nvSpPr>
          <p:cNvPr id="22" name="Rectangle 21"/>
          <p:cNvSpPr/>
          <p:nvPr/>
        </p:nvSpPr>
        <p:spPr>
          <a:xfrm>
            <a:off x="2900476" y="2719152"/>
            <a:ext cx="788212" cy="201168"/>
          </a:xfrm>
          <a:prstGeom prst="rect">
            <a:avLst/>
          </a:prstGeom>
          <a:solidFill>
            <a:srgbClr val="E5F0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2E6B4F"/>
                </a:solidFill>
                <a:latin typeface="Menlo"/>
              </a:rPr>
              <a:t>IMPROVING</a:t>
            </a:r>
          </a:p>
        </p:txBody>
      </p:sp>
      <p:sp>
        <p:nvSpPr>
          <p:cNvPr id="23" name="TextBox 22"/>
          <p:cNvSpPr txBox="1"/>
          <p:nvPr/>
        </p:nvSpPr>
        <p:spPr>
          <a:xfrm>
            <a:off x="4590288" y="2700864"/>
            <a:ext cx="874166" cy="289020"/>
          </a:xfrm>
          <a:prstGeom prst="rect">
            <a:avLst/>
          </a:prstGeom>
          <a:noFill/>
        </p:spPr>
        <p:txBody>
          <a:bodyPr wrap="square" lIns="0" rIns="0" tIns="0" bIns="0">
            <a:spAutoFit/>
          </a:bodyPr>
          <a:lstStyle/>
          <a:p>
            <a:pPr algn="r">
              <a:lnSpc>
                <a:spcPct val="125000"/>
              </a:lnSpc>
            </a:pPr>
            <a:r>
              <a:rPr sz="1250" b="0" i="0">
                <a:solidFill>
                  <a:srgbClr val="12161C"/>
                </a:solidFill>
                <a:latin typeface="Menlo"/>
              </a:rPr>
              <a:t>2.8</a:t>
            </a:r>
          </a:p>
        </p:txBody>
      </p:sp>
      <p:sp>
        <p:nvSpPr>
          <p:cNvPr id="24" name="TextBox 23"/>
          <p:cNvSpPr txBox="1"/>
          <p:nvPr/>
        </p:nvSpPr>
        <p:spPr>
          <a:xfrm>
            <a:off x="5555894" y="2700864"/>
            <a:ext cx="874166" cy="289020"/>
          </a:xfrm>
          <a:prstGeom prst="rect">
            <a:avLst/>
          </a:prstGeom>
          <a:noFill/>
        </p:spPr>
        <p:txBody>
          <a:bodyPr wrap="square" lIns="0" rIns="0" tIns="0" bIns="0">
            <a:spAutoFit/>
          </a:bodyPr>
          <a:lstStyle/>
          <a:p>
            <a:pPr algn="r">
              <a:lnSpc>
                <a:spcPct val="125000"/>
              </a:lnSpc>
            </a:pPr>
            <a:r>
              <a:rPr sz="1250" b="0" i="0">
                <a:solidFill>
                  <a:srgbClr val="12161C"/>
                </a:solidFill>
                <a:latin typeface="Menlo"/>
              </a:rPr>
              <a:t>0.5</a:t>
            </a:r>
          </a:p>
        </p:txBody>
      </p:sp>
      <p:sp>
        <p:nvSpPr>
          <p:cNvPr id="25" name="TextBox 24"/>
          <p:cNvSpPr txBox="1"/>
          <p:nvPr/>
        </p:nvSpPr>
        <p:spPr>
          <a:xfrm>
            <a:off x="6521500" y="2700864"/>
            <a:ext cx="632764" cy="289020"/>
          </a:xfrm>
          <a:prstGeom prst="rect">
            <a:avLst/>
          </a:prstGeom>
          <a:noFill/>
        </p:spPr>
        <p:txBody>
          <a:bodyPr wrap="square" lIns="0" rIns="0" tIns="0" bIns="0">
            <a:spAutoFit/>
          </a:bodyPr>
          <a:lstStyle/>
          <a:p>
            <a:pPr algn="r">
              <a:lnSpc>
                <a:spcPct val="125000"/>
              </a:lnSpc>
            </a:pPr>
            <a:r>
              <a:rPr sz="1250" b="0" i="0">
                <a:solidFill>
                  <a:srgbClr val="12161C"/>
                </a:solidFill>
                <a:latin typeface="Menlo"/>
              </a:rPr>
              <a:t>50</a:t>
            </a:r>
          </a:p>
        </p:txBody>
      </p:sp>
      <p:sp>
        <p:nvSpPr>
          <p:cNvPr id="26" name="Rectangle 25"/>
          <p:cNvSpPr/>
          <p:nvPr/>
        </p:nvSpPr>
        <p:spPr>
          <a:xfrm>
            <a:off x="7245705" y="2719152"/>
            <a:ext cx="574243" cy="201168"/>
          </a:xfrm>
          <a:prstGeom prst="rect">
            <a:avLst/>
          </a:prstGeom>
          <a:solidFill>
            <a:srgbClr val="FAE9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A63328"/>
                </a:solidFill>
                <a:latin typeface="Menlo"/>
              </a:rPr>
              <a:t>BREACH</a:t>
            </a:r>
          </a:p>
        </p:txBody>
      </p:sp>
      <p:sp>
        <p:nvSpPr>
          <p:cNvPr id="27" name="Rectangle 26"/>
          <p:cNvSpPr/>
          <p:nvPr/>
        </p:nvSpPr>
        <p:spPr>
          <a:xfrm>
            <a:off x="566928" y="3026460"/>
            <a:ext cx="8046720" cy="8229"/>
          </a:xfrm>
          <a:prstGeom prst="rect">
            <a:avLst/>
          </a:prstGeom>
          <a:solidFill>
            <a:srgbClr val="DCD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3117900"/>
            <a:ext cx="2242108" cy="289020"/>
          </a:xfrm>
          <a:prstGeom prst="rect">
            <a:avLst/>
          </a:prstGeom>
          <a:noFill/>
        </p:spPr>
        <p:txBody>
          <a:bodyPr wrap="square" lIns="0" rIns="0" tIns="0" bIns="0">
            <a:spAutoFit/>
          </a:bodyPr>
          <a:lstStyle/>
          <a:p>
            <a:pPr algn="l">
              <a:lnSpc>
                <a:spcPct val="125000"/>
              </a:lnSpc>
            </a:pPr>
            <a:r>
              <a:rPr sz="1250" b="0" i="0">
                <a:solidFill>
                  <a:srgbClr val="12161C"/>
                </a:solidFill>
                <a:latin typeface="Arial"/>
              </a:rPr>
              <a:t>ota</a:t>
            </a:r>
          </a:p>
        </p:txBody>
      </p:sp>
      <p:sp>
        <p:nvSpPr>
          <p:cNvPr id="29" name="Rectangle 28"/>
          <p:cNvSpPr/>
          <p:nvPr/>
        </p:nvSpPr>
        <p:spPr>
          <a:xfrm>
            <a:off x="2900476" y="3136188"/>
            <a:ext cx="574243" cy="201168"/>
          </a:xfrm>
          <a:prstGeom prst="rect">
            <a:avLst/>
          </a:prstGeom>
          <a:solidFill>
            <a:srgbClr val="E7EF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1F5FA8"/>
                </a:solidFill>
                <a:latin typeface="Menlo"/>
              </a:rPr>
              <a:t>STABLE</a:t>
            </a:r>
          </a:p>
        </p:txBody>
      </p:sp>
      <p:sp>
        <p:nvSpPr>
          <p:cNvPr id="30" name="TextBox 29"/>
          <p:cNvSpPr txBox="1"/>
          <p:nvPr/>
        </p:nvSpPr>
        <p:spPr>
          <a:xfrm>
            <a:off x="4590288" y="3117900"/>
            <a:ext cx="874166" cy="289020"/>
          </a:xfrm>
          <a:prstGeom prst="rect">
            <a:avLst/>
          </a:prstGeom>
          <a:noFill/>
        </p:spPr>
        <p:txBody>
          <a:bodyPr wrap="square" lIns="0" rIns="0" tIns="0" bIns="0">
            <a:spAutoFit/>
          </a:bodyPr>
          <a:lstStyle/>
          <a:p>
            <a:pPr algn="r">
              <a:lnSpc>
                <a:spcPct val="125000"/>
              </a:lnSpc>
            </a:pPr>
            <a:r>
              <a:rPr sz="1250" b="0" i="0">
                <a:solidFill>
                  <a:srgbClr val="12161C"/>
                </a:solidFill>
                <a:latin typeface="Menlo"/>
              </a:rPr>
              <a:t>96.4</a:t>
            </a:r>
          </a:p>
        </p:txBody>
      </p:sp>
      <p:sp>
        <p:nvSpPr>
          <p:cNvPr id="31" name="TextBox 30"/>
          <p:cNvSpPr txBox="1"/>
          <p:nvPr/>
        </p:nvSpPr>
        <p:spPr>
          <a:xfrm>
            <a:off x="5555894" y="3117900"/>
            <a:ext cx="874166" cy="289020"/>
          </a:xfrm>
          <a:prstGeom prst="rect">
            <a:avLst/>
          </a:prstGeom>
          <a:noFill/>
        </p:spPr>
        <p:txBody>
          <a:bodyPr wrap="square" lIns="0" rIns="0" tIns="0" bIns="0">
            <a:spAutoFit/>
          </a:bodyPr>
          <a:lstStyle/>
          <a:p>
            <a:pPr algn="r">
              <a:lnSpc>
                <a:spcPct val="125000"/>
              </a:lnSpc>
            </a:pPr>
            <a:r>
              <a:rPr sz="1250" b="0" i="0">
                <a:solidFill>
                  <a:srgbClr val="12161C"/>
                </a:solidFill>
                <a:latin typeface="Menlo"/>
              </a:rPr>
              <a:t>95.0</a:t>
            </a:r>
          </a:p>
        </p:txBody>
      </p:sp>
      <p:sp>
        <p:nvSpPr>
          <p:cNvPr id="32" name="TextBox 31"/>
          <p:cNvSpPr txBox="1"/>
          <p:nvPr/>
        </p:nvSpPr>
        <p:spPr>
          <a:xfrm>
            <a:off x="6521500" y="3117900"/>
            <a:ext cx="632764" cy="289020"/>
          </a:xfrm>
          <a:prstGeom prst="rect">
            <a:avLst/>
          </a:prstGeom>
          <a:noFill/>
        </p:spPr>
        <p:txBody>
          <a:bodyPr wrap="square" lIns="0" rIns="0" tIns="0" bIns="0">
            <a:spAutoFit/>
          </a:bodyPr>
          <a:lstStyle/>
          <a:p>
            <a:pPr algn="r">
              <a:lnSpc>
                <a:spcPct val="125000"/>
              </a:lnSpc>
            </a:pPr>
            <a:r>
              <a:rPr sz="1250" b="0" i="0">
                <a:solidFill>
                  <a:srgbClr val="12161C"/>
                </a:solidFill>
                <a:latin typeface="Menlo"/>
              </a:rPr>
              <a:t>30</a:t>
            </a:r>
          </a:p>
        </p:txBody>
      </p:sp>
      <p:sp>
        <p:nvSpPr>
          <p:cNvPr id="33" name="Rectangle 32"/>
          <p:cNvSpPr/>
          <p:nvPr/>
        </p:nvSpPr>
        <p:spPr>
          <a:xfrm>
            <a:off x="7245705" y="3136188"/>
            <a:ext cx="645566" cy="201168"/>
          </a:xfrm>
          <a:prstGeom prst="rect">
            <a:avLst/>
          </a:prstGeom>
          <a:solidFill>
            <a:srgbClr val="FAF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B4741A"/>
                </a:solidFill>
                <a:latin typeface="Menlo"/>
              </a:rPr>
              <a:t>AT_RISK</a:t>
            </a:r>
          </a:p>
        </p:txBody>
      </p:sp>
      <p:sp>
        <p:nvSpPr>
          <p:cNvPr id="34" name="Rectangle 33"/>
          <p:cNvSpPr/>
          <p:nvPr/>
        </p:nvSpPr>
        <p:spPr>
          <a:xfrm>
            <a:off x="566928" y="3443497"/>
            <a:ext cx="8046720" cy="8229"/>
          </a:xfrm>
          <a:prstGeom prst="rect">
            <a:avLst/>
          </a:prstGeom>
          <a:solidFill>
            <a:srgbClr val="DCD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6928" y="3534937"/>
            <a:ext cx="2242108" cy="289020"/>
          </a:xfrm>
          <a:prstGeom prst="rect">
            <a:avLst/>
          </a:prstGeom>
          <a:noFill/>
        </p:spPr>
        <p:txBody>
          <a:bodyPr wrap="square" lIns="0" rIns="0" tIns="0" bIns="0">
            <a:spAutoFit/>
          </a:bodyPr>
          <a:lstStyle/>
          <a:p>
            <a:pPr algn="l">
              <a:lnSpc>
                <a:spcPct val="125000"/>
              </a:lnSpc>
            </a:pPr>
            <a:r>
              <a:rPr sz="1250" b="0" i="0">
                <a:solidFill>
                  <a:srgbClr val="12161C"/>
                </a:solidFill>
                <a:latin typeface="Arial"/>
              </a:rPr>
              <a:t>worst_product_ota</a:t>
            </a:r>
          </a:p>
        </p:txBody>
      </p:sp>
      <p:sp>
        <p:nvSpPr>
          <p:cNvPr id="36" name="Rectangle 35"/>
          <p:cNvSpPr/>
          <p:nvPr/>
        </p:nvSpPr>
        <p:spPr>
          <a:xfrm>
            <a:off x="2900476" y="3553225"/>
            <a:ext cx="574243" cy="201168"/>
          </a:xfrm>
          <a:prstGeom prst="rect">
            <a:avLst/>
          </a:prstGeom>
          <a:solidFill>
            <a:srgbClr val="E7EF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1F5FA8"/>
                </a:solidFill>
                <a:latin typeface="Menlo"/>
              </a:rPr>
              <a:t>STABLE</a:t>
            </a:r>
          </a:p>
        </p:txBody>
      </p:sp>
      <p:sp>
        <p:nvSpPr>
          <p:cNvPr id="37" name="TextBox 36"/>
          <p:cNvSpPr txBox="1"/>
          <p:nvPr/>
        </p:nvSpPr>
        <p:spPr>
          <a:xfrm>
            <a:off x="4590288" y="3534937"/>
            <a:ext cx="874166" cy="289020"/>
          </a:xfrm>
          <a:prstGeom prst="rect">
            <a:avLst/>
          </a:prstGeom>
          <a:noFill/>
        </p:spPr>
        <p:txBody>
          <a:bodyPr wrap="square" lIns="0" rIns="0" tIns="0" bIns="0">
            <a:spAutoFit/>
          </a:bodyPr>
          <a:lstStyle/>
          <a:p>
            <a:pPr algn="r">
              <a:lnSpc>
                <a:spcPct val="125000"/>
              </a:lnSpc>
            </a:pPr>
            <a:r>
              <a:rPr sz="1250" b="0" i="0">
                <a:solidFill>
                  <a:srgbClr val="12161C"/>
                </a:solidFill>
                <a:latin typeface="Menlo"/>
              </a:rPr>
              <a:t>92.4</a:t>
            </a:r>
          </a:p>
        </p:txBody>
      </p:sp>
      <p:sp>
        <p:nvSpPr>
          <p:cNvPr id="38" name="TextBox 37"/>
          <p:cNvSpPr txBox="1"/>
          <p:nvPr/>
        </p:nvSpPr>
        <p:spPr>
          <a:xfrm>
            <a:off x="5555894" y="3534937"/>
            <a:ext cx="874166" cy="289020"/>
          </a:xfrm>
          <a:prstGeom prst="rect">
            <a:avLst/>
          </a:prstGeom>
          <a:noFill/>
        </p:spPr>
        <p:txBody>
          <a:bodyPr wrap="square" lIns="0" rIns="0" tIns="0" bIns="0">
            <a:spAutoFit/>
          </a:bodyPr>
          <a:lstStyle/>
          <a:p>
            <a:pPr algn="r">
              <a:lnSpc>
                <a:spcPct val="125000"/>
              </a:lnSpc>
            </a:pPr>
            <a:r>
              <a:rPr sz="1250" b="0" i="0">
                <a:solidFill>
                  <a:srgbClr val="12161C"/>
                </a:solidFill>
                <a:latin typeface="Menlo"/>
              </a:rPr>
              <a:t>92.0</a:t>
            </a:r>
          </a:p>
        </p:txBody>
      </p:sp>
      <p:sp>
        <p:nvSpPr>
          <p:cNvPr id="39" name="TextBox 38"/>
          <p:cNvSpPr txBox="1"/>
          <p:nvPr/>
        </p:nvSpPr>
        <p:spPr>
          <a:xfrm>
            <a:off x="6521500" y="3534937"/>
            <a:ext cx="632764" cy="289020"/>
          </a:xfrm>
          <a:prstGeom prst="rect">
            <a:avLst/>
          </a:prstGeom>
          <a:noFill/>
        </p:spPr>
        <p:txBody>
          <a:bodyPr wrap="square" lIns="0" rIns="0" tIns="0" bIns="0">
            <a:spAutoFit/>
          </a:bodyPr>
          <a:lstStyle/>
          <a:p>
            <a:pPr algn="r">
              <a:lnSpc>
                <a:spcPct val="125000"/>
              </a:lnSpc>
            </a:pPr>
            <a:r>
              <a:rPr sz="1250" b="0" i="0">
                <a:solidFill>
                  <a:srgbClr val="12161C"/>
                </a:solidFill>
                <a:latin typeface="Menlo"/>
              </a:rPr>
              <a:t>30</a:t>
            </a:r>
          </a:p>
        </p:txBody>
      </p:sp>
      <p:sp>
        <p:nvSpPr>
          <p:cNvPr id="40" name="Rectangle 39"/>
          <p:cNvSpPr/>
          <p:nvPr/>
        </p:nvSpPr>
        <p:spPr>
          <a:xfrm>
            <a:off x="7245705" y="3553225"/>
            <a:ext cx="645566" cy="201168"/>
          </a:xfrm>
          <a:prstGeom prst="rect">
            <a:avLst/>
          </a:prstGeom>
          <a:solidFill>
            <a:srgbClr val="FAF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B4741A"/>
                </a:solidFill>
                <a:latin typeface="Menlo"/>
              </a:rPr>
              <a:t>AT_RISK</a:t>
            </a:r>
          </a:p>
        </p:txBody>
      </p:sp>
      <p:sp>
        <p:nvSpPr>
          <p:cNvPr id="41" name="Rectangle 40"/>
          <p:cNvSpPr/>
          <p:nvPr/>
        </p:nvSpPr>
        <p:spPr>
          <a:xfrm>
            <a:off x="566928" y="3860533"/>
            <a:ext cx="8046720" cy="8229"/>
          </a:xfrm>
          <a:prstGeom prst="rect">
            <a:avLst/>
          </a:prstGeom>
          <a:solidFill>
            <a:srgbClr val="DCD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66928" y="3951973"/>
            <a:ext cx="2242108" cy="289020"/>
          </a:xfrm>
          <a:prstGeom prst="rect">
            <a:avLst/>
          </a:prstGeom>
          <a:noFill/>
        </p:spPr>
        <p:txBody>
          <a:bodyPr wrap="square" lIns="0" rIns="0" tIns="0" bIns="0">
            <a:spAutoFit/>
          </a:bodyPr>
          <a:lstStyle/>
          <a:p>
            <a:pPr algn="l">
              <a:lnSpc>
                <a:spcPct val="125000"/>
              </a:lnSpc>
            </a:pPr>
            <a:r>
              <a:rPr sz="1250" b="0" i="0">
                <a:solidFill>
                  <a:srgbClr val="12161C"/>
                </a:solidFill>
                <a:latin typeface="Arial"/>
              </a:rPr>
              <a:t>ev_share</a:t>
            </a:r>
          </a:p>
        </p:txBody>
      </p:sp>
      <p:sp>
        <p:nvSpPr>
          <p:cNvPr id="43" name="Rectangle 42"/>
          <p:cNvSpPr/>
          <p:nvPr/>
        </p:nvSpPr>
        <p:spPr>
          <a:xfrm>
            <a:off x="2900476" y="3970261"/>
            <a:ext cx="574243" cy="201168"/>
          </a:xfrm>
          <a:prstGeom prst="rect">
            <a:avLst/>
          </a:prstGeom>
          <a:solidFill>
            <a:srgbClr val="E7EF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1F5FA8"/>
                </a:solidFill>
                <a:latin typeface="Menlo"/>
              </a:rPr>
              <a:t>STABLE</a:t>
            </a:r>
          </a:p>
        </p:txBody>
      </p:sp>
      <p:sp>
        <p:nvSpPr>
          <p:cNvPr id="44" name="TextBox 43"/>
          <p:cNvSpPr txBox="1"/>
          <p:nvPr/>
        </p:nvSpPr>
        <p:spPr>
          <a:xfrm>
            <a:off x="4590288" y="3951973"/>
            <a:ext cx="874166" cy="289020"/>
          </a:xfrm>
          <a:prstGeom prst="rect">
            <a:avLst/>
          </a:prstGeom>
          <a:noFill/>
        </p:spPr>
        <p:txBody>
          <a:bodyPr wrap="square" lIns="0" rIns="0" tIns="0" bIns="0">
            <a:spAutoFit/>
          </a:bodyPr>
          <a:lstStyle/>
          <a:p>
            <a:pPr algn="r">
              <a:lnSpc>
                <a:spcPct val="125000"/>
              </a:lnSpc>
            </a:pPr>
            <a:r>
              <a:rPr sz="1250" b="0" i="0">
                <a:solidFill>
                  <a:srgbClr val="12161C"/>
                </a:solidFill>
                <a:latin typeface="Menlo"/>
              </a:rPr>
              <a:t>9.9</a:t>
            </a:r>
          </a:p>
        </p:txBody>
      </p:sp>
      <p:sp>
        <p:nvSpPr>
          <p:cNvPr id="45" name="TextBox 44"/>
          <p:cNvSpPr txBox="1"/>
          <p:nvPr/>
        </p:nvSpPr>
        <p:spPr>
          <a:xfrm>
            <a:off x="5555894" y="3951973"/>
            <a:ext cx="874166" cy="289020"/>
          </a:xfrm>
          <a:prstGeom prst="rect">
            <a:avLst/>
          </a:prstGeom>
          <a:noFill/>
        </p:spPr>
        <p:txBody>
          <a:bodyPr wrap="square" lIns="0" rIns="0" tIns="0" bIns="0">
            <a:spAutoFit/>
          </a:bodyPr>
          <a:lstStyle/>
          <a:p>
            <a:pPr algn="r">
              <a:lnSpc>
                <a:spcPct val="125000"/>
              </a:lnSpc>
            </a:pPr>
            <a:r>
              <a:rPr sz="1250" b="0" i="0">
                <a:solidFill>
                  <a:srgbClr val="12161C"/>
                </a:solidFill>
                <a:latin typeface="Menlo"/>
              </a:rPr>
              <a:t>9.0</a:t>
            </a:r>
          </a:p>
        </p:txBody>
      </p:sp>
      <p:sp>
        <p:nvSpPr>
          <p:cNvPr id="46" name="TextBox 45"/>
          <p:cNvSpPr txBox="1"/>
          <p:nvPr/>
        </p:nvSpPr>
        <p:spPr>
          <a:xfrm>
            <a:off x="6521500" y="3951973"/>
            <a:ext cx="632764" cy="289020"/>
          </a:xfrm>
          <a:prstGeom prst="rect">
            <a:avLst/>
          </a:prstGeom>
          <a:noFill/>
        </p:spPr>
        <p:txBody>
          <a:bodyPr wrap="square" lIns="0" rIns="0" tIns="0" bIns="0">
            <a:spAutoFit/>
          </a:bodyPr>
          <a:lstStyle/>
          <a:p>
            <a:pPr algn="r">
              <a:lnSpc>
                <a:spcPct val="125000"/>
              </a:lnSpc>
            </a:pPr>
            <a:r>
              <a:rPr sz="1250" b="0" i="0">
                <a:solidFill>
                  <a:srgbClr val="12161C"/>
                </a:solidFill>
                <a:latin typeface="Menlo"/>
              </a:rPr>
              <a:t>25</a:t>
            </a:r>
          </a:p>
        </p:txBody>
      </p:sp>
      <p:sp>
        <p:nvSpPr>
          <p:cNvPr id="47" name="Rectangle 46"/>
          <p:cNvSpPr/>
          <p:nvPr/>
        </p:nvSpPr>
        <p:spPr>
          <a:xfrm>
            <a:off x="7245705" y="3970261"/>
            <a:ext cx="645566" cy="201168"/>
          </a:xfrm>
          <a:prstGeom prst="rect">
            <a:avLst/>
          </a:prstGeom>
          <a:solidFill>
            <a:srgbClr val="FAF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B4741A"/>
                </a:solidFill>
                <a:latin typeface="Menlo"/>
              </a:rPr>
              <a:t>AT_RISK</a:t>
            </a:r>
          </a:p>
        </p:txBody>
      </p:sp>
      <p:sp>
        <p:nvSpPr>
          <p:cNvPr id="48" name="Rectangle 47"/>
          <p:cNvSpPr/>
          <p:nvPr/>
        </p:nvSpPr>
        <p:spPr>
          <a:xfrm>
            <a:off x="566928" y="4277569"/>
            <a:ext cx="8046720" cy="8229"/>
          </a:xfrm>
          <a:prstGeom prst="rect">
            <a:avLst/>
          </a:prstGeom>
          <a:solidFill>
            <a:srgbClr val="DCD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66928" y="4369009"/>
            <a:ext cx="2242108" cy="289020"/>
          </a:xfrm>
          <a:prstGeom prst="rect">
            <a:avLst/>
          </a:prstGeom>
          <a:noFill/>
        </p:spPr>
        <p:txBody>
          <a:bodyPr wrap="square" lIns="0" rIns="0" tIns="0" bIns="0">
            <a:spAutoFit/>
          </a:bodyPr>
          <a:lstStyle/>
          <a:p>
            <a:pPr algn="l">
              <a:lnSpc>
                <a:spcPct val="125000"/>
              </a:lnSpc>
            </a:pPr>
            <a:r>
              <a:rPr sz="1250" b="0" i="0">
                <a:solidFill>
                  <a:srgbClr val="12161C"/>
                </a:solidFill>
                <a:latin typeface="Arial"/>
              </a:rPr>
              <a:t>experience</a:t>
            </a:r>
          </a:p>
        </p:txBody>
      </p:sp>
      <p:sp>
        <p:nvSpPr>
          <p:cNvPr id="50" name="Rectangle 49"/>
          <p:cNvSpPr/>
          <p:nvPr/>
        </p:nvSpPr>
        <p:spPr>
          <a:xfrm>
            <a:off x="2900476" y="4387297"/>
            <a:ext cx="574243" cy="201168"/>
          </a:xfrm>
          <a:prstGeom prst="rect">
            <a:avLst/>
          </a:prstGeom>
          <a:solidFill>
            <a:srgbClr val="E7EF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1F5FA8"/>
                </a:solidFill>
                <a:latin typeface="Menlo"/>
              </a:rPr>
              <a:t>STABLE</a:t>
            </a:r>
          </a:p>
        </p:txBody>
      </p:sp>
      <p:sp>
        <p:nvSpPr>
          <p:cNvPr id="51" name="TextBox 50"/>
          <p:cNvSpPr txBox="1"/>
          <p:nvPr/>
        </p:nvSpPr>
        <p:spPr>
          <a:xfrm>
            <a:off x="4590288" y="4369009"/>
            <a:ext cx="874166" cy="289020"/>
          </a:xfrm>
          <a:prstGeom prst="rect">
            <a:avLst/>
          </a:prstGeom>
          <a:noFill/>
        </p:spPr>
        <p:txBody>
          <a:bodyPr wrap="square" lIns="0" rIns="0" tIns="0" bIns="0">
            <a:spAutoFit/>
          </a:bodyPr>
          <a:lstStyle/>
          <a:p>
            <a:pPr algn="r">
              <a:lnSpc>
                <a:spcPct val="125000"/>
              </a:lnSpc>
            </a:pPr>
            <a:r>
              <a:rPr sz="1250" b="0" i="0">
                <a:solidFill>
                  <a:srgbClr val="12161C"/>
                </a:solidFill>
                <a:latin typeface="Menlo"/>
              </a:rPr>
              <a:t>4.90</a:t>
            </a:r>
          </a:p>
        </p:txBody>
      </p:sp>
      <p:sp>
        <p:nvSpPr>
          <p:cNvPr id="52" name="TextBox 51"/>
          <p:cNvSpPr txBox="1"/>
          <p:nvPr/>
        </p:nvSpPr>
        <p:spPr>
          <a:xfrm>
            <a:off x="5555894" y="4369009"/>
            <a:ext cx="874166" cy="289020"/>
          </a:xfrm>
          <a:prstGeom prst="rect">
            <a:avLst/>
          </a:prstGeom>
          <a:noFill/>
        </p:spPr>
        <p:txBody>
          <a:bodyPr wrap="square" lIns="0" rIns="0" tIns="0" bIns="0">
            <a:spAutoFit/>
          </a:bodyPr>
          <a:lstStyle/>
          <a:p>
            <a:pPr algn="r">
              <a:lnSpc>
                <a:spcPct val="125000"/>
              </a:lnSpc>
            </a:pPr>
            <a:r>
              <a:rPr sz="1250" b="0" i="0">
                <a:solidFill>
                  <a:srgbClr val="12161C"/>
                </a:solidFill>
                <a:latin typeface="Menlo"/>
              </a:rPr>
              <a:t>4.85</a:t>
            </a:r>
          </a:p>
        </p:txBody>
      </p:sp>
      <p:sp>
        <p:nvSpPr>
          <p:cNvPr id="53" name="TextBox 52"/>
          <p:cNvSpPr txBox="1"/>
          <p:nvPr/>
        </p:nvSpPr>
        <p:spPr>
          <a:xfrm>
            <a:off x="6521500" y="4369009"/>
            <a:ext cx="632764" cy="289020"/>
          </a:xfrm>
          <a:prstGeom prst="rect">
            <a:avLst/>
          </a:prstGeom>
          <a:noFill/>
        </p:spPr>
        <p:txBody>
          <a:bodyPr wrap="square" lIns="0" rIns="0" tIns="0" bIns="0">
            <a:spAutoFit/>
          </a:bodyPr>
          <a:lstStyle/>
          <a:p>
            <a:pPr algn="r">
              <a:lnSpc>
                <a:spcPct val="125000"/>
              </a:lnSpc>
            </a:pPr>
            <a:r>
              <a:rPr sz="1250" b="0" i="0">
                <a:solidFill>
                  <a:srgbClr val="12161C"/>
                </a:solidFill>
                <a:latin typeface="Menlo"/>
              </a:rPr>
              <a:t>25</a:t>
            </a:r>
          </a:p>
        </p:txBody>
      </p:sp>
      <p:sp>
        <p:nvSpPr>
          <p:cNvPr id="54" name="Rectangle 53"/>
          <p:cNvSpPr/>
          <p:nvPr/>
        </p:nvSpPr>
        <p:spPr>
          <a:xfrm>
            <a:off x="7245705" y="4387297"/>
            <a:ext cx="645566" cy="201168"/>
          </a:xfrm>
          <a:prstGeom prst="rect">
            <a:avLst/>
          </a:prstGeom>
          <a:solidFill>
            <a:srgbClr val="FAF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B4741A"/>
                </a:solidFill>
                <a:latin typeface="Menlo"/>
              </a:rPr>
              <a:t>AT_RISK</a:t>
            </a:r>
          </a:p>
        </p:txBody>
      </p:sp>
      <p:sp>
        <p:nvSpPr>
          <p:cNvPr id="55" name="Rectangle 54"/>
          <p:cNvSpPr/>
          <p:nvPr/>
        </p:nvSpPr>
        <p:spPr>
          <a:xfrm>
            <a:off x="566928" y="4694605"/>
            <a:ext cx="8046720" cy="8229"/>
          </a:xfrm>
          <a:prstGeom prst="rect">
            <a:avLst/>
          </a:prstGeom>
          <a:solidFill>
            <a:srgbClr val="DCD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66928" y="4786045"/>
            <a:ext cx="2242108" cy="289020"/>
          </a:xfrm>
          <a:prstGeom prst="rect">
            <a:avLst/>
          </a:prstGeom>
          <a:noFill/>
        </p:spPr>
        <p:txBody>
          <a:bodyPr wrap="square" lIns="0" rIns="0" tIns="0" bIns="0">
            <a:spAutoFit/>
          </a:bodyPr>
          <a:lstStyle/>
          <a:p>
            <a:pPr algn="l">
              <a:lnSpc>
                <a:spcPct val="125000"/>
              </a:lnSpc>
            </a:pPr>
            <a:r>
              <a:rPr sz="1250" b="0" i="0">
                <a:solidFill>
                  <a:srgbClr val="12161C"/>
                </a:solidFill>
                <a:latin typeface="Arial"/>
              </a:rPr>
              <a:t>safety_alerts_per_1k</a:t>
            </a:r>
          </a:p>
        </p:txBody>
      </p:sp>
      <p:sp>
        <p:nvSpPr>
          <p:cNvPr id="57" name="Rectangle 56"/>
          <p:cNvSpPr/>
          <p:nvPr/>
        </p:nvSpPr>
        <p:spPr>
          <a:xfrm>
            <a:off x="2900476" y="4804333"/>
            <a:ext cx="788212" cy="201168"/>
          </a:xfrm>
          <a:prstGeom prst="rect">
            <a:avLst/>
          </a:prstGeom>
          <a:solidFill>
            <a:srgbClr val="E5F0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2E6B4F"/>
                </a:solidFill>
                <a:latin typeface="Menlo"/>
              </a:rPr>
              <a:t>IMPROVING</a:t>
            </a:r>
          </a:p>
        </p:txBody>
      </p:sp>
      <p:sp>
        <p:nvSpPr>
          <p:cNvPr id="58" name="TextBox 57"/>
          <p:cNvSpPr txBox="1"/>
          <p:nvPr/>
        </p:nvSpPr>
        <p:spPr>
          <a:xfrm>
            <a:off x="4590288" y="4786045"/>
            <a:ext cx="874166" cy="289020"/>
          </a:xfrm>
          <a:prstGeom prst="rect">
            <a:avLst/>
          </a:prstGeom>
          <a:noFill/>
        </p:spPr>
        <p:txBody>
          <a:bodyPr wrap="square" lIns="0" rIns="0" tIns="0" bIns="0">
            <a:spAutoFit/>
          </a:bodyPr>
          <a:lstStyle/>
          <a:p>
            <a:pPr algn="r">
              <a:lnSpc>
                <a:spcPct val="125000"/>
              </a:lnSpc>
            </a:pPr>
            <a:r>
              <a:rPr sz="1250" b="0" i="0">
                <a:solidFill>
                  <a:srgbClr val="12161C"/>
                </a:solidFill>
                <a:latin typeface="Menlo"/>
              </a:rPr>
              <a:t>89.1</a:t>
            </a:r>
          </a:p>
        </p:txBody>
      </p:sp>
      <p:sp>
        <p:nvSpPr>
          <p:cNvPr id="59" name="TextBox 58"/>
          <p:cNvSpPr txBox="1"/>
          <p:nvPr/>
        </p:nvSpPr>
        <p:spPr>
          <a:xfrm>
            <a:off x="5555894" y="4786045"/>
            <a:ext cx="874166" cy="289020"/>
          </a:xfrm>
          <a:prstGeom prst="rect">
            <a:avLst/>
          </a:prstGeom>
          <a:noFill/>
        </p:spPr>
        <p:txBody>
          <a:bodyPr wrap="square" lIns="0" rIns="0" tIns="0" bIns="0">
            <a:spAutoFit/>
          </a:bodyPr>
          <a:lstStyle/>
          <a:p>
            <a:pPr algn="r">
              <a:lnSpc>
                <a:spcPct val="125000"/>
              </a:lnSpc>
            </a:pPr>
            <a:r>
              <a:rPr sz="1250" b="0" i="0">
                <a:solidFill>
                  <a:srgbClr val="12161C"/>
                </a:solidFill>
                <a:latin typeface="Menlo"/>
              </a:rPr>
              <a:t>90.0</a:t>
            </a:r>
          </a:p>
        </p:txBody>
      </p:sp>
      <p:sp>
        <p:nvSpPr>
          <p:cNvPr id="60" name="TextBox 59"/>
          <p:cNvSpPr txBox="1"/>
          <p:nvPr/>
        </p:nvSpPr>
        <p:spPr>
          <a:xfrm>
            <a:off x="6521500" y="4786045"/>
            <a:ext cx="632764" cy="289020"/>
          </a:xfrm>
          <a:prstGeom prst="rect">
            <a:avLst/>
          </a:prstGeom>
          <a:noFill/>
        </p:spPr>
        <p:txBody>
          <a:bodyPr wrap="square" lIns="0" rIns="0" tIns="0" bIns="0">
            <a:spAutoFit/>
          </a:bodyPr>
          <a:lstStyle/>
          <a:p>
            <a:pPr algn="r">
              <a:lnSpc>
                <a:spcPct val="125000"/>
              </a:lnSpc>
            </a:pPr>
            <a:r>
              <a:rPr sz="1250" b="0" i="0">
                <a:solidFill>
                  <a:srgbClr val="12161C"/>
                </a:solidFill>
                <a:latin typeface="Menlo"/>
              </a:rPr>
              <a:t>25</a:t>
            </a:r>
          </a:p>
        </p:txBody>
      </p:sp>
      <p:sp>
        <p:nvSpPr>
          <p:cNvPr id="61" name="Rectangle 60"/>
          <p:cNvSpPr/>
          <p:nvPr/>
        </p:nvSpPr>
        <p:spPr>
          <a:xfrm>
            <a:off x="7245705" y="4804333"/>
            <a:ext cx="645566" cy="201168"/>
          </a:xfrm>
          <a:prstGeom prst="rect">
            <a:avLst/>
          </a:prstGeom>
          <a:solidFill>
            <a:srgbClr val="FAF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B4741A"/>
                </a:solidFill>
                <a:latin typeface="Menlo"/>
              </a:rPr>
              <a:t>AT_RISK</a:t>
            </a:r>
          </a:p>
        </p:txBody>
      </p:sp>
      <p:sp>
        <p:nvSpPr>
          <p:cNvPr id="62" name="Rectangle 61"/>
          <p:cNvSpPr/>
          <p:nvPr/>
        </p:nvSpPr>
        <p:spPr>
          <a:xfrm>
            <a:off x="566928" y="5111642"/>
            <a:ext cx="8046720" cy="8229"/>
          </a:xfrm>
          <a:prstGeom prst="rect">
            <a:avLst/>
          </a:prstGeom>
          <a:solidFill>
            <a:srgbClr val="DCD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66928" y="5203082"/>
            <a:ext cx="2242108" cy="289020"/>
          </a:xfrm>
          <a:prstGeom prst="rect">
            <a:avLst/>
          </a:prstGeom>
          <a:noFill/>
        </p:spPr>
        <p:txBody>
          <a:bodyPr wrap="square" lIns="0" rIns="0" tIns="0" bIns="0">
            <a:spAutoFit/>
          </a:bodyPr>
          <a:lstStyle/>
          <a:p>
            <a:pPr algn="l">
              <a:lnSpc>
                <a:spcPct val="125000"/>
              </a:lnSpc>
            </a:pPr>
            <a:r>
              <a:rPr sz="1250" b="0" i="0">
                <a:solidFill>
                  <a:srgbClr val="12161C"/>
                </a:solidFill>
                <a:latin typeface="Arial"/>
              </a:rPr>
              <a:t>cost_per_trip</a:t>
            </a:r>
          </a:p>
        </p:txBody>
      </p:sp>
      <p:sp>
        <p:nvSpPr>
          <p:cNvPr id="64" name="Rectangle 63"/>
          <p:cNvSpPr/>
          <p:nvPr/>
        </p:nvSpPr>
        <p:spPr>
          <a:xfrm>
            <a:off x="2900476" y="5221370"/>
            <a:ext cx="574243" cy="201168"/>
          </a:xfrm>
          <a:prstGeom prst="rect">
            <a:avLst/>
          </a:prstGeom>
          <a:solidFill>
            <a:srgbClr val="E7EF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1F5FA8"/>
                </a:solidFill>
                <a:latin typeface="Menlo"/>
              </a:rPr>
              <a:t>STABLE</a:t>
            </a:r>
          </a:p>
        </p:txBody>
      </p:sp>
      <p:sp>
        <p:nvSpPr>
          <p:cNvPr id="65" name="TextBox 64"/>
          <p:cNvSpPr txBox="1"/>
          <p:nvPr/>
        </p:nvSpPr>
        <p:spPr>
          <a:xfrm>
            <a:off x="4590288" y="5203082"/>
            <a:ext cx="874166" cy="289020"/>
          </a:xfrm>
          <a:prstGeom prst="rect">
            <a:avLst/>
          </a:prstGeom>
          <a:noFill/>
        </p:spPr>
        <p:txBody>
          <a:bodyPr wrap="square" lIns="0" rIns="0" tIns="0" bIns="0">
            <a:spAutoFit/>
          </a:bodyPr>
          <a:lstStyle/>
          <a:p>
            <a:pPr algn="r">
              <a:lnSpc>
                <a:spcPct val="125000"/>
              </a:lnSpc>
            </a:pPr>
            <a:r>
              <a:rPr sz="1250" b="0" i="0">
                <a:solidFill>
                  <a:srgbClr val="12161C"/>
                </a:solidFill>
                <a:latin typeface="Menlo"/>
              </a:rPr>
              <a:t>1325.8</a:t>
            </a:r>
          </a:p>
        </p:txBody>
      </p:sp>
      <p:sp>
        <p:nvSpPr>
          <p:cNvPr id="66" name="TextBox 65"/>
          <p:cNvSpPr txBox="1"/>
          <p:nvPr/>
        </p:nvSpPr>
        <p:spPr>
          <a:xfrm>
            <a:off x="5555894" y="5203082"/>
            <a:ext cx="874166" cy="289020"/>
          </a:xfrm>
          <a:prstGeom prst="rect">
            <a:avLst/>
          </a:prstGeom>
          <a:noFill/>
        </p:spPr>
        <p:txBody>
          <a:bodyPr wrap="square" lIns="0" rIns="0" tIns="0" bIns="0">
            <a:spAutoFit/>
          </a:bodyPr>
          <a:lstStyle/>
          <a:p>
            <a:pPr algn="r">
              <a:lnSpc>
                <a:spcPct val="125000"/>
              </a:lnSpc>
            </a:pPr>
            <a:r>
              <a:rPr sz="1250" b="0" i="0">
                <a:solidFill>
                  <a:srgbClr val="12161C"/>
                </a:solidFill>
                <a:latin typeface="Menlo"/>
              </a:rPr>
              <a:t>1400.0</a:t>
            </a:r>
          </a:p>
        </p:txBody>
      </p:sp>
      <p:sp>
        <p:nvSpPr>
          <p:cNvPr id="67" name="TextBox 66"/>
          <p:cNvSpPr txBox="1"/>
          <p:nvPr/>
        </p:nvSpPr>
        <p:spPr>
          <a:xfrm>
            <a:off x="6521500" y="5203082"/>
            <a:ext cx="632764" cy="289020"/>
          </a:xfrm>
          <a:prstGeom prst="rect">
            <a:avLst/>
          </a:prstGeom>
          <a:noFill/>
        </p:spPr>
        <p:txBody>
          <a:bodyPr wrap="square" lIns="0" rIns="0" tIns="0" bIns="0">
            <a:spAutoFit/>
          </a:bodyPr>
          <a:lstStyle/>
          <a:p>
            <a:pPr algn="r">
              <a:lnSpc>
                <a:spcPct val="125000"/>
              </a:lnSpc>
            </a:pPr>
            <a:r>
              <a:rPr sz="1250" b="0" i="0">
                <a:solidFill>
                  <a:srgbClr val="12161C"/>
                </a:solidFill>
                <a:latin typeface="Menlo"/>
              </a:rPr>
              <a:t>5</a:t>
            </a:r>
          </a:p>
        </p:txBody>
      </p:sp>
      <p:sp>
        <p:nvSpPr>
          <p:cNvPr id="68" name="Rectangle 67"/>
          <p:cNvSpPr/>
          <p:nvPr/>
        </p:nvSpPr>
        <p:spPr>
          <a:xfrm>
            <a:off x="7245705" y="5221370"/>
            <a:ext cx="288950" cy="201168"/>
          </a:xfrm>
          <a:prstGeom prst="rect">
            <a:avLst/>
          </a:prstGeom>
          <a:solidFill>
            <a:srgbClr val="E5F0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2E6B4F"/>
                </a:solidFill>
                <a:latin typeface="Menlo"/>
              </a:rPr>
              <a:t>OK</a:t>
            </a:r>
          </a:p>
        </p:txBody>
      </p:sp>
      <p:sp>
        <p:nvSpPr>
          <p:cNvPr id="69" name="TextBox 68"/>
          <p:cNvSpPr txBox="1"/>
          <p:nvPr/>
        </p:nvSpPr>
        <p:spPr>
          <a:xfrm>
            <a:off x="8979407" y="1954644"/>
            <a:ext cx="3200400" cy="239941"/>
          </a:xfrm>
          <a:prstGeom prst="rect">
            <a:avLst/>
          </a:prstGeom>
          <a:noFill/>
        </p:spPr>
        <p:txBody>
          <a:bodyPr wrap="square" lIns="0" rIns="0" tIns="0" bIns="0">
            <a:spAutoFit/>
          </a:bodyPr>
          <a:lstStyle/>
          <a:p>
            <a:pPr algn="l">
              <a:lnSpc>
                <a:spcPct val="130000"/>
              </a:lnSpc>
            </a:pPr>
            <a:r>
              <a:rPr sz="950" b="1" i="0">
                <a:solidFill>
                  <a:srgbClr val="5A6472"/>
                </a:solidFill>
                <a:latin typeface="Menlo"/>
              </a:rPr>
              <a:t>READ THE TWO TOGETHER</a:t>
            </a:r>
          </a:p>
        </p:txBody>
      </p:sp>
      <p:sp>
        <p:nvSpPr>
          <p:cNvPr id="70" name="TextBox 69"/>
          <p:cNvSpPr txBox="1"/>
          <p:nvPr/>
        </p:nvSpPr>
        <p:spPr>
          <a:xfrm>
            <a:off x="8979407" y="2228964"/>
            <a:ext cx="3154680" cy="873099"/>
          </a:xfrm>
          <a:prstGeom prst="rect">
            <a:avLst/>
          </a:prstGeom>
          <a:noFill/>
        </p:spPr>
        <p:txBody>
          <a:bodyPr wrap="square" lIns="0" rIns="0" tIns="0" bIns="0">
            <a:spAutoFit/>
          </a:bodyPr>
          <a:lstStyle/>
          <a:p>
            <a:pPr algn="l">
              <a:lnSpc>
                <a:spcPct val="140000"/>
              </a:lnSpc>
            </a:pPr>
            <a:r>
              <a:rPr sz="1300" b="0" i="0">
                <a:solidFill>
                  <a:srgbClr val="5A6472"/>
                </a:solidFill>
                <a:latin typeface="Arial"/>
              </a:rPr>
              <a:t>The two BREACH rows are also IMPROVING — still outside target, but moving the right way.</a:t>
            </a:r>
          </a:p>
        </p:txBody>
      </p:sp>
      <p:sp>
        <p:nvSpPr>
          <p:cNvPr id="71" name="TextBox 70"/>
          <p:cNvSpPr txBox="1"/>
          <p:nvPr/>
        </p:nvSpPr>
        <p:spPr>
          <a:xfrm>
            <a:off x="8979407" y="3358095"/>
            <a:ext cx="3154680" cy="1145844"/>
          </a:xfrm>
          <a:prstGeom prst="rect">
            <a:avLst/>
          </a:prstGeom>
          <a:noFill/>
        </p:spPr>
        <p:txBody>
          <a:bodyPr wrap="square" lIns="0" rIns="0" tIns="0" bIns="0">
            <a:spAutoFit/>
          </a:bodyPr>
          <a:lstStyle/>
          <a:p>
            <a:pPr algn="l">
              <a:lnSpc>
                <a:spcPct val="140000"/>
              </a:lnSpc>
            </a:pPr>
            <a:r>
              <a:rPr sz="1300" b="0" i="0">
                <a:solidFill>
                  <a:srgbClr val="5A6472"/>
                </a:solidFill>
                <a:latin typeface="Arial"/>
              </a:rPr>
              <a:t>Shape and verdict are independent, which is what stops a recovering metric from being escalated as if it were a new incident.</a:t>
            </a:r>
          </a:p>
        </p:txBody>
      </p:sp>
      <p:sp>
        <p:nvSpPr>
          <p:cNvPr id="72" name="Rectangle 71"/>
          <p:cNvSpPr/>
          <p:nvPr/>
        </p:nvSpPr>
        <p:spPr>
          <a:xfrm>
            <a:off x="8979407" y="4869700"/>
            <a:ext cx="20116" cy="704202"/>
          </a:xfrm>
          <a:prstGeom prst="rect">
            <a:avLst/>
          </a:prstGeom>
          <a:solidFill>
            <a:srgbClr val="C3C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143999" y="4869700"/>
            <a:ext cx="2990088" cy="722490"/>
          </a:xfrm>
          <a:prstGeom prst="rect">
            <a:avLst/>
          </a:prstGeom>
          <a:noFill/>
        </p:spPr>
        <p:txBody>
          <a:bodyPr wrap="square" lIns="0" rIns="0" tIns="0" bIns="0">
            <a:spAutoFit/>
          </a:bodyPr>
          <a:lstStyle/>
          <a:p>
            <a:pPr algn="l">
              <a:lnSpc>
                <a:spcPct val="135000"/>
              </a:lnSpc>
            </a:pPr>
            <a:r>
              <a:rPr sz="1100" b="0" i="0">
                <a:solidFill>
                  <a:srgbClr val="5A6472"/>
                </a:solidFill>
                <a:latin typeface="Arial"/>
              </a:rPr>
              <a:t>Urgency ranks what a persona sees first — a breach that is getting worse outranks a breach that is healing.</a:t>
            </a:r>
          </a:p>
        </p:txBody>
      </p:sp>
      <p:sp>
        <p:nvSpPr>
          <p:cNvPr id="74" name="TextBox 73"/>
          <p:cNvSpPr txBox="1"/>
          <p:nvPr/>
        </p:nvSpPr>
        <p:spPr>
          <a:xfrm>
            <a:off x="566928" y="6455664"/>
            <a:ext cx="11057839" cy="230200"/>
          </a:xfrm>
          <a:prstGeom prst="rect">
            <a:avLst/>
          </a:prstGeom>
          <a:noFill/>
        </p:spPr>
        <p:txBody>
          <a:bodyPr wrap="square" lIns="0" rIns="0" tIns="0" bIns="0">
            <a:spAutoFit/>
          </a:bodyPr>
          <a:lstStyle/>
          <a:p>
            <a:pPr algn="ctr">
              <a:lnSpc>
                <a:spcPct val="130000"/>
              </a:lnSpc>
            </a:pPr>
            <a:r>
              <a:rPr sz="900" b="0" i="0">
                <a:solidFill>
                  <a:srgbClr val="8A93A0"/>
                </a:solidFill>
                <a:latin typeface="Menlo"/>
              </a:rPr>
              <a:t>RouteMind · figures computed live from the loaded dataset, 5 September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48640"/>
            <a:ext cx="457200" cy="288645"/>
          </a:xfrm>
          <a:prstGeom prst="rect">
            <a:avLst/>
          </a:prstGeom>
          <a:noFill/>
        </p:spPr>
        <p:txBody>
          <a:bodyPr wrap="square" lIns="0" rIns="0" tIns="0" bIns="0">
            <a:spAutoFit/>
          </a:bodyPr>
          <a:lstStyle/>
          <a:p>
            <a:pPr algn="l">
              <a:lnSpc>
                <a:spcPct val="130000"/>
              </a:lnSpc>
            </a:pPr>
            <a:r>
              <a:rPr sz="1200" b="1" i="0">
                <a:solidFill>
                  <a:srgbClr val="1F5FA8"/>
                </a:solidFill>
                <a:latin typeface="Menlo"/>
              </a:rPr>
              <a:t>02</a:t>
            </a:r>
          </a:p>
        </p:txBody>
      </p:sp>
      <p:sp>
        <p:nvSpPr>
          <p:cNvPr id="4" name="TextBox 3"/>
          <p:cNvSpPr txBox="1"/>
          <p:nvPr/>
        </p:nvSpPr>
        <p:spPr>
          <a:xfrm>
            <a:off x="1097280" y="475488"/>
            <a:ext cx="10509199" cy="239941"/>
          </a:xfrm>
          <a:prstGeom prst="rect">
            <a:avLst/>
          </a:prstGeom>
          <a:noFill/>
        </p:spPr>
        <p:txBody>
          <a:bodyPr wrap="square" lIns="0" rIns="0" tIns="0" bIns="0">
            <a:spAutoFit/>
          </a:bodyPr>
          <a:lstStyle/>
          <a:p>
            <a:pPr algn="l">
              <a:lnSpc>
                <a:spcPct val="130000"/>
              </a:lnSpc>
            </a:pPr>
            <a:r>
              <a:rPr sz="950" b="0" i="0">
                <a:solidFill>
                  <a:srgbClr val="8A93A0"/>
                </a:solidFill>
                <a:latin typeface="Menlo"/>
              </a:rPr>
              <a:t>ROOT CAUSE</a:t>
            </a:r>
          </a:p>
        </p:txBody>
      </p:sp>
      <p:sp>
        <p:nvSpPr>
          <p:cNvPr id="5" name="TextBox 4"/>
          <p:cNvSpPr txBox="1"/>
          <p:nvPr/>
        </p:nvSpPr>
        <p:spPr>
          <a:xfrm>
            <a:off x="1097280" y="667512"/>
            <a:ext cx="10509199" cy="479717"/>
          </a:xfrm>
          <a:prstGeom prst="rect">
            <a:avLst/>
          </a:prstGeom>
          <a:noFill/>
        </p:spPr>
        <p:txBody>
          <a:bodyPr wrap="square" lIns="0" rIns="0" tIns="0" bIns="0">
            <a:spAutoFit/>
          </a:bodyPr>
          <a:lstStyle/>
          <a:p>
            <a:pPr algn="l">
              <a:lnSpc>
                <a:spcPct val="105000"/>
              </a:lnSpc>
            </a:pPr>
            <a:r>
              <a:rPr sz="2700" b="1" i="0">
                <a:solidFill>
                  <a:srgbClr val="12161C"/>
                </a:solidFill>
                <a:latin typeface="Arial"/>
              </a:rPr>
              <a:t>Decomposing the drop</a:t>
            </a:r>
          </a:p>
        </p:txBody>
      </p:sp>
      <p:sp>
        <p:nvSpPr>
          <p:cNvPr id="6" name="TextBox 5"/>
          <p:cNvSpPr txBox="1"/>
          <p:nvPr/>
        </p:nvSpPr>
        <p:spPr>
          <a:xfrm>
            <a:off x="566928" y="1344168"/>
            <a:ext cx="11057839" cy="843876"/>
          </a:xfrm>
          <a:prstGeom prst="rect">
            <a:avLst/>
          </a:prstGeom>
          <a:noFill/>
        </p:spPr>
        <p:txBody>
          <a:bodyPr wrap="square" lIns="0" rIns="0" tIns="0" bIns="0">
            <a:spAutoFit/>
          </a:bodyPr>
          <a:lstStyle/>
          <a:p>
            <a:pPr algn="l">
              <a:lnSpc>
                <a:spcPct val="135000"/>
              </a:lnSpc>
            </a:pPr>
            <a:r>
              <a:rPr sz="1300" b="0" i="0">
                <a:solidFill>
                  <a:srgbClr val="5A6472"/>
                </a:solidFill>
                <a:latin typeface="Arial"/>
              </a:rPr>
              <a:t>Once OTA is known to have fallen, the change is split across five dimensions by shift-share decomposition: for each slice, how many extra late trips it added versus the prior period, converted into points of total OTA. Contributions are additive, so they can be ranked and they sum back to the headline.</a:t>
            </a:r>
          </a:p>
        </p:txBody>
      </p:sp>
      <p:sp>
        <p:nvSpPr>
          <p:cNvPr id="7" name="TextBox 6"/>
          <p:cNvSpPr txBox="1"/>
          <p:nvPr/>
        </p:nvSpPr>
        <p:spPr>
          <a:xfrm>
            <a:off x="566928" y="2389212"/>
            <a:ext cx="3840480" cy="239941"/>
          </a:xfrm>
          <a:prstGeom prst="rect">
            <a:avLst/>
          </a:prstGeom>
          <a:noFill/>
        </p:spPr>
        <p:txBody>
          <a:bodyPr wrap="square" lIns="0" rIns="0" tIns="0" bIns="0">
            <a:spAutoFit/>
          </a:bodyPr>
          <a:lstStyle/>
          <a:p>
            <a:pPr algn="l">
              <a:lnSpc>
                <a:spcPct val="130000"/>
              </a:lnSpc>
            </a:pPr>
            <a:r>
              <a:rPr sz="950" b="1" i="0">
                <a:solidFill>
                  <a:srgbClr val="5A6472"/>
                </a:solidFill>
                <a:latin typeface="Menlo"/>
              </a:rPr>
              <a:t>DIMENSIONS DECOMPOSED</a:t>
            </a:r>
          </a:p>
        </p:txBody>
      </p:sp>
      <p:sp>
        <p:nvSpPr>
          <p:cNvPr id="8" name="TextBox 7"/>
          <p:cNvSpPr txBox="1"/>
          <p:nvPr/>
        </p:nvSpPr>
        <p:spPr>
          <a:xfrm>
            <a:off x="566928" y="2663532"/>
            <a:ext cx="201168" cy="298386"/>
          </a:xfrm>
          <a:prstGeom prst="rect">
            <a:avLst/>
          </a:prstGeom>
          <a:noFill/>
        </p:spPr>
        <p:txBody>
          <a:bodyPr wrap="square" lIns="0" rIns="0" tIns="0" bIns="0">
            <a:spAutoFit/>
          </a:bodyPr>
          <a:lstStyle/>
          <a:p>
            <a:pPr algn="l">
              <a:lnSpc>
                <a:spcPct val="130000"/>
              </a:lnSpc>
            </a:pPr>
            <a:r>
              <a:rPr sz="1250" b="0" i="0">
                <a:solidFill>
                  <a:srgbClr val="8A93A0"/>
                </a:solidFill>
                <a:latin typeface="Arial"/>
              </a:rPr>
              <a:t>—</a:t>
            </a:r>
          </a:p>
        </p:txBody>
      </p:sp>
      <p:sp>
        <p:nvSpPr>
          <p:cNvPr id="9" name="TextBox 8"/>
          <p:cNvSpPr txBox="1"/>
          <p:nvPr/>
        </p:nvSpPr>
        <p:spPr>
          <a:xfrm>
            <a:off x="804672" y="2663532"/>
            <a:ext cx="3511296" cy="298386"/>
          </a:xfrm>
          <a:prstGeom prst="rect">
            <a:avLst/>
          </a:prstGeom>
          <a:noFill/>
        </p:spPr>
        <p:txBody>
          <a:bodyPr wrap="square" lIns="0" rIns="0" tIns="0" bIns="0">
            <a:spAutoFit/>
          </a:bodyPr>
          <a:lstStyle/>
          <a:p>
            <a:pPr algn="l">
              <a:lnSpc>
                <a:spcPct val="130000"/>
              </a:lnSpc>
            </a:pPr>
            <a:r>
              <a:rPr sz="1250" b="1" i="0">
                <a:solidFill>
                  <a:srgbClr val="12161C"/>
                </a:solidFill>
                <a:latin typeface="Arial"/>
              </a:rPr>
              <a:t>Direction</a:t>
            </a:r>
            <a:r>
              <a:rPr sz="1250" b="0" i="0">
                <a:solidFill>
                  <a:srgbClr val="12161C"/>
                </a:solidFill>
                <a:latin typeface="Arial"/>
              </a:rPr>
              <a:t> — LOGIN (morning pickup) vs LOGOUT</a:t>
            </a:r>
          </a:p>
        </p:txBody>
      </p:sp>
      <p:sp>
        <p:nvSpPr>
          <p:cNvPr id="10" name="TextBox 9"/>
          <p:cNvSpPr txBox="1"/>
          <p:nvPr/>
        </p:nvSpPr>
        <p:spPr>
          <a:xfrm>
            <a:off x="566928" y="3108223"/>
            <a:ext cx="201168" cy="298386"/>
          </a:xfrm>
          <a:prstGeom prst="rect">
            <a:avLst/>
          </a:prstGeom>
          <a:noFill/>
        </p:spPr>
        <p:txBody>
          <a:bodyPr wrap="square" lIns="0" rIns="0" tIns="0" bIns="0">
            <a:spAutoFit/>
          </a:bodyPr>
          <a:lstStyle/>
          <a:p>
            <a:pPr algn="l">
              <a:lnSpc>
                <a:spcPct val="130000"/>
              </a:lnSpc>
            </a:pPr>
            <a:r>
              <a:rPr sz="1250" b="0" i="0">
                <a:solidFill>
                  <a:srgbClr val="8A93A0"/>
                </a:solidFill>
                <a:latin typeface="Arial"/>
              </a:rPr>
              <a:t>—</a:t>
            </a:r>
          </a:p>
        </p:txBody>
      </p:sp>
      <p:sp>
        <p:nvSpPr>
          <p:cNvPr id="11" name="TextBox 10"/>
          <p:cNvSpPr txBox="1"/>
          <p:nvPr/>
        </p:nvSpPr>
        <p:spPr>
          <a:xfrm>
            <a:off x="804672" y="3108223"/>
            <a:ext cx="3511296" cy="541909"/>
          </a:xfrm>
          <a:prstGeom prst="rect">
            <a:avLst/>
          </a:prstGeom>
          <a:noFill/>
        </p:spPr>
        <p:txBody>
          <a:bodyPr wrap="square" lIns="0" rIns="0" tIns="0" bIns="0">
            <a:spAutoFit/>
          </a:bodyPr>
          <a:lstStyle/>
          <a:p>
            <a:pPr algn="l">
              <a:lnSpc>
                <a:spcPct val="130000"/>
              </a:lnSpc>
            </a:pPr>
            <a:r>
              <a:rPr sz="1250" b="1" i="0">
                <a:solidFill>
                  <a:srgbClr val="12161C"/>
                </a:solidFill>
                <a:latin typeface="Arial"/>
              </a:rPr>
              <a:t>Shift band</a:t>
            </a:r>
            <a:r>
              <a:rPr sz="1250" b="0" i="0">
                <a:solidFill>
                  <a:srgbClr val="12161C"/>
                </a:solidFill>
                <a:latin typeface="Arial"/>
              </a:rPr>
              <a:t> — morning / midday / evening / night</a:t>
            </a:r>
          </a:p>
        </p:txBody>
      </p:sp>
      <p:sp>
        <p:nvSpPr>
          <p:cNvPr id="12" name="TextBox 11"/>
          <p:cNvSpPr txBox="1"/>
          <p:nvPr/>
        </p:nvSpPr>
        <p:spPr>
          <a:xfrm>
            <a:off x="566928" y="3796436"/>
            <a:ext cx="201168" cy="298386"/>
          </a:xfrm>
          <a:prstGeom prst="rect">
            <a:avLst/>
          </a:prstGeom>
          <a:noFill/>
        </p:spPr>
        <p:txBody>
          <a:bodyPr wrap="square" lIns="0" rIns="0" tIns="0" bIns="0">
            <a:spAutoFit/>
          </a:bodyPr>
          <a:lstStyle/>
          <a:p>
            <a:pPr algn="l">
              <a:lnSpc>
                <a:spcPct val="130000"/>
              </a:lnSpc>
            </a:pPr>
            <a:r>
              <a:rPr sz="1250" b="0" i="0">
                <a:solidFill>
                  <a:srgbClr val="8A93A0"/>
                </a:solidFill>
                <a:latin typeface="Arial"/>
              </a:rPr>
              <a:t>—</a:t>
            </a:r>
          </a:p>
        </p:txBody>
      </p:sp>
      <p:sp>
        <p:nvSpPr>
          <p:cNvPr id="13" name="TextBox 12"/>
          <p:cNvSpPr txBox="1"/>
          <p:nvPr/>
        </p:nvSpPr>
        <p:spPr>
          <a:xfrm>
            <a:off x="804672" y="3796436"/>
            <a:ext cx="3511296" cy="298386"/>
          </a:xfrm>
          <a:prstGeom prst="rect">
            <a:avLst/>
          </a:prstGeom>
          <a:noFill/>
        </p:spPr>
        <p:txBody>
          <a:bodyPr wrap="square" lIns="0" rIns="0" tIns="0" bIns="0">
            <a:spAutoFit/>
          </a:bodyPr>
          <a:lstStyle/>
          <a:p>
            <a:pPr algn="l">
              <a:lnSpc>
                <a:spcPct val="130000"/>
              </a:lnSpc>
            </a:pPr>
            <a:r>
              <a:rPr sz="1250" b="1" i="0">
                <a:solidFill>
                  <a:srgbClr val="12161C"/>
                </a:solidFill>
                <a:latin typeface="Arial"/>
              </a:rPr>
              <a:t>Product type</a:t>
            </a:r>
            <a:r>
              <a:rPr sz="1250" b="0" i="0">
                <a:solidFill>
                  <a:srgbClr val="12161C"/>
                </a:solidFill>
                <a:latin typeface="Arial"/>
              </a:rPr>
              <a:t> — CAB, BUS (rentals excluded)</a:t>
            </a:r>
          </a:p>
        </p:txBody>
      </p:sp>
      <p:sp>
        <p:nvSpPr>
          <p:cNvPr id="14" name="TextBox 13"/>
          <p:cNvSpPr txBox="1"/>
          <p:nvPr/>
        </p:nvSpPr>
        <p:spPr>
          <a:xfrm>
            <a:off x="566928" y="4241126"/>
            <a:ext cx="201168" cy="298386"/>
          </a:xfrm>
          <a:prstGeom prst="rect">
            <a:avLst/>
          </a:prstGeom>
          <a:noFill/>
        </p:spPr>
        <p:txBody>
          <a:bodyPr wrap="square" lIns="0" rIns="0" tIns="0" bIns="0">
            <a:spAutoFit/>
          </a:bodyPr>
          <a:lstStyle/>
          <a:p>
            <a:pPr algn="l">
              <a:lnSpc>
                <a:spcPct val="130000"/>
              </a:lnSpc>
            </a:pPr>
            <a:r>
              <a:rPr sz="1250" b="0" i="0">
                <a:solidFill>
                  <a:srgbClr val="8A93A0"/>
                </a:solidFill>
                <a:latin typeface="Arial"/>
              </a:rPr>
              <a:t>—</a:t>
            </a:r>
          </a:p>
        </p:txBody>
      </p:sp>
      <p:sp>
        <p:nvSpPr>
          <p:cNvPr id="15" name="TextBox 14"/>
          <p:cNvSpPr txBox="1"/>
          <p:nvPr/>
        </p:nvSpPr>
        <p:spPr>
          <a:xfrm>
            <a:off x="804672" y="4241126"/>
            <a:ext cx="3511296" cy="298386"/>
          </a:xfrm>
          <a:prstGeom prst="rect">
            <a:avLst/>
          </a:prstGeom>
          <a:noFill/>
        </p:spPr>
        <p:txBody>
          <a:bodyPr wrap="square" lIns="0" rIns="0" tIns="0" bIns="0">
            <a:spAutoFit/>
          </a:bodyPr>
          <a:lstStyle/>
          <a:p>
            <a:pPr algn="l">
              <a:lnSpc>
                <a:spcPct val="130000"/>
              </a:lnSpc>
            </a:pPr>
            <a:r>
              <a:rPr sz="1250" b="1" i="0">
                <a:solidFill>
                  <a:srgbClr val="12161C"/>
                </a:solidFill>
                <a:latin typeface="Arial"/>
              </a:rPr>
              <a:t>Office</a:t>
            </a:r>
            <a:r>
              <a:rPr sz="1250" b="0" i="0">
                <a:solidFill>
                  <a:srgbClr val="12161C"/>
                </a:solidFill>
                <a:latin typeface="Arial"/>
              </a:rPr>
              <a:t> — the physical site</a:t>
            </a:r>
          </a:p>
        </p:txBody>
      </p:sp>
      <p:sp>
        <p:nvSpPr>
          <p:cNvPr id="16" name="TextBox 15"/>
          <p:cNvSpPr txBox="1"/>
          <p:nvPr/>
        </p:nvSpPr>
        <p:spPr>
          <a:xfrm>
            <a:off x="566928" y="4685817"/>
            <a:ext cx="201168" cy="298386"/>
          </a:xfrm>
          <a:prstGeom prst="rect">
            <a:avLst/>
          </a:prstGeom>
          <a:noFill/>
        </p:spPr>
        <p:txBody>
          <a:bodyPr wrap="square" lIns="0" rIns="0" tIns="0" bIns="0">
            <a:spAutoFit/>
          </a:bodyPr>
          <a:lstStyle/>
          <a:p>
            <a:pPr algn="l">
              <a:lnSpc>
                <a:spcPct val="130000"/>
              </a:lnSpc>
            </a:pPr>
            <a:r>
              <a:rPr sz="1250" b="0" i="0">
                <a:solidFill>
                  <a:srgbClr val="8A93A0"/>
                </a:solidFill>
                <a:latin typeface="Arial"/>
              </a:rPr>
              <a:t>—</a:t>
            </a:r>
          </a:p>
        </p:txBody>
      </p:sp>
      <p:sp>
        <p:nvSpPr>
          <p:cNvPr id="17" name="TextBox 16"/>
          <p:cNvSpPr txBox="1"/>
          <p:nvPr/>
        </p:nvSpPr>
        <p:spPr>
          <a:xfrm>
            <a:off x="804672" y="4685817"/>
            <a:ext cx="3511296" cy="298386"/>
          </a:xfrm>
          <a:prstGeom prst="rect">
            <a:avLst/>
          </a:prstGeom>
          <a:noFill/>
        </p:spPr>
        <p:txBody>
          <a:bodyPr wrap="square" lIns="0" rIns="0" tIns="0" bIns="0">
            <a:spAutoFit/>
          </a:bodyPr>
          <a:lstStyle/>
          <a:p>
            <a:pPr algn="l">
              <a:lnSpc>
                <a:spcPct val="130000"/>
              </a:lnSpc>
            </a:pPr>
            <a:r>
              <a:rPr sz="1250" b="1" i="0">
                <a:solidFill>
                  <a:srgbClr val="12161C"/>
                </a:solidFill>
                <a:latin typeface="Arial"/>
              </a:rPr>
              <a:t>Vendor</a:t>
            </a:r>
            <a:r>
              <a:rPr sz="1250" b="0" i="0">
                <a:solidFill>
                  <a:srgbClr val="12161C"/>
                </a:solidFill>
                <a:latin typeface="Arial"/>
              </a:rPr>
              <a:t> — who to actually call</a:t>
            </a:r>
          </a:p>
        </p:txBody>
      </p:sp>
      <p:sp>
        <p:nvSpPr>
          <p:cNvPr id="18" name="TextBox 17"/>
          <p:cNvSpPr txBox="1"/>
          <p:nvPr/>
        </p:nvSpPr>
        <p:spPr>
          <a:xfrm>
            <a:off x="566928" y="5331675"/>
            <a:ext cx="3840480" cy="239941"/>
          </a:xfrm>
          <a:prstGeom prst="rect">
            <a:avLst/>
          </a:prstGeom>
          <a:noFill/>
        </p:spPr>
        <p:txBody>
          <a:bodyPr wrap="square" lIns="0" rIns="0" tIns="0" bIns="0">
            <a:spAutoFit/>
          </a:bodyPr>
          <a:lstStyle/>
          <a:p>
            <a:pPr algn="l">
              <a:lnSpc>
                <a:spcPct val="130000"/>
              </a:lnSpc>
            </a:pPr>
            <a:r>
              <a:rPr sz="950" b="1" i="0">
                <a:solidFill>
                  <a:srgbClr val="5A6472"/>
                </a:solidFill>
                <a:latin typeface="Menlo"/>
              </a:rPr>
              <a:t>PLUS A CAUSE-MIX SHIFT</a:t>
            </a:r>
          </a:p>
        </p:txBody>
      </p:sp>
      <p:sp>
        <p:nvSpPr>
          <p:cNvPr id="19" name="TextBox 18"/>
          <p:cNvSpPr txBox="1"/>
          <p:nvPr/>
        </p:nvSpPr>
        <p:spPr>
          <a:xfrm>
            <a:off x="566928" y="5605995"/>
            <a:ext cx="3749039" cy="783183"/>
          </a:xfrm>
          <a:prstGeom prst="rect">
            <a:avLst/>
          </a:prstGeom>
          <a:noFill/>
        </p:spPr>
        <p:txBody>
          <a:bodyPr wrap="square" lIns="0" rIns="0" tIns="0" bIns="0">
            <a:spAutoFit/>
          </a:bodyPr>
          <a:lstStyle/>
          <a:p>
            <a:pPr algn="l">
              <a:lnSpc>
                <a:spcPct val="135000"/>
              </a:lnSpc>
            </a:pPr>
            <a:r>
              <a:rPr sz="1200" b="0" i="0">
                <a:solidFill>
                  <a:srgbClr val="5A6472"/>
                </a:solidFill>
                <a:latin typeface="Arial"/>
              </a:rPr>
              <a:t>Late trips carry a delay_reason. Comparing its distribution across periods separates “you got unlucky” from “your vendor got worse”.</a:t>
            </a:r>
          </a:p>
        </p:txBody>
      </p:sp>
      <p:sp>
        <p:nvSpPr>
          <p:cNvPr id="20" name="TextBox 19"/>
          <p:cNvSpPr txBox="1"/>
          <p:nvPr/>
        </p:nvSpPr>
        <p:spPr>
          <a:xfrm>
            <a:off x="566928" y="6608635"/>
            <a:ext cx="845819" cy="220459"/>
          </a:xfrm>
          <a:prstGeom prst="rect">
            <a:avLst/>
          </a:prstGeom>
          <a:noFill/>
        </p:spPr>
        <p:txBody>
          <a:bodyPr wrap="square" lIns="0" rIns="0" tIns="0" bIns="0">
            <a:spAutoFit/>
          </a:bodyPr>
          <a:lstStyle/>
          <a:p>
            <a:pPr algn="l">
              <a:lnSpc>
                <a:spcPct val="130000"/>
              </a:lnSpc>
            </a:pPr>
            <a:r>
              <a:rPr sz="850" b="1" i="0">
                <a:solidFill>
                  <a:srgbClr val="5A6472"/>
                </a:solidFill>
                <a:latin typeface="Menlo"/>
              </a:rPr>
              <a:t>REASON</a:t>
            </a:r>
          </a:p>
        </p:txBody>
      </p:sp>
      <p:sp>
        <p:nvSpPr>
          <p:cNvPr id="21" name="TextBox 20"/>
          <p:cNvSpPr txBox="1"/>
          <p:nvPr/>
        </p:nvSpPr>
        <p:spPr>
          <a:xfrm>
            <a:off x="1504188" y="6608635"/>
            <a:ext cx="508406" cy="220459"/>
          </a:xfrm>
          <a:prstGeom prst="rect">
            <a:avLst/>
          </a:prstGeom>
          <a:noFill/>
        </p:spPr>
        <p:txBody>
          <a:bodyPr wrap="square" lIns="0" rIns="0" tIns="0" bIns="0">
            <a:spAutoFit/>
          </a:bodyPr>
          <a:lstStyle/>
          <a:p>
            <a:pPr algn="r">
              <a:lnSpc>
                <a:spcPct val="130000"/>
              </a:lnSpc>
            </a:pPr>
            <a:r>
              <a:rPr sz="850" b="1" i="0">
                <a:solidFill>
                  <a:srgbClr val="5A6472"/>
                </a:solidFill>
                <a:latin typeface="Menlo"/>
              </a:rPr>
              <a:t>WAS</a:t>
            </a:r>
          </a:p>
        </p:txBody>
      </p:sp>
      <p:sp>
        <p:nvSpPr>
          <p:cNvPr id="22" name="TextBox 21"/>
          <p:cNvSpPr txBox="1"/>
          <p:nvPr/>
        </p:nvSpPr>
        <p:spPr>
          <a:xfrm>
            <a:off x="2104034" y="6608635"/>
            <a:ext cx="508406" cy="220459"/>
          </a:xfrm>
          <a:prstGeom prst="rect">
            <a:avLst/>
          </a:prstGeom>
          <a:noFill/>
        </p:spPr>
        <p:txBody>
          <a:bodyPr wrap="square" lIns="0" rIns="0" tIns="0" bIns="0">
            <a:spAutoFit/>
          </a:bodyPr>
          <a:lstStyle/>
          <a:p>
            <a:pPr algn="r">
              <a:lnSpc>
                <a:spcPct val="130000"/>
              </a:lnSpc>
            </a:pPr>
            <a:r>
              <a:rPr sz="850" b="1" i="0">
                <a:solidFill>
                  <a:srgbClr val="5A6472"/>
                </a:solidFill>
                <a:latin typeface="Menlo"/>
              </a:rPr>
              <a:t>NOW</a:t>
            </a:r>
          </a:p>
        </p:txBody>
      </p:sp>
      <p:sp>
        <p:nvSpPr>
          <p:cNvPr id="23" name="TextBox 22"/>
          <p:cNvSpPr txBox="1"/>
          <p:nvPr/>
        </p:nvSpPr>
        <p:spPr>
          <a:xfrm>
            <a:off x="2703880" y="6608635"/>
            <a:ext cx="433425" cy="220459"/>
          </a:xfrm>
          <a:prstGeom prst="rect">
            <a:avLst/>
          </a:prstGeom>
          <a:noFill/>
        </p:spPr>
        <p:txBody>
          <a:bodyPr wrap="square" lIns="0" rIns="0" tIns="0" bIns="0">
            <a:spAutoFit/>
          </a:bodyPr>
          <a:lstStyle/>
          <a:p>
            <a:pPr algn="r">
              <a:lnSpc>
                <a:spcPct val="130000"/>
              </a:lnSpc>
            </a:pPr>
            <a:r>
              <a:rPr sz="850" b="1" i="0">
                <a:solidFill>
                  <a:srgbClr val="5A6472"/>
                </a:solidFill>
                <a:latin typeface="Menlo"/>
              </a:rPr>
              <a:t>Δ</a:t>
            </a:r>
          </a:p>
        </p:txBody>
      </p:sp>
      <p:sp>
        <p:nvSpPr>
          <p:cNvPr id="24" name="TextBox 23"/>
          <p:cNvSpPr txBox="1"/>
          <p:nvPr/>
        </p:nvSpPr>
        <p:spPr>
          <a:xfrm>
            <a:off x="3228746" y="6608635"/>
            <a:ext cx="995781" cy="220459"/>
          </a:xfrm>
          <a:prstGeom prst="rect">
            <a:avLst/>
          </a:prstGeom>
          <a:noFill/>
        </p:spPr>
        <p:txBody>
          <a:bodyPr wrap="square" lIns="0" rIns="0" tIns="0" bIns="0">
            <a:spAutoFit/>
          </a:bodyPr>
          <a:lstStyle/>
          <a:p>
            <a:pPr algn="l">
              <a:lnSpc>
                <a:spcPct val="130000"/>
              </a:lnSpc>
            </a:pPr>
            <a:r>
              <a:rPr sz="850" b="1" i="0">
                <a:solidFill>
                  <a:srgbClr val="5A6472"/>
                </a:solidFill>
                <a:latin typeface="Menlo"/>
              </a:rPr>
              <a:t>CONTROL</a:t>
            </a:r>
          </a:p>
        </p:txBody>
      </p:sp>
      <p:sp>
        <p:nvSpPr>
          <p:cNvPr id="25" name="Rectangle 24"/>
          <p:cNvSpPr/>
          <p:nvPr/>
        </p:nvSpPr>
        <p:spPr>
          <a:xfrm>
            <a:off x="566928" y="6846379"/>
            <a:ext cx="3749039" cy="8229"/>
          </a:xfrm>
          <a:prstGeom prst="rect">
            <a:avLst/>
          </a:prstGeom>
          <a:solidFill>
            <a:srgbClr val="C3C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6937819"/>
            <a:ext cx="845819" cy="270287"/>
          </a:xfrm>
          <a:prstGeom prst="rect">
            <a:avLst/>
          </a:prstGeom>
          <a:noFill/>
        </p:spPr>
        <p:txBody>
          <a:bodyPr wrap="square" lIns="0" rIns="0" tIns="0" bIns="0">
            <a:spAutoFit/>
          </a:bodyPr>
          <a:lstStyle/>
          <a:p>
            <a:pPr algn="l">
              <a:lnSpc>
                <a:spcPct val="125000"/>
              </a:lnSpc>
            </a:pPr>
            <a:r>
              <a:rPr sz="1150" b="0" i="0">
                <a:solidFill>
                  <a:srgbClr val="12161C"/>
                </a:solidFill>
                <a:latin typeface="Arial"/>
              </a:rPr>
              <a:t>TRAFFIC</a:t>
            </a:r>
          </a:p>
        </p:txBody>
      </p:sp>
      <p:sp>
        <p:nvSpPr>
          <p:cNvPr id="27" name="TextBox 26"/>
          <p:cNvSpPr txBox="1"/>
          <p:nvPr/>
        </p:nvSpPr>
        <p:spPr>
          <a:xfrm>
            <a:off x="1504188" y="6937819"/>
            <a:ext cx="508406" cy="270287"/>
          </a:xfrm>
          <a:prstGeom prst="rect">
            <a:avLst/>
          </a:prstGeom>
          <a:noFill/>
        </p:spPr>
        <p:txBody>
          <a:bodyPr wrap="square" lIns="0" rIns="0" tIns="0" bIns="0">
            <a:spAutoFit/>
          </a:bodyPr>
          <a:lstStyle/>
          <a:p>
            <a:pPr algn="r">
              <a:lnSpc>
                <a:spcPct val="125000"/>
              </a:lnSpc>
            </a:pPr>
            <a:r>
              <a:rPr sz="1150" b="0" i="0">
                <a:solidFill>
                  <a:srgbClr val="12161C"/>
                </a:solidFill>
                <a:latin typeface="Menlo"/>
              </a:rPr>
              <a:t>40.8%</a:t>
            </a:r>
          </a:p>
        </p:txBody>
      </p:sp>
      <p:sp>
        <p:nvSpPr>
          <p:cNvPr id="28" name="TextBox 27"/>
          <p:cNvSpPr txBox="1"/>
          <p:nvPr/>
        </p:nvSpPr>
        <p:spPr>
          <a:xfrm>
            <a:off x="2104034" y="6937819"/>
            <a:ext cx="508406" cy="270287"/>
          </a:xfrm>
          <a:prstGeom prst="rect">
            <a:avLst/>
          </a:prstGeom>
          <a:noFill/>
        </p:spPr>
        <p:txBody>
          <a:bodyPr wrap="square" lIns="0" rIns="0" tIns="0" bIns="0">
            <a:spAutoFit/>
          </a:bodyPr>
          <a:lstStyle/>
          <a:p>
            <a:pPr algn="r">
              <a:lnSpc>
                <a:spcPct val="125000"/>
              </a:lnSpc>
            </a:pPr>
            <a:r>
              <a:rPr sz="1150" b="0" i="0">
                <a:solidFill>
                  <a:srgbClr val="12161C"/>
                </a:solidFill>
                <a:latin typeface="Menlo"/>
              </a:rPr>
              <a:t>42.6%</a:t>
            </a:r>
          </a:p>
        </p:txBody>
      </p:sp>
      <p:sp>
        <p:nvSpPr>
          <p:cNvPr id="29" name="TextBox 28"/>
          <p:cNvSpPr txBox="1"/>
          <p:nvPr/>
        </p:nvSpPr>
        <p:spPr>
          <a:xfrm>
            <a:off x="2703880" y="6937819"/>
            <a:ext cx="433425" cy="270287"/>
          </a:xfrm>
          <a:prstGeom prst="rect">
            <a:avLst/>
          </a:prstGeom>
          <a:noFill/>
        </p:spPr>
        <p:txBody>
          <a:bodyPr wrap="square" lIns="0" rIns="0" tIns="0" bIns="0">
            <a:spAutoFit/>
          </a:bodyPr>
          <a:lstStyle/>
          <a:p>
            <a:pPr algn="r">
              <a:lnSpc>
                <a:spcPct val="125000"/>
              </a:lnSpc>
            </a:pPr>
            <a:r>
              <a:rPr sz="1150" b="0" i="0">
                <a:solidFill>
                  <a:srgbClr val="12161C"/>
                </a:solidFill>
                <a:latin typeface="Menlo"/>
              </a:rPr>
              <a:t>+1.8</a:t>
            </a:r>
          </a:p>
        </p:txBody>
      </p:sp>
      <p:sp>
        <p:nvSpPr>
          <p:cNvPr id="30" name="Rectangle 29"/>
          <p:cNvSpPr/>
          <p:nvPr/>
        </p:nvSpPr>
        <p:spPr>
          <a:xfrm>
            <a:off x="3228746" y="6956107"/>
            <a:ext cx="716889" cy="201168"/>
          </a:xfrm>
          <a:prstGeom prst="rect">
            <a:avLst/>
          </a:prstGeom>
          <a:solidFill>
            <a:srgbClr val="E7EF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1F5FA8"/>
                </a:solidFill>
                <a:latin typeface="Menlo"/>
              </a:rPr>
              <a:t>external</a:t>
            </a:r>
          </a:p>
        </p:txBody>
      </p:sp>
      <p:sp>
        <p:nvSpPr>
          <p:cNvPr id="31" name="Rectangle 30"/>
          <p:cNvSpPr/>
          <p:nvPr/>
        </p:nvSpPr>
        <p:spPr>
          <a:xfrm>
            <a:off x="566928" y="7230427"/>
            <a:ext cx="3749039" cy="8229"/>
          </a:xfrm>
          <a:prstGeom prst="rect">
            <a:avLst/>
          </a:prstGeom>
          <a:solidFill>
            <a:srgbClr val="DCD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 y="7303579"/>
            <a:ext cx="845819" cy="270287"/>
          </a:xfrm>
          <a:prstGeom prst="rect">
            <a:avLst/>
          </a:prstGeom>
          <a:noFill/>
        </p:spPr>
        <p:txBody>
          <a:bodyPr wrap="square" lIns="0" rIns="0" tIns="0" bIns="0">
            <a:spAutoFit/>
          </a:bodyPr>
          <a:lstStyle/>
          <a:p>
            <a:pPr algn="l">
              <a:lnSpc>
                <a:spcPct val="125000"/>
              </a:lnSpc>
            </a:pPr>
            <a:r>
              <a:rPr sz="1150" b="0" i="0">
                <a:solidFill>
                  <a:srgbClr val="12161C"/>
                </a:solidFill>
                <a:latin typeface="Arial"/>
              </a:rPr>
              <a:t>DRIVER</a:t>
            </a:r>
          </a:p>
        </p:txBody>
      </p:sp>
      <p:sp>
        <p:nvSpPr>
          <p:cNvPr id="33" name="TextBox 32"/>
          <p:cNvSpPr txBox="1"/>
          <p:nvPr/>
        </p:nvSpPr>
        <p:spPr>
          <a:xfrm>
            <a:off x="1504188" y="7303579"/>
            <a:ext cx="508406" cy="270287"/>
          </a:xfrm>
          <a:prstGeom prst="rect">
            <a:avLst/>
          </a:prstGeom>
          <a:noFill/>
        </p:spPr>
        <p:txBody>
          <a:bodyPr wrap="square" lIns="0" rIns="0" tIns="0" bIns="0">
            <a:spAutoFit/>
          </a:bodyPr>
          <a:lstStyle/>
          <a:p>
            <a:pPr algn="r">
              <a:lnSpc>
                <a:spcPct val="125000"/>
              </a:lnSpc>
            </a:pPr>
            <a:r>
              <a:rPr sz="1150" b="0" i="0">
                <a:solidFill>
                  <a:srgbClr val="12161C"/>
                </a:solidFill>
                <a:latin typeface="Menlo"/>
              </a:rPr>
              <a:t>29.5%</a:t>
            </a:r>
          </a:p>
        </p:txBody>
      </p:sp>
      <p:sp>
        <p:nvSpPr>
          <p:cNvPr id="34" name="TextBox 33"/>
          <p:cNvSpPr txBox="1"/>
          <p:nvPr/>
        </p:nvSpPr>
        <p:spPr>
          <a:xfrm>
            <a:off x="2104034" y="7303579"/>
            <a:ext cx="508406" cy="270287"/>
          </a:xfrm>
          <a:prstGeom prst="rect">
            <a:avLst/>
          </a:prstGeom>
          <a:noFill/>
        </p:spPr>
        <p:txBody>
          <a:bodyPr wrap="square" lIns="0" rIns="0" tIns="0" bIns="0">
            <a:spAutoFit/>
          </a:bodyPr>
          <a:lstStyle/>
          <a:p>
            <a:pPr algn="r">
              <a:lnSpc>
                <a:spcPct val="125000"/>
              </a:lnSpc>
            </a:pPr>
            <a:r>
              <a:rPr sz="1150" b="0" i="0">
                <a:solidFill>
                  <a:srgbClr val="12161C"/>
                </a:solidFill>
                <a:latin typeface="Menlo"/>
              </a:rPr>
              <a:t>33.2%</a:t>
            </a:r>
          </a:p>
        </p:txBody>
      </p:sp>
      <p:sp>
        <p:nvSpPr>
          <p:cNvPr id="35" name="TextBox 34"/>
          <p:cNvSpPr txBox="1"/>
          <p:nvPr/>
        </p:nvSpPr>
        <p:spPr>
          <a:xfrm>
            <a:off x="2703880" y="7303579"/>
            <a:ext cx="433425" cy="270287"/>
          </a:xfrm>
          <a:prstGeom prst="rect">
            <a:avLst/>
          </a:prstGeom>
          <a:noFill/>
        </p:spPr>
        <p:txBody>
          <a:bodyPr wrap="square" lIns="0" rIns="0" tIns="0" bIns="0">
            <a:spAutoFit/>
          </a:bodyPr>
          <a:lstStyle/>
          <a:p>
            <a:pPr algn="r">
              <a:lnSpc>
                <a:spcPct val="125000"/>
              </a:lnSpc>
            </a:pPr>
            <a:r>
              <a:rPr sz="1150" b="0" i="0">
                <a:solidFill>
                  <a:srgbClr val="12161C"/>
                </a:solidFill>
                <a:latin typeface="Menlo"/>
              </a:rPr>
              <a:t>+3.7</a:t>
            </a:r>
          </a:p>
        </p:txBody>
      </p:sp>
      <p:sp>
        <p:nvSpPr>
          <p:cNvPr id="36" name="Rectangle 35"/>
          <p:cNvSpPr/>
          <p:nvPr/>
        </p:nvSpPr>
        <p:spPr>
          <a:xfrm>
            <a:off x="3228746" y="7321867"/>
            <a:ext cx="574243" cy="201168"/>
          </a:xfrm>
          <a:prstGeom prst="rect">
            <a:avLst/>
          </a:prstGeom>
          <a:solidFill>
            <a:srgbClr val="FAF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B4741A"/>
                </a:solidFill>
                <a:latin typeface="Menlo"/>
              </a:rPr>
              <a:t>vendor</a:t>
            </a:r>
          </a:p>
        </p:txBody>
      </p:sp>
      <p:sp>
        <p:nvSpPr>
          <p:cNvPr id="37" name="Rectangle 36"/>
          <p:cNvSpPr/>
          <p:nvPr/>
        </p:nvSpPr>
        <p:spPr>
          <a:xfrm>
            <a:off x="566928" y="7596187"/>
            <a:ext cx="3749039" cy="8229"/>
          </a:xfrm>
          <a:prstGeom prst="rect">
            <a:avLst/>
          </a:prstGeom>
          <a:solidFill>
            <a:srgbClr val="DCD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66928" y="7669339"/>
            <a:ext cx="845819" cy="270287"/>
          </a:xfrm>
          <a:prstGeom prst="rect">
            <a:avLst/>
          </a:prstGeom>
          <a:noFill/>
        </p:spPr>
        <p:txBody>
          <a:bodyPr wrap="square" lIns="0" rIns="0" tIns="0" bIns="0">
            <a:spAutoFit/>
          </a:bodyPr>
          <a:lstStyle/>
          <a:p>
            <a:pPr algn="l">
              <a:lnSpc>
                <a:spcPct val="125000"/>
              </a:lnSpc>
            </a:pPr>
            <a:r>
              <a:rPr sz="1150" b="0" i="0">
                <a:solidFill>
                  <a:srgbClr val="12161C"/>
                </a:solidFill>
                <a:latin typeface="Arial"/>
              </a:rPr>
              <a:t>EMPLOYEE</a:t>
            </a:r>
          </a:p>
        </p:txBody>
      </p:sp>
      <p:sp>
        <p:nvSpPr>
          <p:cNvPr id="39" name="TextBox 38"/>
          <p:cNvSpPr txBox="1"/>
          <p:nvPr/>
        </p:nvSpPr>
        <p:spPr>
          <a:xfrm>
            <a:off x="1504188" y="7669339"/>
            <a:ext cx="508406" cy="270287"/>
          </a:xfrm>
          <a:prstGeom prst="rect">
            <a:avLst/>
          </a:prstGeom>
          <a:noFill/>
        </p:spPr>
        <p:txBody>
          <a:bodyPr wrap="square" lIns="0" rIns="0" tIns="0" bIns="0">
            <a:spAutoFit/>
          </a:bodyPr>
          <a:lstStyle/>
          <a:p>
            <a:pPr algn="r">
              <a:lnSpc>
                <a:spcPct val="125000"/>
              </a:lnSpc>
            </a:pPr>
            <a:r>
              <a:rPr sz="1150" b="0" i="0">
                <a:solidFill>
                  <a:srgbClr val="12161C"/>
                </a:solidFill>
                <a:latin typeface="Menlo"/>
              </a:rPr>
              <a:t>29.6%</a:t>
            </a:r>
          </a:p>
        </p:txBody>
      </p:sp>
      <p:sp>
        <p:nvSpPr>
          <p:cNvPr id="40" name="TextBox 39"/>
          <p:cNvSpPr txBox="1"/>
          <p:nvPr/>
        </p:nvSpPr>
        <p:spPr>
          <a:xfrm>
            <a:off x="2104034" y="7669339"/>
            <a:ext cx="508406" cy="270287"/>
          </a:xfrm>
          <a:prstGeom prst="rect">
            <a:avLst/>
          </a:prstGeom>
          <a:noFill/>
        </p:spPr>
        <p:txBody>
          <a:bodyPr wrap="square" lIns="0" rIns="0" tIns="0" bIns="0">
            <a:spAutoFit/>
          </a:bodyPr>
          <a:lstStyle/>
          <a:p>
            <a:pPr algn="r">
              <a:lnSpc>
                <a:spcPct val="125000"/>
              </a:lnSpc>
            </a:pPr>
            <a:r>
              <a:rPr sz="1150" b="0" i="0">
                <a:solidFill>
                  <a:srgbClr val="12161C"/>
                </a:solidFill>
                <a:latin typeface="Menlo"/>
              </a:rPr>
              <a:t>24.3%</a:t>
            </a:r>
          </a:p>
        </p:txBody>
      </p:sp>
      <p:sp>
        <p:nvSpPr>
          <p:cNvPr id="41" name="TextBox 40"/>
          <p:cNvSpPr txBox="1"/>
          <p:nvPr/>
        </p:nvSpPr>
        <p:spPr>
          <a:xfrm>
            <a:off x="2703880" y="7669339"/>
            <a:ext cx="433425" cy="270287"/>
          </a:xfrm>
          <a:prstGeom prst="rect">
            <a:avLst/>
          </a:prstGeom>
          <a:noFill/>
        </p:spPr>
        <p:txBody>
          <a:bodyPr wrap="square" lIns="0" rIns="0" tIns="0" bIns="0">
            <a:spAutoFit/>
          </a:bodyPr>
          <a:lstStyle/>
          <a:p>
            <a:pPr algn="r">
              <a:lnSpc>
                <a:spcPct val="125000"/>
              </a:lnSpc>
            </a:pPr>
            <a:r>
              <a:rPr sz="1150" b="0" i="0">
                <a:solidFill>
                  <a:srgbClr val="12161C"/>
                </a:solidFill>
                <a:latin typeface="Menlo"/>
              </a:rPr>
              <a:t>−5.3</a:t>
            </a:r>
          </a:p>
        </p:txBody>
      </p:sp>
      <p:sp>
        <p:nvSpPr>
          <p:cNvPr id="42" name="Rectangle 41"/>
          <p:cNvSpPr/>
          <p:nvPr/>
        </p:nvSpPr>
        <p:spPr>
          <a:xfrm>
            <a:off x="3228746" y="7687627"/>
            <a:ext cx="716889" cy="201168"/>
          </a:xfrm>
          <a:prstGeom prst="rect">
            <a:avLst/>
          </a:prstGeom>
          <a:solidFill>
            <a:srgbClr val="E7EF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1F5FA8"/>
                </a:solidFill>
                <a:latin typeface="Menlo"/>
              </a:rPr>
              <a:t>external</a:t>
            </a:r>
          </a:p>
        </p:txBody>
      </p:sp>
      <p:sp>
        <p:nvSpPr>
          <p:cNvPr id="43" name="TextBox 42"/>
          <p:cNvSpPr txBox="1"/>
          <p:nvPr/>
        </p:nvSpPr>
        <p:spPr>
          <a:xfrm>
            <a:off x="4727448" y="2389212"/>
            <a:ext cx="4297680" cy="239941"/>
          </a:xfrm>
          <a:prstGeom prst="rect">
            <a:avLst/>
          </a:prstGeom>
          <a:noFill/>
        </p:spPr>
        <p:txBody>
          <a:bodyPr wrap="square" lIns="0" rIns="0" tIns="0" bIns="0">
            <a:spAutoFit/>
          </a:bodyPr>
          <a:lstStyle/>
          <a:p>
            <a:pPr algn="l">
              <a:lnSpc>
                <a:spcPct val="130000"/>
              </a:lnSpc>
            </a:pPr>
            <a:r>
              <a:rPr sz="950" b="1" i="0">
                <a:solidFill>
                  <a:srgbClr val="5A6472"/>
                </a:solidFill>
                <a:latin typeface="Menlo"/>
              </a:rPr>
              <a:t>JUNE DECOMPOSITION — POINTS OF THE −2.0 EXPLAINED</a:t>
            </a:r>
          </a:p>
        </p:txBody>
      </p:sp>
      <p:sp>
        <p:nvSpPr>
          <p:cNvPr id="44" name="TextBox 43"/>
          <p:cNvSpPr txBox="1"/>
          <p:nvPr/>
        </p:nvSpPr>
        <p:spPr>
          <a:xfrm>
            <a:off x="4727448" y="2690964"/>
            <a:ext cx="1371600" cy="278904"/>
          </a:xfrm>
          <a:prstGeom prst="rect">
            <a:avLst/>
          </a:prstGeom>
          <a:noFill/>
        </p:spPr>
        <p:txBody>
          <a:bodyPr wrap="square" lIns="0" rIns="0" tIns="0" bIns="0">
            <a:spAutoFit/>
          </a:bodyPr>
          <a:lstStyle/>
          <a:p>
            <a:pPr algn="l">
              <a:lnSpc>
                <a:spcPct val="130000"/>
              </a:lnSpc>
            </a:pPr>
            <a:r>
              <a:rPr sz="1150" b="0" i="0">
                <a:solidFill>
                  <a:srgbClr val="12161C"/>
                </a:solidFill>
                <a:latin typeface="Arial"/>
              </a:rPr>
              <a:t>LOGIN (morning)</a:t>
            </a:r>
          </a:p>
        </p:txBody>
      </p:sp>
      <p:sp>
        <p:nvSpPr>
          <p:cNvPr id="45" name="Rectangle 44"/>
          <p:cNvSpPr/>
          <p:nvPr/>
        </p:nvSpPr>
        <p:spPr>
          <a:xfrm>
            <a:off x="6190488" y="2663532"/>
            <a:ext cx="2075687" cy="184343"/>
          </a:xfrm>
          <a:prstGeom prst="rect">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190488" y="2663532"/>
            <a:ext cx="2075687" cy="184343"/>
          </a:xfrm>
          <a:prstGeom prst="rect">
            <a:avLst/>
          </a:prstGeom>
          <a:solidFill>
            <a:srgbClr val="A63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357615" y="2690964"/>
            <a:ext cx="502920" cy="278904"/>
          </a:xfrm>
          <a:prstGeom prst="rect">
            <a:avLst/>
          </a:prstGeom>
          <a:noFill/>
        </p:spPr>
        <p:txBody>
          <a:bodyPr wrap="square" lIns="0" rIns="0" tIns="0" bIns="0">
            <a:spAutoFit/>
          </a:bodyPr>
          <a:lstStyle/>
          <a:p>
            <a:pPr algn="r">
              <a:lnSpc>
                <a:spcPct val="130000"/>
              </a:lnSpc>
            </a:pPr>
            <a:r>
              <a:rPr sz="1150" b="0" i="0">
                <a:solidFill>
                  <a:srgbClr val="5A6472"/>
                </a:solidFill>
                <a:latin typeface="Menlo"/>
              </a:rPr>
              <a:t>−1.76</a:t>
            </a:r>
          </a:p>
        </p:txBody>
      </p:sp>
      <p:sp>
        <p:nvSpPr>
          <p:cNvPr id="48" name="TextBox 47"/>
          <p:cNvSpPr txBox="1"/>
          <p:nvPr/>
        </p:nvSpPr>
        <p:spPr>
          <a:xfrm>
            <a:off x="4727448" y="3047580"/>
            <a:ext cx="1371600" cy="278904"/>
          </a:xfrm>
          <a:prstGeom prst="rect">
            <a:avLst/>
          </a:prstGeom>
          <a:noFill/>
        </p:spPr>
        <p:txBody>
          <a:bodyPr wrap="square" lIns="0" rIns="0" tIns="0" bIns="0">
            <a:spAutoFit/>
          </a:bodyPr>
          <a:lstStyle/>
          <a:p>
            <a:pPr algn="l">
              <a:lnSpc>
                <a:spcPct val="130000"/>
              </a:lnSpc>
            </a:pPr>
            <a:r>
              <a:rPr sz="1150" b="0" i="0">
                <a:solidFill>
                  <a:srgbClr val="12161C"/>
                </a:solidFill>
                <a:latin typeface="Arial"/>
              </a:rPr>
              <a:t>MORNING band</a:t>
            </a:r>
          </a:p>
        </p:txBody>
      </p:sp>
      <p:sp>
        <p:nvSpPr>
          <p:cNvPr id="49" name="Rectangle 48"/>
          <p:cNvSpPr/>
          <p:nvPr/>
        </p:nvSpPr>
        <p:spPr>
          <a:xfrm>
            <a:off x="6190488" y="3020148"/>
            <a:ext cx="2075687" cy="184343"/>
          </a:xfrm>
          <a:prstGeom prst="rect">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190488" y="3020148"/>
            <a:ext cx="1619036" cy="184343"/>
          </a:xfrm>
          <a:prstGeom prst="rect">
            <a:avLst/>
          </a:prstGeom>
          <a:solidFill>
            <a:srgbClr val="A63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357615" y="3047580"/>
            <a:ext cx="502920" cy="278904"/>
          </a:xfrm>
          <a:prstGeom prst="rect">
            <a:avLst/>
          </a:prstGeom>
          <a:noFill/>
        </p:spPr>
        <p:txBody>
          <a:bodyPr wrap="square" lIns="0" rIns="0" tIns="0" bIns="0">
            <a:spAutoFit/>
          </a:bodyPr>
          <a:lstStyle/>
          <a:p>
            <a:pPr algn="r">
              <a:lnSpc>
                <a:spcPct val="130000"/>
              </a:lnSpc>
            </a:pPr>
            <a:r>
              <a:rPr sz="1150" b="0" i="0">
                <a:solidFill>
                  <a:srgbClr val="5A6472"/>
                </a:solidFill>
                <a:latin typeface="Menlo"/>
              </a:rPr>
              <a:t>−1.37</a:t>
            </a:r>
          </a:p>
        </p:txBody>
      </p:sp>
      <p:sp>
        <p:nvSpPr>
          <p:cNvPr id="52" name="TextBox 51"/>
          <p:cNvSpPr txBox="1"/>
          <p:nvPr/>
        </p:nvSpPr>
        <p:spPr>
          <a:xfrm>
            <a:off x="4727448" y="3404196"/>
            <a:ext cx="1371600" cy="278904"/>
          </a:xfrm>
          <a:prstGeom prst="rect">
            <a:avLst/>
          </a:prstGeom>
          <a:noFill/>
        </p:spPr>
        <p:txBody>
          <a:bodyPr wrap="square" lIns="0" rIns="0" tIns="0" bIns="0">
            <a:spAutoFit/>
          </a:bodyPr>
          <a:lstStyle/>
          <a:p>
            <a:pPr algn="l">
              <a:lnSpc>
                <a:spcPct val="130000"/>
              </a:lnSpc>
            </a:pPr>
            <a:r>
              <a:rPr sz="1150" b="0" i="0">
                <a:solidFill>
                  <a:srgbClr val="12161C"/>
                </a:solidFill>
                <a:latin typeface="Arial"/>
              </a:rPr>
              <a:t>CAB</a:t>
            </a:r>
          </a:p>
        </p:txBody>
      </p:sp>
      <p:sp>
        <p:nvSpPr>
          <p:cNvPr id="53" name="Rectangle 52"/>
          <p:cNvSpPr/>
          <p:nvPr/>
        </p:nvSpPr>
        <p:spPr>
          <a:xfrm>
            <a:off x="6190488" y="3376764"/>
            <a:ext cx="2075687" cy="184343"/>
          </a:xfrm>
          <a:prstGeom prst="rect">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190488" y="3376764"/>
            <a:ext cx="1432224" cy="184343"/>
          </a:xfrm>
          <a:prstGeom prst="rect">
            <a:avLst/>
          </a:prstGeom>
          <a:solidFill>
            <a:srgbClr val="A63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357615" y="3404196"/>
            <a:ext cx="502920" cy="278904"/>
          </a:xfrm>
          <a:prstGeom prst="rect">
            <a:avLst/>
          </a:prstGeom>
          <a:noFill/>
        </p:spPr>
        <p:txBody>
          <a:bodyPr wrap="square" lIns="0" rIns="0" tIns="0" bIns="0">
            <a:spAutoFit/>
          </a:bodyPr>
          <a:lstStyle/>
          <a:p>
            <a:pPr algn="r">
              <a:lnSpc>
                <a:spcPct val="130000"/>
              </a:lnSpc>
            </a:pPr>
            <a:r>
              <a:rPr sz="1150" b="0" i="0">
                <a:solidFill>
                  <a:srgbClr val="5A6472"/>
                </a:solidFill>
                <a:latin typeface="Menlo"/>
              </a:rPr>
              <a:t>−1.21</a:t>
            </a:r>
          </a:p>
        </p:txBody>
      </p:sp>
      <p:sp>
        <p:nvSpPr>
          <p:cNvPr id="56" name="TextBox 55"/>
          <p:cNvSpPr txBox="1"/>
          <p:nvPr/>
        </p:nvSpPr>
        <p:spPr>
          <a:xfrm>
            <a:off x="4727448" y="3760812"/>
            <a:ext cx="1371600" cy="278904"/>
          </a:xfrm>
          <a:prstGeom prst="rect">
            <a:avLst/>
          </a:prstGeom>
          <a:noFill/>
        </p:spPr>
        <p:txBody>
          <a:bodyPr wrap="square" lIns="0" rIns="0" tIns="0" bIns="0">
            <a:spAutoFit/>
          </a:bodyPr>
          <a:lstStyle/>
          <a:p>
            <a:pPr algn="l">
              <a:lnSpc>
                <a:spcPct val="130000"/>
              </a:lnSpc>
            </a:pPr>
            <a:r>
              <a:rPr sz="1150" b="0" i="0">
                <a:solidFill>
                  <a:srgbClr val="12161C"/>
                </a:solidFill>
                <a:latin typeface="Arial"/>
              </a:rPr>
              <a:t>Denver Office</a:t>
            </a:r>
          </a:p>
        </p:txBody>
      </p:sp>
      <p:sp>
        <p:nvSpPr>
          <p:cNvPr id="57" name="Rectangle 56"/>
          <p:cNvSpPr/>
          <p:nvPr/>
        </p:nvSpPr>
        <p:spPr>
          <a:xfrm>
            <a:off x="6190488" y="3733380"/>
            <a:ext cx="2075687" cy="184343"/>
          </a:xfrm>
          <a:prstGeom prst="rect">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190488" y="3733380"/>
            <a:ext cx="1058600" cy="184343"/>
          </a:xfrm>
          <a:prstGeom prst="rect">
            <a:avLst/>
          </a:prstGeom>
          <a:solidFill>
            <a:srgbClr val="B4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357615" y="3760812"/>
            <a:ext cx="502920" cy="278904"/>
          </a:xfrm>
          <a:prstGeom prst="rect">
            <a:avLst/>
          </a:prstGeom>
          <a:noFill/>
        </p:spPr>
        <p:txBody>
          <a:bodyPr wrap="square" lIns="0" rIns="0" tIns="0" bIns="0">
            <a:spAutoFit/>
          </a:bodyPr>
          <a:lstStyle/>
          <a:p>
            <a:pPr algn="r">
              <a:lnSpc>
                <a:spcPct val="130000"/>
              </a:lnSpc>
            </a:pPr>
            <a:r>
              <a:rPr sz="1150" b="0" i="0">
                <a:solidFill>
                  <a:srgbClr val="5A6472"/>
                </a:solidFill>
                <a:latin typeface="Menlo"/>
              </a:rPr>
              <a:t>−0.90</a:t>
            </a:r>
          </a:p>
        </p:txBody>
      </p:sp>
      <p:sp>
        <p:nvSpPr>
          <p:cNvPr id="60" name="TextBox 59"/>
          <p:cNvSpPr txBox="1"/>
          <p:nvPr/>
        </p:nvSpPr>
        <p:spPr>
          <a:xfrm>
            <a:off x="4727448" y="4117428"/>
            <a:ext cx="1371600" cy="278904"/>
          </a:xfrm>
          <a:prstGeom prst="rect">
            <a:avLst/>
          </a:prstGeom>
          <a:noFill/>
        </p:spPr>
        <p:txBody>
          <a:bodyPr wrap="square" lIns="0" rIns="0" tIns="0" bIns="0">
            <a:spAutoFit/>
          </a:bodyPr>
          <a:lstStyle/>
          <a:p>
            <a:pPr algn="l">
              <a:lnSpc>
                <a:spcPct val="130000"/>
              </a:lnSpc>
            </a:pPr>
            <a:r>
              <a:rPr sz="1150" b="0" i="0">
                <a:solidFill>
                  <a:srgbClr val="12161C"/>
                </a:solidFill>
                <a:latin typeface="Arial"/>
              </a:rPr>
              <a:t>BUS</a:t>
            </a:r>
          </a:p>
        </p:txBody>
      </p:sp>
      <p:sp>
        <p:nvSpPr>
          <p:cNvPr id="61" name="Rectangle 60"/>
          <p:cNvSpPr/>
          <p:nvPr/>
        </p:nvSpPr>
        <p:spPr>
          <a:xfrm>
            <a:off x="6190488" y="4089996"/>
            <a:ext cx="2075687" cy="184343"/>
          </a:xfrm>
          <a:prstGeom prst="rect">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190488" y="4089996"/>
            <a:ext cx="934059" cy="184343"/>
          </a:xfrm>
          <a:prstGeom prst="rect">
            <a:avLst/>
          </a:prstGeom>
          <a:solidFill>
            <a:srgbClr val="B4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357615" y="4117428"/>
            <a:ext cx="502920" cy="278904"/>
          </a:xfrm>
          <a:prstGeom prst="rect">
            <a:avLst/>
          </a:prstGeom>
          <a:noFill/>
        </p:spPr>
        <p:txBody>
          <a:bodyPr wrap="square" lIns="0" rIns="0" tIns="0" bIns="0">
            <a:spAutoFit/>
          </a:bodyPr>
          <a:lstStyle/>
          <a:p>
            <a:pPr algn="r">
              <a:lnSpc>
                <a:spcPct val="130000"/>
              </a:lnSpc>
            </a:pPr>
            <a:r>
              <a:rPr sz="1150" b="0" i="0">
                <a:solidFill>
                  <a:srgbClr val="5A6472"/>
                </a:solidFill>
                <a:latin typeface="Menlo"/>
              </a:rPr>
              <a:t>−0.80</a:t>
            </a:r>
          </a:p>
        </p:txBody>
      </p:sp>
      <p:sp>
        <p:nvSpPr>
          <p:cNvPr id="64" name="TextBox 63"/>
          <p:cNvSpPr txBox="1"/>
          <p:nvPr/>
        </p:nvSpPr>
        <p:spPr>
          <a:xfrm>
            <a:off x="4727448" y="4474044"/>
            <a:ext cx="1371600" cy="278904"/>
          </a:xfrm>
          <a:prstGeom prst="rect">
            <a:avLst/>
          </a:prstGeom>
          <a:noFill/>
        </p:spPr>
        <p:txBody>
          <a:bodyPr wrap="square" lIns="0" rIns="0" tIns="0" bIns="0">
            <a:spAutoFit/>
          </a:bodyPr>
          <a:lstStyle/>
          <a:p>
            <a:pPr algn="l">
              <a:lnSpc>
                <a:spcPct val="130000"/>
              </a:lnSpc>
            </a:pPr>
            <a:r>
              <a:rPr sz="1150" b="0" i="0">
                <a:solidFill>
                  <a:srgbClr val="12161C"/>
                </a:solidFill>
                <a:latin typeface="Arial"/>
              </a:rPr>
              <a:t>Clearwater Campus</a:t>
            </a:r>
          </a:p>
        </p:txBody>
      </p:sp>
      <p:sp>
        <p:nvSpPr>
          <p:cNvPr id="65" name="Rectangle 64"/>
          <p:cNvSpPr/>
          <p:nvPr/>
        </p:nvSpPr>
        <p:spPr>
          <a:xfrm>
            <a:off x="6190488" y="4446612"/>
            <a:ext cx="2075687" cy="184343"/>
          </a:xfrm>
          <a:prstGeom prst="rect">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190488" y="4446612"/>
            <a:ext cx="560435" cy="184343"/>
          </a:xfrm>
          <a:prstGeom prst="rect">
            <a:avLst/>
          </a:prstGeom>
          <a:solidFill>
            <a:srgbClr val="B4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357615" y="4474044"/>
            <a:ext cx="502920" cy="278904"/>
          </a:xfrm>
          <a:prstGeom prst="rect">
            <a:avLst/>
          </a:prstGeom>
          <a:noFill/>
        </p:spPr>
        <p:txBody>
          <a:bodyPr wrap="square" lIns="0" rIns="0" tIns="0" bIns="0">
            <a:spAutoFit/>
          </a:bodyPr>
          <a:lstStyle/>
          <a:p>
            <a:pPr algn="r">
              <a:lnSpc>
                <a:spcPct val="130000"/>
              </a:lnSpc>
            </a:pPr>
            <a:r>
              <a:rPr sz="1150" b="0" i="0">
                <a:solidFill>
                  <a:srgbClr val="5A6472"/>
                </a:solidFill>
                <a:latin typeface="Menlo"/>
              </a:rPr>
              <a:t>−0.48</a:t>
            </a:r>
          </a:p>
        </p:txBody>
      </p:sp>
      <p:sp>
        <p:nvSpPr>
          <p:cNvPr id="68" name="TextBox 67"/>
          <p:cNvSpPr txBox="1"/>
          <p:nvPr/>
        </p:nvSpPr>
        <p:spPr>
          <a:xfrm>
            <a:off x="4727448" y="4830660"/>
            <a:ext cx="1371600" cy="278904"/>
          </a:xfrm>
          <a:prstGeom prst="rect">
            <a:avLst/>
          </a:prstGeom>
          <a:noFill/>
        </p:spPr>
        <p:txBody>
          <a:bodyPr wrap="square" lIns="0" rIns="0" tIns="0" bIns="0">
            <a:spAutoFit/>
          </a:bodyPr>
          <a:lstStyle/>
          <a:p>
            <a:pPr algn="l">
              <a:lnSpc>
                <a:spcPct val="130000"/>
              </a:lnSpc>
            </a:pPr>
            <a:r>
              <a:rPr sz="1150" b="0" i="0">
                <a:solidFill>
                  <a:srgbClr val="12161C"/>
                </a:solidFill>
                <a:latin typeface="Arial"/>
              </a:rPr>
              <a:t>Sanjay M. Travel</a:t>
            </a:r>
          </a:p>
        </p:txBody>
      </p:sp>
      <p:sp>
        <p:nvSpPr>
          <p:cNvPr id="69" name="Rectangle 68"/>
          <p:cNvSpPr/>
          <p:nvPr/>
        </p:nvSpPr>
        <p:spPr>
          <a:xfrm>
            <a:off x="6190488" y="4803228"/>
            <a:ext cx="2075687" cy="184343"/>
          </a:xfrm>
          <a:prstGeom prst="rect">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190488" y="4803228"/>
            <a:ext cx="394380" cy="184343"/>
          </a:xfrm>
          <a:prstGeom prst="rect">
            <a:avLst/>
          </a:prstGeom>
          <a:solidFill>
            <a:srgbClr val="B4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357615" y="4830660"/>
            <a:ext cx="502920" cy="278904"/>
          </a:xfrm>
          <a:prstGeom prst="rect">
            <a:avLst/>
          </a:prstGeom>
          <a:noFill/>
        </p:spPr>
        <p:txBody>
          <a:bodyPr wrap="square" lIns="0" rIns="0" tIns="0" bIns="0">
            <a:spAutoFit/>
          </a:bodyPr>
          <a:lstStyle/>
          <a:p>
            <a:pPr algn="r">
              <a:lnSpc>
                <a:spcPct val="130000"/>
              </a:lnSpc>
            </a:pPr>
            <a:r>
              <a:rPr sz="1150" b="0" i="0">
                <a:solidFill>
                  <a:srgbClr val="5A6472"/>
                </a:solidFill>
                <a:latin typeface="Menlo"/>
              </a:rPr>
              <a:t>−0.33</a:t>
            </a:r>
          </a:p>
        </p:txBody>
      </p:sp>
      <p:sp>
        <p:nvSpPr>
          <p:cNvPr id="72" name="TextBox 71"/>
          <p:cNvSpPr txBox="1"/>
          <p:nvPr/>
        </p:nvSpPr>
        <p:spPr>
          <a:xfrm>
            <a:off x="4727448" y="5187276"/>
            <a:ext cx="1371600" cy="278904"/>
          </a:xfrm>
          <a:prstGeom prst="rect">
            <a:avLst/>
          </a:prstGeom>
          <a:noFill/>
        </p:spPr>
        <p:txBody>
          <a:bodyPr wrap="square" lIns="0" rIns="0" tIns="0" bIns="0">
            <a:spAutoFit/>
          </a:bodyPr>
          <a:lstStyle/>
          <a:p>
            <a:pPr algn="l">
              <a:lnSpc>
                <a:spcPct val="130000"/>
              </a:lnSpc>
            </a:pPr>
            <a:r>
              <a:rPr sz="1150" b="0" i="0">
                <a:solidFill>
                  <a:srgbClr val="12161C"/>
                </a:solidFill>
                <a:latin typeface="Arial"/>
              </a:rPr>
              <a:t>Willow Bend</a:t>
            </a:r>
          </a:p>
        </p:txBody>
      </p:sp>
      <p:sp>
        <p:nvSpPr>
          <p:cNvPr id="73" name="Rectangle 72"/>
          <p:cNvSpPr/>
          <p:nvPr/>
        </p:nvSpPr>
        <p:spPr>
          <a:xfrm>
            <a:off x="6190488" y="5159844"/>
            <a:ext cx="2075687" cy="184343"/>
          </a:xfrm>
          <a:prstGeom prst="rect">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190488" y="5159844"/>
            <a:ext cx="269839" cy="184343"/>
          </a:xfrm>
          <a:prstGeom prst="rect">
            <a:avLst/>
          </a:prstGeom>
          <a:solidFill>
            <a:srgbClr val="B4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357615" y="5187276"/>
            <a:ext cx="502920" cy="278904"/>
          </a:xfrm>
          <a:prstGeom prst="rect">
            <a:avLst/>
          </a:prstGeom>
          <a:noFill/>
        </p:spPr>
        <p:txBody>
          <a:bodyPr wrap="square" lIns="0" rIns="0" tIns="0" bIns="0">
            <a:spAutoFit/>
          </a:bodyPr>
          <a:lstStyle/>
          <a:p>
            <a:pPr algn="r">
              <a:lnSpc>
                <a:spcPct val="130000"/>
              </a:lnSpc>
            </a:pPr>
            <a:r>
              <a:rPr sz="1150" b="0" i="0">
                <a:solidFill>
                  <a:srgbClr val="5A6472"/>
                </a:solidFill>
                <a:latin typeface="Menlo"/>
              </a:rPr>
              <a:t>−0.23</a:t>
            </a:r>
          </a:p>
        </p:txBody>
      </p:sp>
      <p:sp>
        <p:nvSpPr>
          <p:cNvPr id="76" name="TextBox 75"/>
          <p:cNvSpPr txBox="1"/>
          <p:nvPr/>
        </p:nvSpPr>
        <p:spPr>
          <a:xfrm>
            <a:off x="4727448" y="5543892"/>
            <a:ext cx="1371600" cy="278904"/>
          </a:xfrm>
          <a:prstGeom prst="rect">
            <a:avLst/>
          </a:prstGeom>
          <a:noFill/>
        </p:spPr>
        <p:txBody>
          <a:bodyPr wrap="square" lIns="0" rIns="0" tIns="0" bIns="0">
            <a:spAutoFit/>
          </a:bodyPr>
          <a:lstStyle/>
          <a:p>
            <a:pPr algn="l">
              <a:lnSpc>
                <a:spcPct val="130000"/>
              </a:lnSpc>
            </a:pPr>
            <a:r>
              <a:rPr sz="1150" b="0" i="0">
                <a:solidFill>
                  <a:srgbClr val="12161C"/>
                </a:solidFill>
                <a:latin typeface="Arial"/>
              </a:rPr>
              <a:t>Aarav M. Travel</a:t>
            </a:r>
          </a:p>
        </p:txBody>
      </p:sp>
      <p:sp>
        <p:nvSpPr>
          <p:cNvPr id="77" name="Rectangle 76"/>
          <p:cNvSpPr/>
          <p:nvPr/>
        </p:nvSpPr>
        <p:spPr>
          <a:xfrm>
            <a:off x="6190488" y="5516460"/>
            <a:ext cx="2075687" cy="184343"/>
          </a:xfrm>
          <a:prstGeom prst="rect">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190488" y="5516460"/>
            <a:ext cx="249082" cy="184343"/>
          </a:xfrm>
          <a:prstGeom prst="rect">
            <a:avLst/>
          </a:prstGeom>
          <a:solidFill>
            <a:srgbClr val="B4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357615" y="5543892"/>
            <a:ext cx="502920" cy="278904"/>
          </a:xfrm>
          <a:prstGeom prst="rect">
            <a:avLst/>
          </a:prstGeom>
          <a:noFill/>
        </p:spPr>
        <p:txBody>
          <a:bodyPr wrap="square" lIns="0" rIns="0" tIns="0" bIns="0">
            <a:spAutoFit/>
          </a:bodyPr>
          <a:lstStyle/>
          <a:p>
            <a:pPr algn="r">
              <a:lnSpc>
                <a:spcPct val="130000"/>
              </a:lnSpc>
            </a:pPr>
            <a:r>
              <a:rPr sz="1150" b="0" i="0">
                <a:solidFill>
                  <a:srgbClr val="5A6472"/>
                </a:solidFill>
                <a:latin typeface="Menlo"/>
              </a:rPr>
              <a:t>−0.21</a:t>
            </a:r>
          </a:p>
        </p:txBody>
      </p:sp>
      <p:sp>
        <p:nvSpPr>
          <p:cNvPr id="80" name="Rectangle 79"/>
          <p:cNvSpPr/>
          <p:nvPr/>
        </p:nvSpPr>
        <p:spPr>
          <a:xfrm>
            <a:off x="4727448" y="6055956"/>
            <a:ext cx="20116" cy="926744"/>
          </a:xfrm>
          <a:prstGeom prst="rect">
            <a:avLst/>
          </a:prstGeom>
          <a:solidFill>
            <a:srgbClr val="C3C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892040" y="6055956"/>
            <a:ext cx="4041648" cy="945032"/>
          </a:xfrm>
          <a:prstGeom prst="rect">
            <a:avLst/>
          </a:prstGeom>
          <a:noFill/>
        </p:spPr>
        <p:txBody>
          <a:bodyPr wrap="square" lIns="0" rIns="0" tIns="0" bIns="0">
            <a:spAutoFit/>
          </a:bodyPr>
          <a:lstStyle/>
          <a:p>
            <a:pPr algn="l">
              <a:lnSpc>
                <a:spcPct val="135000"/>
              </a:lnSpc>
            </a:pPr>
            <a:r>
              <a:rPr sz="1100" b="0" i="0">
                <a:solidFill>
                  <a:srgbClr val="5A6472"/>
                </a:solidFill>
                <a:latin typeface="Arial"/>
              </a:rPr>
              <a:t>Dimensions overlap by design — a Denver morning CAB trip appears in three rows. They are alternative lenses on the same drop, not a partition, so each is ranked within its own dimension.</a:t>
            </a:r>
          </a:p>
        </p:txBody>
      </p:sp>
      <p:sp>
        <p:nvSpPr>
          <p:cNvPr id="82" name="TextBox 81"/>
          <p:cNvSpPr txBox="1"/>
          <p:nvPr/>
        </p:nvSpPr>
        <p:spPr>
          <a:xfrm>
            <a:off x="9162288" y="2389212"/>
            <a:ext cx="3017520" cy="239941"/>
          </a:xfrm>
          <a:prstGeom prst="rect">
            <a:avLst/>
          </a:prstGeom>
          <a:noFill/>
        </p:spPr>
        <p:txBody>
          <a:bodyPr wrap="square" lIns="0" rIns="0" tIns="0" bIns="0">
            <a:spAutoFit/>
          </a:bodyPr>
          <a:lstStyle/>
          <a:p>
            <a:pPr algn="l">
              <a:lnSpc>
                <a:spcPct val="130000"/>
              </a:lnSpc>
            </a:pPr>
            <a:r>
              <a:rPr sz="950" b="1" i="0">
                <a:solidFill>
                  <a:srgbClr val="5A6472"/>
                </a:solidFill>
                <a:latin typeface="Menlo"/>
              </a:rPr>
              <a:t>EVERY ROW RE-DERIVES ITSELF</a:t>
            </a:r>
          </a:p>
        </p:txBody>
      </p:sp>
      <p:sp>
        <p:nvSpPr>
          <p:cNvPr id="83" name="Rectangle 82"/>
          <p:cNvSpPr/>
          <p:nvPr/>
        </p:nvSpPr>
        <p:spPr>
          <a:xfrm>
            <a:off x="9162288" y="2663532"/>
            <a:ext cx="3017520" cy="1832254"/>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9162288" y="2663532"/>
            <a:ext cx="21945" cy="1832254"/>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308592" y="2782404"/>
            <a:ext cx="2779776" cy="1612798"/>
          </a:xfrm>
          <a:prstGeom prst="rect">
            <a:avLst/>
          </a:prstGeom>
          <a:noFill/>
        </p:spPr>
        <p:txBody>
          <a:bodyPr wrap="square" lIns="0" rIns="0" tIns="0" bIns="0">
            <a:spAutoFit/>
          </a:bodyPr>
          <a:lstStyle/>
          <a:p>
            <a:pPr>
              <a:lnSpc>
                <a:spcPct val="140000"/>
              </a:lnSpc>
            </a:pPr>
            <a:r>
              <a:rPr sz="950" b="0" i="0">
                <a:solidFill>
                  <a:srgbClr val="8A93A0"/>
                </a:solidFill>
                <a:latin typeface="Menlo"/>
              </a:rPr>
              <a:t>-- shipped in the API</a:t>
            </a:r>
          </a:p>
          <a:p>
            <a:pPr>
              <a:lnSpc>
                <a:spcPct val="140000"/>
              </a:lnSpc>
            </a:pPr>
            <a:r>
              <a:rPr sz="950" b="0" i="0">
                <a:solidFill>
                  <a:srgbClr val="8A93A0"/>
                </a:solidFill>
                <a:latin typeface="Menlo"/>
              </a:rPr>
              <a:t>-- response as evidenceSql</a:t>
            </a:r>
          </a:p>
          <a:p>
            <a:pPr>
              <a:lnSpc>
                <a:spcPct val="140000"/>
              </a:lnSpc>
            </a:pPr>
            <a:r>
              <a:rPr sz="950" b="0" i="0">
                <a:solidFill>
                  <a:srgbClr val="1F5FA8"/>
                </a:solidFill>
                <a:latin typeface="Menlo"/>
              </a:rPr>
              <a:t>WITH</a:t>
            </a:r>
            <a:r>
              <a:rPr sz="950" b="0" i="0">
                <a:solidFill>
                  <a:srgbClr val="12161C"/>
                </a:solidFill>
                <a:latin typeface="Menlo"/>
              </a:rPr>
              <a:t> now </a:t>
            </a:r>
            <a:r>
              <a:rPr sz="950" b="0" i="0">
                <a:solidFill>
                  <a:srgbClr val="1F5FA8"/>
                </a:solidFill>
                <a:latin typeface="Menlo"/>
              </a:rPr>
              <a:t>AS</a:t>
            </a:r>
            <a:r>
              <a:rPr sz="950" b="0" i="0">
                <a:solidFill>
                  <a:srgbClr val="12161C"/>
                </a:solidFill>
                <a:latin typeface="Menlo"/>
              </a:rPr>
              <a:t> (</a:t>
            </a:r>
          </a:p>
          <a:p>
            <a:pPr>
              <a:lnSpc>
                <a:spcPct val="140000"/>
              </a:lnSpc>
            </a:pPr>
            <a:r>
              <a:rPr sz="950" b="0" i="0">
                <a:solidFill>
                  <a:srgbClr val="12161C"/>
                </a:solidFill>
                <a:latin typeface="Menlo"/>
              </a:rPr>
              <a:t>  </a:t>
            </a:r>
            <a:r>
              <a:rPr sz="950" b="0" i="0">
                <a:solidFill>
                  <a:srgbClr val="1F5FA8"/>
                </a:solidFill>
                <a:latin typeface="Menlo"/>
              </a:rPr>
              <a:t>SELECT</a:t>
            </a:r>
            <a:r>
              <a:rPr sz="950" b="0" i="0">
                <a:solidFill>
                  <a:srgbClr val="12161C"/>
                </a:solidFill>
                <a:latin typeface="Menlo"/>
              </a:rPr>
              <a:t> t.office, count(*),</a:t>
            </a:r>
          </a:p>
          <a:p>
            <a:pPr>
              <a:lnSpc>
                <a:spcPct val="140000"/>
              </a:lnSpc>
            </a:pPr>
            <a:r>
              <a:rPr sz="950" b="0" i="0">
                <a:solidFill>
                  <a:srgbClr val="12161C"/>
                </a:solidFill>
                <a:latin typeface="Menlo"/>
              </a:rPr>
              <a:t>    count(*) </a:t>
            </a:r>
            <a:r>
              <a:rPr sz="950" b="0" i="0">
                <a:solidFill>
                  <a:srgbClr val="1F5FA8"/>
                </a:solidFill>
                <a:latin typeface="Menlo"/>
              </a:rPr>
              <a:t>FILTER</a:t>
            </a:r>
            <a:r>
              <a:rPr sz="950" b="0" i="0">
                <a:solidFill>
                  <a:srgbClr val="12161C"/>
                </a:solidFill>
                <a:latin typeface="Menlo"/>
              </a:rPr>
              <a:t> (</a:t>
            </a:r>
          </a:p>
          <a:p>
            <a:pPr>
              <a:lnSpc>
                <a:spcPct val="140000"/>
              </a:lnSpc>
            </a:pPr>
            <a:r>
              <a:rPr sz="950" b="0" i="0">
                <a:solidFill>
                  <a:srgbClr val="12161C"/>
                </a:solidFill>
                <a:latin typeface="Menlo"/>
              </a:rPr>
              <a:t>      </a:t>
            </a:r>
            <a:r>
              <a:rPr sz="950" b="0" i="0">
                <a:solidFill>
                  <a:srgbClr val="1F5FA8"/>
                </a:solidFill>
                <a:latin typeface="Menlo"/>
              </a:rPr>
              <a:t>WHERE</a:t>
            </a:r>
            <a:r>
              <a:rPr sz="950" b="0" i="0">
                <a:solidFill>
                  <a:srgbClr val="12161C"/>
                </a:solidFill>
                <a:latin typeface="Menlo"/>
              </a:rPr>
              <a:t> delay &gt; sla)</a:t>
            </a:r>
          </a:p>
          <a:p>
            <a:pPr>
              <a:lnSpc>
                <a:spcPct val="140000"/>
              </a:lnSpc>
            </a:pPr>
            <a:r>
              <a:rPr sz="950" b="0" i="0">
                <a:solidFill>
                  <a:srgbClr val="12161C"/>
                </a:solidFill>
                <a:latin typeface="Menlo"/>
              </a:rPr>
              <a:t>  </a:t>
            </a:r>
            <a:r>
              <a:rPr sz="950" b="0" i="0">
                <a:solidFill>
                  <a:srgbClr val="1F5FA8"/>
                </a:solidFill>
                <a:latin typeface="Menlo"/>
              </a:rPr>
              <a:t>FROM</a:t>
            </a:r>
            <a:r>
              <a:rPr sz="950" b="0" i="0">
                <a:solidFill>
                  <a:srgbClr val="12161C"/>
                </a:solidFill>
                <a:latin typeface="Menlo"/>
              </a:rPr>
              <a:t> trips t</a:t>
            </a:r>
          </a:p>
          <a:p>
            <a:pPr>
              <a:lnSpc>
                <a:spcPct val="140000"/>
              </a:lnSpc>
            </a:pPr>
            <a:r>
              <a:rPr sz="950" b="0" i="0">
                <a:solidFill>
                  <a:srgbClr val="12161C"/>
                </a:solidFill>
                <a:latin typeface="Menlo"/>
              </a:rPr>
              <a:t>  </a:t>
            </a:r>
            <a:r>
              <a:rPr sz="950" b="0" i="0">
                <a:solidFill>
                  <a:srgbClr val="1F5FA8"/>
                </a:solidFill>
                <a:latin typeface="Menlo"/>
              </a:rPr>
              <a:t>WHERE</a:t>
            </a:r>
            <a:r>
              <a:rPr sz="950" b="0" i="0">
                <a:solidFill>
                  <a:srgbClr val="12161C"/>
                </a:solidFill>
                <a:latin typeface="Menlo"/>
              </a:rPr>
              <a:t> trip_date </a:t>
            </a:r>
            <a:r>
              <a:rPr sz="950" b="0" i="0">
                <a:solidFill>
                  <a:srgbClr val="1F5FA8"/>
                </a:solidFill>
                <a:latin typeface="Menlo"/>
              </a:rPr>
              <a:t>BETWEEN</a:t>
            </a:r>
            <a:r>
              <a:rPr sz="950" b="0" i="0">
                <a:solidFill>
                  <a:srgbClr val="12161C"/>
                </a:solidFill>
                <a:latin typeface="Menlo"/>
              </a:rPr>
              <a:t> ...</a:t>
            </a:r>
          </a:p>
        </p:txBody>
      </p:sp>
      <p:sp>
        <p:nvSpPr>
          <p:cNvPr id="86" name="TextBox 85"/>
          <p:cNvSpPr txBox="1"/>
          <p:nvPr/>
        </p:nvSpPr>
        <p:spPr>
          <a:xfrm>
            <a:off x="9162288" y="4770107"/>
            <a:ext cx="3017520" cy="1313687"/>
          </a:xfrm>
          <a:prstGeom prst="rect">
            <a:avLst/>
          </a:prstGeom>
          <a:noFill/>
        </p:spPr>
        <p:txBody>
          <a:bodyPr wrap="square" lIns="0" rIns="0" tIns="0" bIns="0">
            <a:spAutoFit/>
          </a:bodyPr>
          <a:lstStyle/>
          <a:p>
            <a:pPr algn="l">
              <a:lnSpc>
                <a:spcPct val="140000"/>
              </a:lnSpc>
            </a:pPr>
            <a:r>
              <a:rPr sz="1200" b="0" i="0">
                <a:solidFill>
                  <a:srgbClr val="5A6472"/>
                </a:solidFill>
                <a:latin typeface="Arial"/>
              </a:rPr>
              <a:t>The SQL that produced each driver travels with it. A vendor disputing a number can be handed the query — that is what makes the finding an escalation rather than an opinion.</a:t>
            </a:r>
          </a:p>
        </p:txBody>
      </p:sp>
      <p:sp>
        <p:nvSpPr>
          <p:cNvPr id="87" name="TextBox 86"/>
          <p:cNvSpPr txBox="1"/>
          <p:nvPr/>
        </p:nvSpPr>
        <p:spPr>
          <a:xfrm>
            <a:off x="566928" y="6455664"/>
            <a:ext cx="11057839" cy="230200"/>
          </a:xfrm>
          <a:prstGeom prst="rect">
            <a:avLst/>
          </a:prstGeom>
          <a:noFill/>
        </p:spPr>
        <p:txBody>
          <a:bodyPr wrap="square" lIns="0" rIns="0" tIns="0" bIns="0">
            <a:spAutoFit/>
          </a:bodyPr>
          <a:lstStyle/>
          <a:p>
            <a:pPr algn="ctr">
              <a:lnSpc>
                <a:spcPct val="130000"/>
              </a:lnSpc>
            </a:pPr>
            <a:r>
              <a:rPr sz="900" b="0" i="0">
                <a:solidFill>
                  <a:srgbClr val="8A93A0"/>
                </a:solidFill>
                <a:latin typeface="Menlo"/>
              </a:rPr>
              <a:t>RouteMind · figures computed live from the loaded dataset, 5 September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48640"/>
            <a:ext cx="457200" cy="288645"/>
          </a:xfrm>
          <a:prstGeom prst="rect">
            <a:avLst/>
          </a:prstGeom>
          <a:noFill/>
        </p:spPr>
        <p:txBody>
          <a:bodyPr wrap="square" lIns="0" rIns="0" tIns="0" bIns="0">
            <a:spAutoFit/>
          </a:bodyPr>
          <a:lstStyle/>
          <a:p>
            <a:pPr algn="l">
              <a:lnSpc>
                <a:spcPct val="130000"/>
              </a:lnSpc>
            </a:pPr>
            <a:r>
              <a:rPr sz="1200" b="1" i="0">
                <a:solidFill>
                  <a:srgbClr val="1F5FA8"/>
                </a:solidFill>
                <a:latin typeface="Menlo"/>
              </a:rPr>
              <a:t>03</a:t>
            </a:r>
          </a:p>
        </p:txBody>
      </p:sp>
      <p:sp>
        <p:nvSpPr>
          <p:cNvPr id="4" name="TextBox 3"/>
          <p:cNvSpPr txBox="1"/>
          <p:nvPr/>
        </p:nvSpPr>
        <p:spPr>
          <a:xfrm>
            <a:off x="1097280" y="475488"/>
            <a:ext cx="10509199" cy="239941"/>
          </a:xfrm>
          <a:prstGeom prst="rect">
            <a:avLst/>
          </a:prstGeom>
          <a:noFill/>
        </p:spPr>
        <p:txBody>
          <a:bodyPr wrap="square" lIns="0" rIns="0" tIns="0" bIns="0">
            <a:spAutoFit/>
          </a:bodyPr>
          <a:lstStyle/>
          <a:p>
            <a:pPr algn="l">
              <a:lnSpc>
                <a:spcPct val="130000"/>
              </a:lnSpc>
            </a:pPr>
            <a:r>
              <a:rPr sz="950" b="0" i="0">
                <a:solidFill>
                  <a:srgbClr val="8A93A0"/>
                </a:solidFill>
                <a:latin typeface="Menlo"/>
              </a:rPr>
              <a:t>THE MODEL'S JOB</a:t>
            </a:r>
          </a:p>
        </p:txBody>
      </p:sp>
      <p:sp>
        <p:nvSpPr>
          <p:cNvPr id="5" name="TextBox 4"/>
          <p:cNvSpPr txBox="1"/>
          <p:nvPr/>
        </p:nvSpPr>
        <p:spPr>
          <a:xfrm>
            <a:off x="1097280" y="667512"/>
            <a:ext cx="10509199" cy="479717"/>
          </a:xfrm>
          <a:prstGeom prst="rect">
            <a:avLst/>
          </a:prstGeom>
          <a:noFill/>
        </p:spPr>
        <p:txBody>
          <a:bodyPr wrap="square" lIns="0" rIns="0" tIns="0" bIns="0">
            <a:spAutoFit/>
          </a:bodyPr>
          <a:lstStyle/>
          <a:p>
            <a:pPr algn="l">
              <a:lnSpc>
                <a:spcPct val="105000"/>
              </a:lnSpc>
            </a:pPr>
            <a:r>
              <a:rPr sz="2700" b="1" i="0">
                <a:solidFill>
                  <a:srgbClr val="12161C"/>
                </a:solidFill>
                <a:latin typeface="Arial"/>
              </a:rPr>
              <a:t>Tool routing — API first, SQL last</a:t>
            </a:r>
          </a:p>
        </p:txBody>
      </p:sp>
      <p:sp>
        <p:nvSpPr>
          <p:cNvPr id="6" name="TextBox 5"/>
          <p:cNvSpPr txBox="1"/>
          <p:nvPr/>
        </p:nvSpPr>
        <p:spPr>
          <a:xfrm>
            <a:off x="566928" y="1344168"/>
            <a:ext cx="11057839" cy="580872"/>
          </a:xfrm>
          <a:prstGeom prst="rect">
            <a:avLst/>
          </a:prstGeom>
          <a:noFill/>
        </p:spPr>
        <p:txBody>
          <a:bodyPr wrap="square" lIns="0" rIns="0" tIns="0" bIns="0">
            <a:spAutoFit/>
          </a:bodyPr>
          <a:lstStyle/>
          <a:p>
            <a:pPr algn="l">
              <a:lnSpc>
                <a:spcPct val="135000"/>
              </a:lnSpc>
            </a:pPr>
            <a:r>
              <a:rPr sz="1300" b="0" i="0">
                <a:solidFill>
                  <a:srgbClr val="5A6472"/>
                </a:solidFill>
                <a:latin typeface="Arial"/>
              </a:rPr>
              <a:t>Sarvam never computes a metric, picks a root cause, or touches the database directly. The arithmetic is finished before the model is called. It chooses which analysis to run, then turns the result into prose for the right reader.</a:t>
            </a:r>
          </a:p>
        </p:txBody>
      </p:sp>
      <p:sp>
        <p:nvSpPr>
          <p:cNvPr id="7" name="Rectangle 6"/>
          <p:cNvSpPr/>
          <p:nvPr/>
        </p:nvSpPr>
        <p:spPr>
          <a:xfrm>
            <a:off x="566928" y="2126208"/>
            <a:ext cx="7132320" cy="1499666"/>
          </a:xfrm>
          <a:prstGeom prst="rect">
            <a:avLst/>
          </a:prstGeom>
          <a:solidFill>
            <a:srgbClr val="FFFFFF"/>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2126208"/>
            <a:ext cx="36576" cy="1499666"/>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309088"/>
            <a:ext cx="274320" cy="347091"/>
          </a:xfrm>
          <a:prstGeom prst="rect">
            <a:avLst/>
          </a:prstGeom>
          <a:noFill/>
        </p:spPr>
        <p:txBody>
          <a:bodyPr wrap="square" lIns="0" rIns="0" tIns="0" bIns="0">
            <a:spAutoFit/>
          </a:bodyPr>
          <a:lstStyle/>
          <a:p>
            <a:pPr algn="l">
              <a:lnSpc>
                <a:spcPct val="130000"/>
              </a:lnSpc>
            </a:pPr>
            <a:r>
              <a:rPr sz="1500" b="1" i="0">
                <a:solidFill>
                  <a:srgbClr val="8A93A0"/>
                </a:solidFill>
                <a:latin typeface="Menlo"/>
              </a:rPr>
              <a:t>1</a:t>
            </a:r>
          </a:p>
        </p:txBody>
      </p:sp>
      <p:sp>
        <p:nvSpPr>
          <p:cNvPr id="10" name="TextBox 9"/>
          <p:cNvSpPr txBox="1"/>
          <p:nvPr/>
        </p:nvSpPr>
        <p:spPr>
          <a:xfrm>
            <a:off x="1280160" y="2290800"/>
            <a:ext cx="6217920" cy="327609"/>
          </a:xfrm>
          <a:prstGeom prst="rect">
            <a:avLst/>
          </a:prstGeom>
          <a:noFill/>
        </p:spPr>
        <p:txBody>
          <a:bodyPr wrap="square" lIns="0" rIns="0" tIns="0" bIns="0">
            <a:spAutoFit/>
          </a:bodyPr>
          <a:lstStyle/>
          <a:p>
            <a:pPr algn="l">
              <a:lnSpc>
                <a:spcPct val="130000"/>
              </a:lnSpc>
            </a:pPr>
            <a:r>
              <a:rPr sz="1400" b="1" i="0">
                <a:solidFill>
                  <a:srgbClr val="12161C"/>
                </a:solidFill>
                <a:latin typeface="Arial"/>
              </a:rPr>
              <a:t>An existing service, always first</a:t>
            </a:r>
          </a:p>
        </p:txBody>
      </p:sp>
      <p:sp>
        <p:nvSpPr>
          <p:cNvPr id="11" name="TextBox 10"/>
          <p:cNvSpPr txBox="1"/>
          <p:nvPr/>
        </p:nvSpPr>
        <p:spPr>
          <a:xfrm>
            <a:off x="1280160" y="2565120"/>
            <a:ext cx="6217920" cy="951026"/>
          </a:xfrm>
          <a:prstGeom prst="rect">
            <a:avLst/>
          </a:prstGeom>
          <a:noFill/>
        </p:spPr>
        <p:txBody>
          <a:bodyPr wrap="square" lIns="0" rIns="0" tIns="0" bIns="0">
            <a:spAutoFit/>
          </a:bodyPr>
          <a:lstStyle/>
          <a:p>
            <a:pPr algn="l">
              <a:lnSpc>
                <a:spcPct val="130000"/>
              </a:lnSpc>
            </a:pPr>
            <a:r>
              <a:rPr sz="1150" b="0" i="0">
                <a:solidFill>
                  <a:srgbClr val="5A6472"/>
                </a:solidFill>
                <a:latin typeface="Arial"/>
              </a:rPr>
              <a:t>The model picks one of five real endpoints — OTA_ROOT_CAUSE, DEGRADING_METRICS, SLA_COMPLIANCE, METRIC_WITH_CONTEXT, SHIFT_READINESS. Each already applies the SLA policy, product exclusions and attribution rules; a hand-written query would skip all of it and disagree with the dashboard.</a:t>
            </a:r>
          </a:p>
        </p:txBody>
      </p:sp>
      <p:sp>
        <p:nvSpPr>
          <p:cNvPr id="12" name="Rectangle 11"/>
          <p:cNvSpPr/>
          <p:nvPr/>
        </p:nvSpPr>
        <p:spPr>
          <a:xfrm>
            <a:off x="566928" y="3781323"/>
            <a:ext cx="7132320" cy="1275626"/>
          </a:xfrm>
          <a:prstGeom prst="rect">
            <a:avLst/>
          </a:prstGeom>
          <a:solidFill>
            <a:srgbClr val="FFFFFF"/>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3781323"/>
            <a:ext cx="36576" cy="1275626"/>
          </a:xfrm>
          <a:prstGeom prst="rect">
            <a:avLst/>
          </a:prstGeom>
          <a:solidFill>
            <a:srgbClr val="B4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3964203"/>
            <a:ext cx="274320" cy="347091"/>
          </a:xfrm>
          <a:prstGeom prst="rect">
            <a:avLst/>
          </a:prstGeom>
          <a:noFill/>
        </p:spPr>
        <p:txBody>
          <a:bodyPr wrap="square" lIns="0" rIns="0" tIns="0" bIns="0">
            <a:spAutoFit/>
          </a:bodyPr>
          <a:lstStyle/>
          <a:p>
            <a:pPr algn="l">
              <a:lnSpc>
                <a:spcPct val="130000"/>
              </a:lnSpc>
            </a:pPr>
            <a:r>
              <a:rPr sz="1500" b="1" i="0">
                <a:solidFill>
                  <a:srgbClr val="8A93A0"/>
                </a:solidFill>
                <a:latin typeface="Menlo"/>
              </a:rPr>
              <a:t>2</a:t>
            </a:r>
          </a:p>
        </p:txBody>
      </p:sp>
      <p:sp>
        <p:nvSpPr>
          <p:cNvPr id="15" name="TextBox 14"/>
          <p:cNvSpPr txBox="1"/>
          <p:nvPr/>
        </p:nvSpPr>
        <p:spPr>
          <a:xfrm>
            <a:off x="1280160" y="3945915"/>
            <a:ext cx="6217920" cy="327609"/>
          </a:xfrm>
          <a:prstGeom prst="rect">
            <a:avLst/>
          </a:prstGeom>
          <a:noFill/>
        </p:spPr>
        <p:txBody>
          <a:bodyPr wrap="square" lIns="0" rIns="0" tIns="0" bIns="0">
            <a:spAutoFit/>
          </a:bodyPr>
          <a:lstStyle/>
          <a:p>
            <a:pPr algn="l">
              <a:lnSpc>
                <a:spcPct val="130000"/>
              </a:lnSpc>
            </a:pPr>
            <a:r>
              <a:rPr sz="1400" b="1" i="0">
                <a:solidFill>
                  <a:srgbClr val="12161C"/>
                </a:solidFill>
                <a:latin typeface="Arial"/>
              </a:rPr>
              <a:t>Bounded SQL only if nothing fits</a:t>
            </a:r>
          </a:p>
        </p:txBody>
      </p:sp>
      <p:sp>
        <p:nvSpPr>
          <p:cNvPr id="16" name="TextBox 15"/>
          <p:cNvSpPr txBox="1"/>
          <p:nvPr/>
        </p:nvSpPr>
        <p:spPr>
          <a:xfrm>
            <a:off x="1280160" y="4220235"/>
            <a:ext cx="6217920" cy="726986"/>
          </a:xfrm>
          <a:prstGeom prst="rect">
            <a:avLst/>
          </a:prstGeom>
          <a:noFill/>
        </p:spPr>
        <p:txBody>
          <a:bodyPr wrap="square" lIns="0" rIns="0" tIns="0" bIns="0">
            <a:spAutoFit/>
          </a:bodyPr>
          <a:lstStyle/>
          <a:p>
            <a:pPr algn="l">
              <a:lnSpc>
                <a:spcPct val="130000"/>
              </a:lnSpc>
            </a:pPr>
            <a:r>
              <a:rPr sz="1150" b="0" i="0">
                <a:solidFill>
                  <a:srgbClr val="5A6472"/>
                </a:solidFill>
                <a:latin typeface="Arial"/>
              </a:rPr>
              <a:t>Read-only, allow-listed tables, and the period and business unit are injected by us as bound parameters — the model cannot widen its own slice to the whole database. Hard row cap and query timeout.</a:t>
            </a:r>
          </a:p>
        </p:txBody>
      </p:sp>
      <p:sp>
        <p:nvSpPr>
          <p:cNvPr id="17" name="Rectangle 16"/>
          <p:cNvSpPr/>
          <p:nvPr/>
        </p:nvSpPr>
        <p:spPr>
          <a:xfrm>
            <a:off x="566928" y="5212397"/>
            <a:ext cx="7132320" cy="1275626"/>
          </a:xfrm>
          <a:prstGeom prst="rect">
            <a:avLst/>
          </a:prstGeom>
          <a:solidFill>
            <a:srgbClr val="FFFFFF"/>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5212397"/>
            <a:ext cx="36576" cy="1275626"/>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 y="5395277"/>
            <a:ext cx="274320" cy="347091"/>
          </a:xfrm>
          <a:prstGeom prst="rect">
            <a:avLst/>
          </a:prstGeom>
          <a:noFill/>
        </p:spPr>
        <p:txBody>
          <a:bodyPr wrap="square" lIns="0" rIns="0" tIns="0" bIns="0">
            <a:spAutoFit/>
          </a:bodyPr>
          <a:lstStyle/>
          <a:p>
            <a:pPr algn="l">
              <a:lnSpc>
                <a:spcPct val="130000"/>
              </a:lnSpc>
            </a:pPr>
            <a:r>
              <a:rPr sz="1500" b="1" i="0">
                <a:solidFill>
                  <a:srgbClr val="8A93A0"/>
                </a:solidFill>
                <a:latin typeface="Menlo"/>
              </a:rPr>
              <a:t>3</a:t>
            </a:r>
          </a:p>
        </p:txBody>
      </p:sp>
      <p:sp>
        <p:nvSpPr>
          <p:cNvPr id="20" name="TextBox 19"/>
          <p:cNvSpPr txBox="1"/>
          <p:nvPr/>
        </p:nvSpPr>
        <p:spPr>
          <a:xfrm>
            <a:off x="1280160" y="5376989"/>
            <a:ext cx="6217920" cy="327609"/>
          </a:xfrm>
          <a:prstGeom prst="rect">
            <a:avLst/>
          </a:prstGeom>
          <a:noFill/>
        </p:spPr>
        <p:txBody>
          <a:bodyPr wrap="square" lIns="0" rIns="0" tIns="0" bIns="0">
            <a:spAutoFit/>
          </a:bodyPr>
          <a:lstStyle/>
          <a:p>
            <a:pPr algn="l">
              <a:lnSpc>
                <a:spcPct val="130000"/>
              </a:lnSpc>
            </a:pPr>
            <a:r>
              <a:rPr sz="1400" b="1" i="0">
                <a:solidFill>
                  <a:srgbClr val="12161C"/>
                </a:solidFill>
                <a:latin typeface="Arial"/>
              </a:rPr>
              <a:t>At most two attempts, then stop</a:t>
            </a:r>
          </a:p>
        </p:txBody>
      </p:sp>
      <p:sp>
        <p:nvSpPr>
          <p:cNvPr id="21" name="TextBox 20"/>
          <p:cNvSpPr txBox="1"/>
          <p:nvPr/>
        </p:nvSpPr>
        <p:spPr>
          <a:xfrm>
            <a:off x="1280160" y="5651309"/>
            <a:ext cx="6217920" cy="726986"/>
          </a:xfrm>
          <a:prstGeom prst="rect">
            <a:avLst/>
          </a:prstGeom>
          <a:noFill/>
        </p:spPr>
        <p:txBody>
          <a:bodyPr wrap="square" lIns="0" rIns="0" tIns="0" bIns="0">
            <a:spAutoFit/>
          </a:bodyPr>
          <a:lstStyle/>
          <a:p>
            <a:pPr algn="l">
              <a:lnSpc>
                <a:spcPct val="130000"/>
              </a:lnSpc>
            </a:pPr>
            <a:r>
              <a:rPr sz="1150" b="0" i="0">
                <a:solidFill>
                  <a:srgbClr val="5A6472"/>
                </a:solidFill>
                <a:latin typeface="Arial"/>
              </a:rPr>
              <a:t>A rejected query is fed its rejection reason once. If the second is still invalid we answer from the API facts and say the detail was unavailable — an agent that retries without limit turns one bad question into an unbounded bill.</a:t>
            </a:r>
          </a:p>
        </p:txBody>
      </p:sp>
      <p:sp>
        <p:nvSpPr>
          <p:cNvPr id="22" name="TextBox 21"/>
          <p:cNvSpPr txBox="1"/>
          <p:nvPr/>
        </p:nvSpPr>
        <p:spPr>
          <a:xfrm>
            <a:off x="8019288" y="2126208"/>
            <a:ext cx="3605479" cy="239941"/>
          </a:xfrm>
          <a:prstGeom prst="rect">
            <a:avLst/>
          </a:prstGeom>
          <a:noFill/>
        </p:spPr>
        <p:txBody>
          <a:bodyPr wrap="square" lIns="0" rIns="0" tIns="0" bIns="0">
            <a:spAutoFit/>
          </a:bodyPr>
          <a:lstStyle/>
          <a:p>
            <a:pPr algn="l">
              <a:lnSpc>
                <a:spcPct val="130000"/>
              </a:lnSpc>
            </a:pPr>
            <a:r>
              <a:rPr sz="950" b="1" i="0">
                <a:solidFill>
                  <a:srgbClr val="5A6472"/>
                </a:solidFill>
                <a:latin typeface="Menlo"/>
              </a:rPr>
              <a:t>FIELD NOTE — REASONING MODELS BILL THEIR THINKING</a:t>
            </a:r>
          </a:p>
        </p:txBody>
      </p:sp>
      <p:sp>
        <p:nvSpPr>
          <p:cNvPr id="23" name="TextBox 22"/>
          <p:cNvSpPr txBox="1"/>
          <p:nvPr/>
        </p:nvSpPr>
        <p:spPr>
          <a:xfrm>
            <a:off x="8019288" y="2400528"/>
            <a:ext cx="3559759" cy="841629"/>
          </a:xfrm>
          <a:prstGeom prst="rect">
            <a:avLst/>
          </a:prstGeom>
          <a:noFill/>
        </p:spPr>
        <p:txBody>
          <a:bodyPr wrap="square" lIns="0" rIns="0" tIns="0" bIns="0">
            <a:spAutoFit/>
          </a:bodyPr>
          <a:lstStyle/>
          <a:p>
            <a:pPr algn="l">
              <a:lnSpc>
                <a:spcPct val="140000"/>
              </a:lnSpc>
            </a:pPr>
            <a:r>
              <a:rPr sz="1250" b="0" i="0">
                <a:solidFill>
                  <a:srgbClr val="5A6472"/>
                </a:solidFill>
                <a:latin typeface="Arial"/>
              </a:rPr>
              <a:t>sarvam-105b emits a chain of thought into reasoning_content before any answer, and that thinking counts against max_tokens.</a:t>
            </a:r>
          </a:p>
        </p:txBody>
      </p:sp>
      <p:sp>
        <p:nvSpPr>
          <p:cNvPr id="24" name="TextBox 23"/>
          <p:cNvSpPr txBox="1"/>
          <p:nvPr/>
        </p:nvSpPr>
        <p:spPr>
          <a:xfrm>
            <a:off x="8019288" y="3479901"/>
            <a:ext cx="3559759" cy="1628394"/>
          </a:xfrm>
          <a:prstGeom prst="rect">
            <a:avLst/>
          </a:prstGeom>
          <a:noFill/>
        </p:spPr>
        <p:txBody>
          <a:bodyPr wrap="square" lIns="0" rIns="0" tIns="0" bIns="0">
            <a:spAutoFit/>
          </a:bodyPr>
          <a:lstStyle/>
          <a:p>
            <a:pPr algn="l">
              <a:lnSpc>
                <a:spcPct val="140000"/>
              </a:lnSpc>
            </a:pPr>
            <a:r>
              <a:rPr sz="1250" b="0" i="0">
                <a:solidFill>
                  <a:srgbClr val="5A6472"/>
                </a:solidFill>
                <a:latin typeface="Arial"/>
              </a:rPr>
              <a:t>Budgeting only for the answer length (220 tokens) meant every reply returned finish_reason: length with content: null — indistinguishable from “no model configured”, so the product silently ran on templates while reporting the LLM as active.</a:t>
            </a:r>
          </a:p>
        </p:txBody>
      </p:sp>
      <p:sp>
        <p:nvSpPr>
          <p:cNvPr id="25" name="Rectangle 24"/>
          <p:cNvSpPr/>
          <p:nvPr/>
        </p:nvSpPr>
        <p:spPr>
          <a:xfrm>
            <a:off x="8019288" y="5419191"/>
            <a:ext cx="3559759" cy="749808"/>
          </a:xfrm>
          <a:prstGeom prst="rect">
            <a:avLst/>
          </a:prstGeom>
          <a:solidFill>
            <a:srgbClr val="FAF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38744" y="5602071"/>
            <a:ext cx="3102559" cy="561390"/>
          </a:xfrm>
          <a:prstGeom prst="rect">
            <a:avLst/>
          </a:prstGeom>
          <a:noFill/>
        </p:spPr>
        <p:txBody>
          <a:bodyPr wrap="square" lIns="0" rIns="0" tIns="0" bIns="0">
            <a:spAutoFit/>
          </a:bodyPr>
          <a:lstStyle/>
          <a:p>
            <a:pPr algn="l">
              <a:lnSpc>
                <a:spcPct val="130000"/>
              </a:lnSpc>
            </a:pPr>
            <a:r>
              <a:rPr sz="1300" b="0" i="0">
                <a:solidFill>
                  <a:srgbClr val="B4741A"/>
                </a:solidFill>
                <a:latin typeface="Arial"/>
              </a:rPr>
              <a:t>Measured cost of answering </a:t>
            </a:r>
            <a:r>
              <a:rPr sz="1300" b="0" i="1">
                <a:solidFill>
                  <a:srgbClr val="B4741A"/>
                </a:solidFill>
                <a:latin typeface="Arial"/>
              </a:rPr>
              <a:t>“say OK”</a:t>
            </a:r>
            <a:r>
              <a:rPr sz="1300" b="0" i="0">
                <a:solidFill>
                  <a:srgbClr val="B4741A"/>
                </a:solidFill>
                <a:latin typeface="Arial"/>
              </a:rPr>
              <a:t>: </a:t>
            </a:r>
            <a:r>
              <a:rPr sz="1300" b="1" i="0">
                <a:solidFill>
                  <a:srgbClr val="B4741A"/>
                </a:solidFill>
                <a:latin typeface="Arial"/>
              </a:rPr>
              <a:t>566 tokens</a:t>
            </a:r>
          </a:p>
        </p:txBody>
      </p:sp>
      <p:sp>
        <p:nvSpPr>
          <p:cNvPr id="27" name="TextBox 26"/>
          <p:cNvSpPr txBox="1"/>
          <p:nvPr/>
        </p:nvSpPr>
        <p:spPr>
          <a:xfrm>
            <a:off x="566928" y="6455664"/>
            <a:ext cx="11057839" cy="230200"/>
          </a:xfrm>
          <a:prstGeom prst="rect">
            <a:avLst/>
          </a:prstGeom>
          <a:noFill/>
        </p:spPr>
        <p:txBody>
          <a:bodyPr wrap="square" lIns="0" rIns="0" tIns="0" bIns="0">
            <a:spAutoFit/>
          </a:bodyPr>
          <a:lstStyle/>
          <a:p>
            <a:pPr algn="ctr">
              <a:lnSpc>
                <a:spcPct val="130000"/>
              </a:lnSpc>
            </a:pPr>
            <a:r>
              <a:rPr sz="900" b="0" i="0">
                <a:solidFill>
                  <a:srgbClr val="8A93A0"/>
                </a:solidFill>
                <a:latin typeface="Menlo"/>
              </a:rPr>
              <a:t>RouteMind · figures computed live from the loaded dataset, 5 September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48640"/>
            <a:ext cx="457200" cy="288645"/>
          </a:xfrm>
          <a:prstGeom prst="rect">
            <a:avLst/>
          </a:prstGeom>
          <a:noFill/>
        </p:spPr>
        <p:txBody>
          <a:bodyPr wrap="square" lIns="0" rIns="0" tIns="0" bIns="0">
            <a:spAutoFit/>
          </a:bodyPr>
          <a:lstStyle/>
          <a:p>
            <a:pPr algn="l">
              <a:lnSpc>
                <a:spcPct val="130000"/>
              </a:lnSpc>
            </a:pPr>
            <a:r>
              <a:rPr sz="1200" b="1" i="0">
                <a:solidFill>
                  <a:srgbClr val="1F5FA8"/>
                </a:solidFill>
                <a:latin typeface="Menlo"/>
              </a:rPr>
              <a:t>03</a:t>
            </a:r>
          </a:p>
        </p:txBody>
      </p:sp>
      <p:sp>
        <p:nvSpPr>
          <p:cNvPr id="4" name="TextBox 3"/>
          <p:cNvSpPr txBox="1"/>
          <p:nvPr/>
        </p:nvSpPr>
        <p:spPr>
          <a:xfrm>
            <a:off x="1097280" y="475488"/>
            <a:ext cx="10509199" cy="239941"/>
          </a:xfrm>
          <a:prstGeom prst="rect">
            <a:avLst/>
          </a:prstGeom>
          <a:noFill/>
        </p:spPr>
        <p:txBody>
          <a:bodyPr wrap="square" lIns="0" rIns="0" tIns="0" bIns="0">
            <a:spAutoFit/>
          </a:bodyPr>
          <a:lstStyle/>
          <a:p>
            <a:pPr algn="l">
              <a:lnSpc>
                <a:spcPct val="130000"/>
              </a:lnSpc>
            </a:pPr>
            <a:r>
              <a:rPr sz="950" b="0" i="0">
                <a:solidFill>
                  <a:srgbClr val="8A93A0"/>
                </a:solidFill>
                <a:latin typeface="Menlo"/>
              </a:rPr>
              <a:t>THE MODEL'S JOB</a:t>
            </a:r>
          </a:p>
        </p:txBody>
      </p:sp>
      <p:sp>
        <p:nvSpPr>
          <p:cNvPr id="5" name="TextBox 4"/>
          <p:cNvSpPr txBox="1"/>
          <p:nvPr/>
        </p:nvSpPr>
        <p:spPr>
          <a:xfrm>
            <a:off x="1097280" y="667512"/>
            <a:ext cx="10509199" cy="479717"/>
          </a:xfrm>
          <a:prstGeom prst="rect">
            <a:avLst/>
          </a:prstGeom>
          <a:noFill/>
        </p:spPr>
        <p:txBody>
          <a:bodyPr wrap="square" lIns="0" rIns="0" tIns="0" bIns="0">
            <a:spAutoFit/>
          </a:bodyPr>
          <a:lstStyle/>
          <a:p>
            <a:pPr algn="l">
              <a:lnSpc>
                <a:spcPct val="105000"/>
              </a:lnSpc>
            </a:pPr>
            <a:r>
              <a:rPr sz="2700" b="1" i="0">
                <a:solidFill>
                  <a:srgbClr val="12161C"/>
                </a:solidFill>
                <a:latin typeface="Arial"/>
              </a:rPr>
              <a:t>What the LLM does — and never does</a:t>
            </a:r>
          </a:p>
        </p:txBody>
      </p:sp>
      <p:sp>
        <p:nvSpPr>
          <p:cNvPr id="6" name="Rectangle 5"/>
          <p:cNvSpPr/>
          <p:nvPr/>
        </p:nvSpPr>
        <p:spPr>
          <a:xfrm>
            <a:off x="566928" y="1435608"/>
            <a:ext cx="5623560" cy="3017520"/>
          </a:xfrm>
          <a:prstGeom prst="rect">
            <a:avLst/>
          </a:prstGeom>
          <a:solidFill>
            <a:srgbClr val="FFFFFF"/>
          </a:solidFill>
          <a:ln w="9525">
            <a:solidFill>
              <a:srgbClr val="C3C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435608"/>
            <a:ext cx="5623560" cy="45720"/>
          </a:xfrm>
          <a:prstGeom prst="rect">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1746504"/>
            <a:ext cx="5001768" cy="239941"/>
          </a:xfrm>
          <a:prstGeom prst="rect">
            <a:avLst/>
          </a:prstGeom>
          <a:noFill/>
        </p:spPr>
        <p:txBody>
          <a:bodyPr wrap="square" lIns="0" rIns="0" tIns="0" bIns="0">
            <a:spAutoFit/>
          </a:bodyPr>
          <a:lstStyle/>
          <a:p>
            <a:pPr algn="l">
              <a:lnSpc>
                <a:spcPct val="130000"/>
              </a:lnSpc>
            </a:pPr>
            <a:r>
              <a:rPr sz="950" b="1" i="0">
                <a:solidFill>
                  <a:srgbClr val="2E6B4F"/>
                </a:solidFill>
                <a:latin typeface="Menlo"/>
              </a:rPr>
              <a:t>DOES</a:t>
            </a:r>
          </a:p>
        </p:txBody>
      </p:sp>
      <p:sp>
        <p:nvSpPr>
          <p:cNvPr id="9" name="TextBox 8"/>
          <p:cNvSpPr txBox="1"/>
          <p:nvPr/>
        </p:nvSpPr>
        <p:spPr>
          <a:xfrm>
            <a:off x="877824" y="2093976"/>
            <a:ext cx="219456" cy="308127"/>
          </a:xfrm>
          <a:prstGeom prst="rect">
            <a:avLst/>
          </a:prstGeom>
          <a:noFill/>
        </p:spPr>
        <p:txBody>
          <a:bodyPr wrap="square" lIns="0" rIns="0" tIns="0" bIns="0">
            <a:spAutoFit/>
          </a:bodyPr>
          <a:lstStyle/>
          <a:p>
            <a:pPr algn="l">
              <a:lnSpc>
                <a:spcPct val="130000"/>
              </a:lnSpc>
            </a:pPr>
            <a:r>
              <a:rPr sz="1300" b="1" i="0">
                <a:solidFill>
                  <a:srgbClr val="2E6B4F"/>
                </a:solidFill>
                <a:latin typeface="Menlo"/>
              </a:rPr>
              <a:t>✓</a:t>
            </a:r>
          </a:p>
        </p:txBody>
      </p:sp>
      <p:sp>
        <p:nvSpPr>
          <p:cNvPr id="10" name="TextBox 9"/>
          <p:cNvSpPr txBox="1"/>
          <p:nvPr/>
        </p:nvSpPr>
        <p:spPr>
          <a:xfrm>
            <a:off x="1152144" y="2093976"/>
            <a:ext cx="4727448" cy="561390"/>
          </a:xfrm>
          <a:prstGeom prst="rect">
            <a:avLst/>
          </a:prstGeom>
          <a:noFill/>
        </p:spPr>
        <p:txBody>
          <a:bodyPr wrap="square" lIns="0" rIns="0" tIns="0" bIns="0">
            <a:spAutoFit/>
          </a:bodyPr>
          <a:lstStyle/>
          <a:p>
            <a:pPr algn="l">
              <a:lnSpc>
                <a:spcPct val="130000"/>
              </a:lnSpc>
            </a:pPr>
            <a:r>
              <a:rPr sz="1300" b="0" i="0">
                <a:solidFill>
                  <a:srgbClr val="12161C"/>
                </a:solidFill>
                <a:latin typeface="Arial"/>
              </a:rPr>
              <a:t>Classify </a:t>
            </a:r>
            <a:r>
              <a:rPr sz="1300" b="1" i="0">
                <a:solidFill>
                  <a:srgbClr val="12161C"/>
                </a:solidFill>
                <a:latin typeface="Arial"/>
              </a:rPr>
              <a:t>who is asking</a:t>
            </a:r>
            <a:r>
              <a:rPr sz="1300" b="0" i="0">
                <a:solidFill>
                  <a:srgbClr val="12161C"/>
                </a:solidFill>
                <a:latin typeface="Arial"/>
              </a:rPr>
              <a:t> from a free-text question, and frame the answer for them</a:t>
            </a:r>
          </a:p>
        </p:txBody>
      </p:sp>
      <p:sp>
        <p:nvSpPr>
          <p:cNvPr id="11" name="TextBox 10"/>
          <p:cNvSpPr txBox="1"/>
          <p:nvPr/>
        </p:nvSpPr>
        <p:spPr>
          <a:xfrm>
            <a:off x="877824" y="2838246"/>
            <a:ext cx="219456" cy="308127"/>
          </a:xfrm>
          <a:prstGeom prst="rect">
            <a:avLst/>
          </a:prstGeom>
          <a:noFill/>
        </p:spPr>
        <p:txBody>
          <a:bodyPr wrap="square" lIns="0" rIns="0" tIns="0" bIns="0">
            <a:spAutoFit/>
          </a:bodyPr>
          <a:lstStyle/>
          <a:p>
            <a:pPr algn="l">
              <a:lnSpc>
                <a:spcPct val="130000"/>
              </a:lnSpc>
            </a:pPr>
            <a:r>
              <a:rPr sz="1300" b="1" i="0">
                <a:solidFill>
                  <a:srgbClr val="2E6B4F"/>
                </a:solidFill>
                <a:latin typeface="Menlo"/>
              </a:rPr>
              <a:t>✓</a:t>
            </a:r>
          </a:p>
        </p:txBody>
      </p:sp>
      <p:sp>
        <p:nvSpPr>
          <p:cNvPr id="12" name="TextBox 11"/>
          <p:cNvSpPr txBox="1"/>
          <p:nvPr/>
        </p:nvSpPr>
        <p:spPr>
          <a:xfrm>
            <a:off x="1152144" y="2838246"/>
            <a:ext cx="4727448" cy="308127"/>
          </a:xfrm>
          <a:prstGeom prst="rect">
            <a:avLst/>
          </a:prstGeom>
          <a:noFill/>
        </p:spPr>
        <p:txBody>
          <a:bodyPr wrap="square" lIns="0" rIns="0" tIns="0" bIns="0">
            <a:spAutoFit/>
          </a:bodyPr>
          <a:lstStyle/>
          <a:p>
            <a:pPr algn="l">
              <a:lnSpc>
                <a:spcPct val="130000"/>
              </a:lnSpc>
            </a:pPr>
            <a:r>
              <a:rPr sz="1300" b="0" i="0">
                <a:solidFill>
                  <a:srgbClr val="12161C"/>
                </a:solidFill>
                <a:latin typeface="Arial"/>
              </a:rPr>
              <a:t>Turn a finished decomposition into 2–4 readable sentences</a:t>
            </a:r>
          </a:p>
        </p:txBody>
      </p:sp>
      <p:sp>
        <p:nvSpPr>
          <p:cNvPr id="13" name="TextBox 12"/>
          <p:cNvSpPr txBox="1"/>
          <p:nvPr/>
        </p:nvSpPr>
        <p:spPr>
          <a:xfrm>
            <a:off x="877824" y="3329254"/>
            <a:ext cx="219456" cy="308127"/>
          </a:xfrm>
          <a:prstGeom prst="rect">
            <a:avLst/>
          </a:prstGeom>
          <a:noFill/>
        </p:spPr>
        <p:txBody>
          <a:bodyPr wrap="square" lIns="0" rIns="0" tIns="0" bIns="0">
            <a:spAutoFit/>
          </a:bodyPr>
          <a:lstStyle/>
          <a:p>
            <a:pPr algn="l">
              <a:lnSpc>
                <a:spcPct val="130000"/>
              </a:lnSpc>
            </a:pPr>
            <a:r>
              <a:rPr sz="1300" b="1" i="0">
                <a:solidFill>
                  <a:srgbClr val="2E6B4F"/>
                </a:solidFill>
                <a:latin typeface="Menlo"/>
              </a:rPr>
              <a:t>✓</a:t>
            </a:r>
          </a:p>
        </p:txBody>
      </p:sp>
      <p:sp>
        <p:nvSpPr>
          <p:cNvPr id="14" name="TextBox 13"/>
          <p:cNvSpPr txBox="1"/>
          <p:nvPr/>
        </p:nvSpPr>
        <p:spPr>
          <a:xfrm>
            <a:off x="1152144" y="3329254"/>
            <a:ext cx="4727448" cy="561390"/>
          </a:xfrm>
          <a:prstGeom prst="rect">
            <a:avLst/>
          </a:prstGeom>
          <a:noFill/>
        </p:spPr>
        <p:txBody>
          <a:bodyPr wrap="square" lIns="0" rIns="0" tIns="0" bIns="0">
            <a:spAutoFit/>
          </a:bodyPr>
          <a:lstStyle/>
          <a:p>
            <a:pPr algn="l">
              <a:lnSpc>
                <a:spcPct val="130000"/>
              </a:lnSpc>
            </a:pPr>
            <a:r>
              <a:rPr sz="1300" b="0" i="0">
                <a:solidFill>
                  <a:srgbClr val="12161C"/>
                </a:solidFill>
                <a:latin typeface="Arial"/>
              </a:rPr>
              <a:t>Preserve caveats it was handed (e.g. an unconfirmed attribution)</a:t>
            </a:r>
          </a:p>
        </p:txBody>
      </p:sp>
      <p:sp>
        <p:nvSpPr>
          <p:cNvPr id="15" name="TextBox 14"/>
          <p:cNvSpPr txBox="1"/>
          <p:nvPr/>
        </p:nvSpPr>
        <p:spPr>
          <a:xfrm>
            <a:off x="877824" y="4073524"/>
            <a:ext cx="219456" cy="308127"/>
          </a:xfrm>
          <a:prstGeom prst="rect">
            <a:avLst/>
          </a:prstGeom>
          <a:noFill/>
        </p:spPr>
        <p:txBody>
          <a:bodyPr wrap="square" lIns="0" rIns="0" tIns="0" bIns="0">
            <a:spAutoFit/>
          </a:bodyPr>
          <a:lstStyle/>
          <a:p>
            <a:pPr algn="l">
              <a:lnSpc>
                <a:spcPct val="130000"/>
              </a:lnSpc>
            </a:pPr>
            <a:r>
              <a:rPr sz="1300" b="1" i="0">
                <a:solidFill>
                  <a:srgbClr val="2E6B4F"/>
                </a:solidFill>
                <a:latin typeface="Menlo"/>
              </a:rPr>
              <a:t>✓</a:t>
            </a:r>
          </a:p>
        </p:txBody>
      </p:sp>
      <p:sp>
        <p:nvSpPr>
          <p:cNvPr id="16" name="TextBox 15"/>
          <p:cNvSpPr txBox="1"/>
          <p:nvPr/>
        </p:nvSpPr>
        <p:spPr>
          <a:xfrm>
            <a:off x="1152144" y="4073524"/>
            <a:ext cx="4727448" cy="308127"/>
          </a:xfrm>
          <a:prstGeom prst="rect">
            <a:avLst/>
          </a:prstGeom>
          <a:noFill/>
        </p:spPr>
        <p:txBody>
          <a:bodyPr wrap="square" lIns="0" rIns="0" tIns="0" bIns="0">
            <a:spAutoFit/>
          </a:bodyPr>
          <a:lstStyle/>
          <a:p>
            <a:pPr algn="l">
              <a:lnSpc>
                <a:spcPct val="130000"/>
              </a:lnSpc>
            </a:pPr>
            <a:r>
              <a:rPr sz="1300" b="0" i="0">
                <a:solidFill>
                  <a:srgbClr val="12161C"/>
                </a:solidFill>
                <a:latin typeface="Arial"/>
              </a:rPr>
              <a:t>Interpret an unfamiliar column during vendor onboarding</a:t>
            </a:r>
          </a:p>
        </p:txBody>
      </p:sp>
      <p:sp>
        <p:nvSpPr>
          <p:cNvPr id="17" name="TextBox 16"/>
          <p:cNvSpPr txBox="1"/>
          <p:nvPr/>
        </p:nvSpPr>
        <p:spPr>
          <a:xfrm>
            <a:off x="877824" y="4564532"/>
            <a:ext cx="219456" cy="308127"/>
          </a:xfrm>
          <a:prstGeom prst="rect">
            <a:avLst/>
          </a:prstGeom>
          <a:noFill/>
        </p:spPr>
        <p:txBody>
          <a:bodyPr wrap="square" lIns="0" rIns="0" tIns="0" bIns="0">
            <a:spAutoFit/>
          </a:bodyPr>
          <a:lstStyle/>
          <a:p>
            <a:pPr algn="l">
              <a:lnSpc>
                <a:spcPct val="130000"/>
              </a:lnSpc>
            </a:pPr>
            <a:r>
              <a:rPr sz="1300" b="1" i="0">
                <a:solidFill>
                  <a:srgbClr val="2E6B4F"/>
                </a:solidFill>
                <a:latin typeface="Menlo"/>
              </a:rPr>
              <a:t>✓</a:t>
            </a:r>
          </a:p>
        </p:txBody>
      </p:sp>
      <p:sp>
        <p:nvSpPr>
          <p:cNvPr id="18" name="TextBox 17"/>
          <p:cNvSpPr txBox="1"/>
          <p:nvPr/>
        </p:nvSpPr>
        <p:spPr>
          <a:xfrm>
            <a:off x="1152144" y="4564532"/>
            <a:ext cx="4727448" cy="308127"/>
          </a:xfrm>
          <a:prstGeom prst="rect">
            <a:avLst/>
          </a:prstGeom>
          <a:noFill/>
        </p:spPr>
        <p:txBody>
          <a:bodyPr wrap="square" lIns="0" rIns="0" tIns="0" bIns="0">
            <a:spAutoFit/>
          </a:bodyPr>
          <a:lstStyle/>
          <a:p>
            <a:pPr algn="l">
              <a:lnSpc>
                <a:spcPct val="130000"/>
              </a:lnSpc>
            </a:pPr>
            <a:r>
              <a:rPr sz="1300" b="0" i="0">
                <a:solidFill>
                  <a:srgbClr val="12161C"/>
                </a:solidFill>
                <a:latin typeface="Arial"/>
              </a:rPr>
              <a:t>Choose </a:t>
            </a:r>
            <a:r>
              <a:rPr sz="1300" b="1" i="0">
                <a:solidFill>
                  <a:srgbClr val="12161C"/>
                </a:solidFill>
                <a:latin typeface="Arial"/>
              </a:rPr>
              <a:t>which</a:t>
            </a:r>
            <a:r>
              <a:rPr sz="1300" b="0" i="0">
                <a:solidFill>
                  <a:srgbClr val="12161C"/>
                </a:solidFill>
                <a:latin typeface="Arial"/>
              </a:rPr>
              <a:t> analysis answers the question</a:t>
            </a:r>
          </a:p>
        </p:txBody>
      </p:sp>
      <p:sp>
        <p:nvSpPr>
          <p:cNvPr id="19" name="Rectangle 18"/>
          <p:cNvSpPr/>
          <p:nvPr/>
        </p:nvSpPr>
        <p:spPr>
          <a:xfrm>
            <a:off x="6556248" y="1435608"/>
            <a:ext cx="5623560" cy="3017520"/>
          </a:xfrm>
          <a:prstGeom prst="rect">
            <a:avLst/>
          </a:prstGeom>
          <a:solidFill>
            <a:srgbClr val="FFFFFF"/>
          </a:solidFill>
          <a:ln w="9525">
            <a:solidFill>
              <a:srgbClr val="C3C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56248" y="1435608"/>
            <a:ext cx="5623560" cy="45720"/>
          </a:xfrm>
          <a:prstGeom prst="rect">
            <a:avLst/>
          </a:prstGeom>
          <a:solidFill>
            <a:srgbClr val="A63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67144" y="1746504"/>
            <a:ext cx="5001768" cy="239941"/>
          </a:xfrm>
          <a:prstGeom prst="rect">
            <a:avLst/>
          </a:prstGeom>
          <a:noFill/>
        </p:spPr>
        <p:txBody>
          <a:bodyPr wrap="square" lIns="0" rIns="0" tIns="0" bIns="0">
            <a:spAutoFit/>
          </a:bodyPr>
          <a:lstStyle/>
          <a:p>
            <a:pPr algn="l">
              <a:lnSpc>
                <a:spcPct val="130000"/>
              </a:lnSpc>
            </a:pPr>
            <a:r>
              <a:rPr sz="950" b="1" i="0">
                <a:solidFill>
                  <a:srgbClr val="A63328"/>
                </a:solidFill>
                <a:latin typeface="Menlo"/>
              </a:rPr>
              <a:t>NEVER</a:t>
            </a:r>
          </a:p>
        </p:txBody>
      </p:sp>
      <p:sp>
        <p:nvSpPr>
          <p:cNvPr id="22" name="TextBox 21"/>
          <p:cNvSpPr txBox="1"/>
          <p:nvPr/>
        </p:nvSpPr>
        <p:spPr>
          <a:xfrm>
            <a:off x="6867144" y="2093976"/>
            <a:ext cx="219456" cy="308127"/>
          </a:xfrm>
          <a:prstGeom prst="rect">
            <a:avLst/>
          </a:prstGeom>
          <a:noFill/>
        </p:spPr>
        <p:txBody>
          <a:bodyPr wrap="square" lIns="0" rIns="0" tIns="0" bIns="0">
            <a:spAutoFit/>
          </a:bodyPr>
          <a:lstStyle/>
          <a:p>
            <a:pPr algn="l">
              <a:lnSpc>
                <a:spcPct val="130000"/>
              </a:lnSpc>
            </a:pPr>
            <a:r>
              <a:rPr sz="1300" b="1" i="0">
                <a:solidFill>
                  <a:srgbClr val="A63328"/>
                </a:solidFill>
                <a:latin typeface="Menlo"/>
              </a:rPr>
              <a:t>✕</a:t>
            </a:r>
          </a:p>
        </p:txBody>
      </p:sp>
      <p:sp>
        <p:nvSpPr>
          <p:cNvPr id="23" name="TextBox 22"/>
          <p:cNvSpPr txBox="1"/>
          <p:nvPr/>
        </p:nvSpPr>
        <p:spPr>
          <a:xfrm>
            <a:off x="7141464" y="2093976"/>
            <a:ext cx="4727448" cy="561390"/>
          </a:xfrm>
          <a:prstGeom prst="rect">
            <a:avLst/>
          </a:prstGeom>
          <a:noFill/>
        </p:spPr>
        <p:txBody>
          <a:bodyPr wrap="square" lIns="0" rIns="0" tIns="0" bIns="0">
            <a:spAutoFit/>
          </a:bodyPr>
          <a:lstStyle/>
          <a:p>
            <a:pPr algn="l">
              <a:lnSpc>
                <a:spcPct val="130000"/>
              </a:lnSpc>
            </a:pPr>
            <a:r>
              <a:rPr sz="1300" b="0" i="0">
                <a:solidFill>
                  <a:srgbClr val="12161C"/>
                </a:solidFill>
                <a:latin typeface="Arial"/>
              </a:rPr>
              <a:t>Compute, round or restate a number that isn't in its fact sheet</a:t>
            </a:r>
          </a:p>
        </p:txBody>
      </p:sp>
      <p:sp>
        <p:nvSpPr>
          <p:cNvPr id="24" name="TextBox 23"/>
          <p:cNvSpPr txBox="1"/>
          <p:nvPr/>
        </p:nvSpPr>
        <p:spPr>
          <a:xfrm>
            <a:off x="6867144" y="2838246"/>
            <a:ext cx="219456" cy="308127"/>
          </a:xfrm>
          <a:prstGeom prst="rect">
            <a:avLst/>
          </a:prstGeom>
          <a:noFill/>
        </p:spPr>
        <p:txBody>
          <a:bodyPr wrap="square" lIns="0" rIns="0" tIns="0" bIns="0">
            <a:spAutoFit/>
          </a:bodyPr>
          <a:lstStyle/>
          <a:p>
            <a:pPr algn="l">
              <a:lnSpc>
                <a:spcPct val="130000"/>
              </a:lnSpc>
            </a:pPr>
            <a:r>
              <a:rPr sz="1300" b="1" i="0">
                <a:solidFill>
                  <a:srgbClr val="A63328"/>
                </a:solidFill>
                <a:latin typeface="Menlo"/>
              </a:rPr>
              <a:t>✕</a:t>
            </a:r>
          </a:p>
        </p:txBody>
      </p:sp>
      <p:sp>
        <p:nvSpPr>
          <p:cNvPr id="25" name="TextBox 24"/>
          <p:cNvSpPr txBox="1"/>
          <p:nvPr/>
        </p:nvSpPr>
        <p:spPr>
          <a:xfrm>
            <a:off x="7141464" y="2838246"/>
            <a:ext cx="4727448" cy="308127"/>
          </a:xfrm>
          <a:prstGeom prst="rect">
            <a:avLst/>
          </a:prstGeom>
          <a:noFill/>
        </p:spPr>
        <p:txBody>
          <a:bodyPr wrap="square" lIns="0" rIns="0" tIns="0" bIns="0">
            <a:spAutoFit/>
          </a:bodyPr>
          <a:lstStyle/>
          <a:p>
            <a:pPr algn="l">
              <a:lnSpc>
                <a:spcPct val="130000"/>
              </a:lnSpc>
            </a:pPr>
            <a:r>
              <a:rPr sz="1300" b="0" i="0">
                <a:solidFill>
                  <a:srgbClr val="12161C"/>
                </a:solidFill>
                <a:latin typeface="Arial"/>
              </a:rPr>
              <a:t>Query the database or choose which API to call</a:t>
            </a:r>
          </a:p>
        </p:txBody>
      </p:sp>
      <p:sp>
        <p:nvSpPr>
          <p:cNvPr id="26" name="TextBox 25"/>
          <p:cNvSpPr txBox="1"/>
          <p:nvPr/>
        </p:nvSpPr>
        <p:spPr>
          <a:xfrm>
            <a:off x="6867144" y="3329254"/>
            <a:ext cx="219456" cy="308127"/>
          </a:xfrm>
          <a:prstGeom prst="rect">
            <a:avLst/>
          </a:prstGeom>
          <a:noFill/>
        </p:spPr>
        <p:txBody>
          <a:bodyPr wrap="square" lIns="0" rIns="0" tIns="0" bIns="0">
            <a:spAutoFit/>
          </a:bodyPr>
          <a:lstStyle/>
          <a:p>
            <a:pPr algn="l">
              <a:lnSpc>
                <a:spcPct val="130000"/>
              </a:lnSpc>
            </a:pPr>
            <a:r>
              <a:rPr sz="1300" b="1" i="0">
                <a:solidFill>
                  <a:srgbClr val="A63328"/>
                </a:solidFill>
                <a:latin typeface="Menlo"/>
              </a:rPr>
              <a:t>✕</a:t>
            </a:r>
          </a:p>
        </p:txBody>
      </p:sp>
      <p:sp>
        <p:nvSpPr>
          <p:cNvPr id="27" name="TextBox 26"/>
          <p:cNvSpPr txBox="1"/>
          <p:nvPr/>
        </p:nvSpPr>
        <p:spPr>
          <a:xfrm>
            <a:off x="7141464" y="3329254"/>
            <a:ext cx="4727448" cy="561390"/>
          </a:xfrm>
          <a:prstGeom prst="rect">
            <a:avLst/>
          </a:prstGeom>
          <a:noFill/>
        </p:spPr>
        <p:txBody>
          <a:bodyPr wrap="square" lIns="0" rIns="0" tIns="0" bIns="0">
            <a:spAutoFit/>
          </a:bodyPr>
          <a:lstStyle/>
          <a:p>
            <a:pPr algn="l">
              <a:lnSpc>
                <a:spcPct val="130000"/>
              </a:lnSpc>
            </a:pPr>
            <a:r>
              <a:rPr sz="1300" b="0" i="0">
                <a:solidFill>
                  <a:srgbClr val="12161C"/>
                </a:solidFill>
                <a:latin typeface="Arial"/>
              </a:rPr>
              <a:t>Decide which metric is degrading or what the root cause is</a:t>
            </a:r>
          </a:p>
        </p:txBody>
      </p:sp>
      <p:sp>
        <p:nvSpPr>
          <p:cNvPr id="28" name="TextBox 27"/>
          <p:cNvSpPr txBox="1"/>
          <p:nvPr/>
        </p:nvSpPr>
        <p:spPr>
          <a:xfrm>
            <a:off x="6867144" y="4073524"/>
            <a:ext cx="219456" cy="308127"/>
          </a:xfrm>
          <a:prstGeom prst="rect">
            <a:avLst/>
          </a:prstGeom>
          <a:noFill/>
        </p:spPr>
        <p:txBody>
          <a:bodyPr wrap="square" lIns="0" rIns="0" tIns="0" bIns="0">
            <a:spAutoFit/>
          </a:bodyPr>
          <a:lstStyle/>
          <a:p>
            <a:pPr algn="l">
              <a:lnSpc>
                <a:spcPct val="130000"/>
              </a:lnSpc>
            </a:pPr>
            <a:r>
              <a:rPr sz="1300" b="1" i="0">
                <a:solidFill>
                  <a:srgbClr val="A63328"/>
                </a:solidFill>
                <a:latin typeface="Menlo"/>
              </a:rPr>
              <a:t>✕</a:t>
            </a:r>
          </a:p>
        </p:txBody>
      </p:sp>
      <p:sp>
        <p:nvSpPr>
          <p:cNvPr id="29" name="TextBox 28"/>
          <p:cNvSpPr txBox="1"/>
          <p:nvPr/>
        </p:nvSpPr>
        <p:spPr>
          <a:xfrm>
            <a:off x="7141464" y="4073524"/>
            <a:ext cx="4727448" cy="561390"/>
          </a:xfrm>
          <a:prstGeom prst="rect">
            <a:avLst/>
          </a:prstGeom>
          <a:noFill/>
        </p:spPr>
        <p:txBody>
          <a:bodyPr wrap="square" lIns="0" rIns="0" tIns="0" bIns="0">
            <a:spAutoFit/>
          </a:bodyPr>
          <a:lstStyle/>
          <a:p>
            <a:pPr algn="l">
              <a:lnSpc>
                <a:spcPct val="130000"/>
              </a:lnSpc>
            </a:pPr>
            <a:r>
              <a:rPr sz="1300" b="0" i="0">
                <a:solidFill>
                  <a:srgbClr val="12161C"/>
                </a:solidFill>
                <a:latin typeface="Arial"/>
              </a:rPr>
              <a:t>Block an answer — every path falls back to deterministic text</a:t>
            </a:r>
          </a:p>
        </p:txBody>
      </p:sp>
      <p:sp>
        <p:nvSpPr>
          <p:cNvPr id="30" name="TextBox 29"/>
          <p:cNvSpPr txBox="1"/>
          <p:nvPr/>
        </p:nvSpPr>
        <p:spPr>
          <a:xfrm>
            <a:off x="6867144" y="4817795"/>
            <a:ext cx="219456" cy="308127"/>
          </a:xfrm>
          <a:prstGeom prst="rect">
            <a:avLst/>
          </a:prstGeom>
          <a:noFill/>
        </p:spPr>
        <p:txBody>
          <a:bodyPr wrap="square" lIns="0" rIns="0" tIns="0" bIns="0">
            <a:spAutoFit/>
          </a:bodyPr>
          <a:lstStyle/>
          <a:p>
            <a:pPr algn="l">
              <a:lnSpc>
                <a:spcPct val="130000"/>
              </a:lnSpc>
            </a:pPr>
            <a:r>
              <a:rPr sz="1300" b="1" i="0">
                <a:solidFill>
                  <a:srgbClr val="A63328"/>
                </a:solidFill>
                <a:latin typeface="Menlo"/>
              </a:rPr>
              <a:t>✕</a:t>
            </a:r>
          </a:p>
        </p:txBody>
      </p:sp>
      <p:sp>
        <p:nvSpPr>
          <p:cNvPr id="31" name="TextBox 30"/>
          <p:cNvSpPr txBox="1"/>
          <p:nvPr/>
        </p:nvSpPr>
        <p:spPr>
          <a:xfrm>
            <a:off x="7141464" y="4817795"/>
            <a:ext cx="4727448" cy="308127"/>
          </a:xfrm>
          <a:prstGeom prst="rect">
            <a:avLst/>
          </a:prstGeom>
          <a:noFill/>
        </p:spPr>
        <p:txBody>
          <a:bodyPr wrap="square" lIns="0" rIns="0" tIns="0" bIns="0">
            <a:spAutoFit/>
          </a:bodyPr>
          <a:lstStyle/>
          <a:p>
            <a:pPr algn="l">
              <a:lnSpc>
                <a:spcPct val="130000"/>
              </a:lnSpc>
            </a:pPr>
            <a:r>
              <a:rPr sz="1300" b="0" i="0">
                <a:solidFill>
                  <a:srgbClr val="12161C"/>
                </a:solidFill>
                <a:latin typeface="Arial"/>
              </a:rPr>
              <a:t>Answer from the internet or general knowledge</a:t>
            </a:r>
          </a:p>
        </p:txBody>
      </p:sp>
      <p:sp>
        <p:nvSpPr>
          <p:cNvPr id="32" name="TextBox 31"/>
          <p:cNvSpPr txBox="1"/>
          <p:nvPr/>
        </p:nvSpPr>
        <p:spPr>
          <a:xfrm>
            <a:off x="566928" y="4864608"/>
            <a:ext cx="11057839" cy="239941"/>
          </a:xfrm>
          <a:prstGeom prst="rect">
            <a:avLst/>
          </a:prstGeom>
          <a:noFill/>
        </p:spPr>
        <p:txBody>
          <a:bodyPr wrap="square" lIns="0" rIns="0" tIns="0" bIns="0">
            <a:spAutoFit/>
          </a:bodyPr>
          <a:lstStyle/>
          <a:p>
            <a:pPr algn="l">
              <a:lnSpc>
                <a:spcPct val="130000"/>
              </a:lnSpc>
            </a:pPr>
            <a:r>
              <a:rPr sz="950" b="1" i="0">
                <a:solidFill>
                  <a:srgbClr val="5A6472"/>
                </a:solidFill>
                <a:latin typeface="Menlo"/>
              </a:rPr>
              <a:t>GROUNDING — THE RULE THAT MAKES THE REST SAFE</a:t>
            </a:r>
          </a:p>
        </p:txBody>
      </p:sp>
      <p:sp>
        <p:nvSpPr>
          <p:cNvPr id="33" name="Rectangle 32"/>
          <p:cNvSpPr/>
          <p:nvPr/>
        </p:nvSpPr>
        <p:spPr>
          <a:xfrm>
            <a:off x="566928" y="5138928"/>
            <a:ext cx="3539642" cy="749808"/>
          </a:xfrm>
          <a:prstGeom prst="rect">
            <a:avLst/>
          </a:prstGeom>
          <a:solidFill>
            <a:srgbClr val="E5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8096" y="5376672"/>
            <a:ext cx="256032" cy="308127"/>
          </a:xfrm>
          <a:prstGeom prst="rect">
            <a:avLst/>
          </a:prstGeom>
          <a:noFill/>
        </p:spPr>
        <p:txBody>
          <a:bodyPr wrap="square" lIns="0" rIns="0" tIns="0" bIns="0">
            <a:spAutoFit/>
          </a:bodyPr>
          <a:lstStyle/>
          <a:p>
            <a:pPr algn="l">
              <a:lnSpc>
                <a:spcPct val="130000"/>
              </a:lnSpc>
            </a:pPr>
            <a:r>
              <a:rPr sz="1300" b="1" i="0">
                <a:solidFill>
                  <a:srgbClr val="2E6B4F"/>
                </a:solidFill>
                <a:latin typeface="Menlo"/>
              </a:rPr>
              <a:t>✓</a:t>
            </a:r>
          </a:p>
        </p:txBody>
      </p:sp>
      <p:sp>
        <p:nvSpPr>
          <p:cNvPr id="35" name="TextBox 34"/>
          <p:cNvSpPr txBox="1"/>
          <p:nvPr/>
        </p:nvSpPr>
        <p:spPr>
          <a:xfrm>
            <a:off x="1115568" y="5312664"/>
            <a:ext cx="2789834" cy="288645"/>
          </a:xfrm>
          <a:prstGeom prst="rect">
            <a:avLst/>
          </a:prstGeom>
          <a:noFill/>
        </p:spPr>
        <p:txBody>
          <a:bodyPr wrap="square" lIns="0" rIns="0" tIns="0" bIns="0">
            <a:spAutoFit/>
          </a:bodyPr>
          <a:lstStyle/>
          <a:p>
            <a:pPr algn="l">
              <a:lnSpc>
                <a:spcPct val="130000"/>
              </a:lnSpc>
            </a:pPr>
            <a:r>
              <a:rPr sz="1200" b="0" i="0">
                <a:solidFill>
                  <a:srgbClr val="2E6B4F"/>
                </a:solidFill>
                <a:latin typeface="Arial"/>
              </a:rPr>
              <a:t>Only this operation's own data</a:t>
            </a:r>
          </a:p>
        </p:txBody>
      </p:sp>
      <p:sp>
        <p:nvSpPr>
          <p:cNvPr id="36" name="Rectangle 35"/>
          <p:cNvSpPr/>
          <p:nvPr/>
        </p:nvSpPr>
        <p:spPr>
          <a:xfrm>
            <a:off x="4326026" y="5138928"/>
            <a:ext cx="3539642" cy="749808"/>
          </a:xfrm>
          <a:prstGeom prst="rect">
            <a:avLst/>
          </a:prstGeom>
          <a:solidFill>
            <a:srgbClr val="FA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27194" y="5376672"/>
            <a:ext cx="256032" cy="308127"/>
          </a:xfrm>
          <a:prstGeom prst="rect">
            <a:avLst/>
          </a:prstGeom>
          <a:noFill/>
        </p:spPr>
        <p:txBody>
          <a:bodyPr wrap="square" lIns="0" rIns="0" tIns="0" bIns="0">
            <a:spAutoFit/>
          </a:bodyPr>
          <a:lstStyle/>
          <a:p>
            <a:pPr algn="l">
              <a:lnSpc>
                <a:spcPct val="130000"/>
              </a:lnSpc>
            </a:pPr>
            <a:r>
              <a:rPr sz="1300" b="1" i="0">
                <a:solidFill>
                  <a:srgbClr val="A63328"/>
                </a:solidFill>
                <a:latin typeface="Menlo"/>
              </a:rPr>
              <a:t>✕</a:t>
            </a:r>
          </a:p>
        </p:txBody>
      </p:sp>
      <p:sp>
        <p:nvSpPr>
          <p:cNvPr id="38" name="TextBox 37"/>
          <p:cNvSpPr txBox="1"/>
          <p:nvPr/>
        </p:nvSpPr>
        <p:spPr>
          <a:xfrm>
            <a:off x="4874666" y="5312664"/>
            <a:ext cx="2789834" cy="522427"/>
          </a:xfrm>
          <a:prstGeom prst="rect">
            <a:avLst/>
          </a:prstGeom>
          <a:noFill/>
        </p:spPr>
        <p:txBody>
          <a:bodyPr wrap="square" lIns="0" rIns="0" tIns="0" bIns="0">
            <a:spAutoFit/>
          </a:bodyPr>
          <a:lstStyle/>
          <a:p>
            <a:pPr algn="l">
              <a:lnSpc>
                <a:spcPct val="130000"/>
              </a:lnSpc>
            </a:pPr>
            <a:r>
              <a:rPr sz="1200" b="0" i="0">
                <a:solidFill>
                  <a:srgbClr val="A63328"/>
                </a:solidFill>
                <a:latin typeface="Arial"/>
              </a:rPr>
              <a:t>No internet, no industry averages, no general knowledge</a:t>
            </a:r>
          </a:p>
        </p:txBody>
      </p:sp>
      <p:sp>
        <p:nvSpPr>
          <p:cNvPr id="39" name="Rectangle 38"/>
          <p:cNvSpPr/>
          <p:nvPr/>
        </p:nvSpPr>
        <p:spPr>
          <a:xfrm>
            <a:off x="8085124" y="5138928"/>
            <a:ext cx="3539642" cy="749808"/>
          </a:xfrm>
          <a:prstGeom prst="rect">
            <a:avLst/>
          </a:prstGeom>
          <a:solidFill>
            <a:srgbClr val="FAF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86292" y="5376672"/>
            <a:ext cx="256032" cy="308127"/>
          </a:xfrm>
          <a:prstGeom prst="rect">
            <a:avLst/>
          </a:prstGeom>
          <a:noFill/>
        </p:spPr>
        <p:txBody>
          <a:bodyPr wrap="square" lIns="0" rIns="0" tIns="0" bIns="0">
            <a:spAutoFit/>
          </a:bodyPr>
          <a:lstStyle/>
          <a:p>
            <a:pPr algn="l">
              <a:lnSpc>
                <a:spcPct val="130000"/>
              </a:lnSpc>
            </a:pPr>
            <a:r>
              <a:rPr sz="1300" b="1" i="0">
                <a:solidFill>
                  <a:srgbClr val="B4741A"/>
                </a:solidFill>
                <a:latin typeface="Menlo"/>
              </a:rPr>
              <a:t>→</a:t>
            </a:r>
          </a:p>
        </p:txBody>
      </p:sp>
      <p:sp>
        <p:nvSpPr>
          <p:cNvPr id="41" name="TextBox 40"/>
          <p:cNvSpPr txBox="1"/>
          <p:nvPr/>
        </p:nvSpPr>
        <p:spPr>
          <a:xfrm>
            <a:off x="8633764" y="5312664"/>
            <a:ext cx="2789834" cy="522427"/>
          </a:xfrm>
          <a:prstGeom prst="rect">
            <a:avLst/>
          </a:prstGeom>
          <a:noFill/>
        </p:spPr>
        <p:txBody>
          <a:bodyPr wrap="square" lIns="0" rIns="0" tIns="0" bIns="0">
            <a:spAutoFit/>
          </a:bodyPr>
          <a:lstStyle/>
          <a:p>
            <a:pPr algn="l">
              <a:lnSpc>
                <a:spcPct val="130000"/>
              </a:lnSpc>
            </a:pPr>
            <a:r>
              <a:rPr sz="1200" b="0" i="0">
                <a:solidFill>
                  <a:srgbClr val="B4741A"/>
                </a:solidFill>
                <a:latin typeface="Arial"/>
              </a:rPr>
              <a:t>No data? “Still working on it — our data doesn't cover that yet.”</a:t>
            </a:r>
          </a:p>
        </p:txBody>
      </p:sp>
      <p:sp>
        <p:nvSpPr>
          <p:cNvPr id="42" name="TextBox 41"/>
          <p:cNvSpPr txBox="1"/>
          <p:nvPr/>
        </p:nvSpPr>
        <p:spPr>
          <a:xfrm>
            <a:off x="566928" y="6455664"/>
            <a:ext cx="11057839" cy="230200"/>
          </a:xfrm>
          <a:prstGeom prst="rect">
            <a:avLst/>
          </a:prstGeom>
          <a:noFill/>
        </p:spPr>
        <p:txBody>
          <a:bodyPr wrap="square" lIns="0" rIns="0" tIns="0" bIns="0">
            <a:spAutoFit/>
          </a:bodyPr>
          <a:lstStyle/>
          <a:p>
            <a:pPr algn="ctr">
              <a:lnSpc>
                <a:spcPct val="130000"/>
              </a:lnSpc>
            </a:pPr>
            <a:r>
              <a:rPr sz="900" b="0" i="0">
                <a:solidFill>
                  <a:srgbClr val="8A93A0"/>
                </a:solidFill>
                <a:latin typeface="Menlo"/>
              </a:rPr>
              <a:t>RouteMind · figures computed live from the loaded dataset, 5 September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48640"/>
            <a:ext cx="457200" cy="288645"/>
          </a:xfrm>
          <a:prstGeom prst="rect">
            <a:avLst/>
          </a:prstGeom>
          <a:noFill/>
        </p:spPr>
        <p:txBody>
          <a:bodyPr wrap="square" lIns="0" rIns="0" tIns="0" bIns="0">
            <a:spAutoFit/>
          </a:bodyPr>
          <a:lstStyle/>
          <a:p>
            <a:pPr algn="l">
              <a:lnSpc>
                <a:spcPct val="130000"/>
              </a:lnSpc>
            </a:pPr>
            <a:r>
              <a:rPr sz="1200" b="1" i="0">
                <a:solidFill>
                  <a:srgbClr val="1F5FA8"/>
                </a:solidFill>
                <a:latin typeface="Menlo"/>
              </a:rPr>
              <a:t>03</a:t>
            </a:r>
          </a:p>
        </p:txBody>
      </p:sp>
      <p:sp>
        <p:nvSpPr>
          <p:cNvPr id="4" name="TextBox 3"/>
          <p:cNvSpPr txBox="1"/>
          <p:nvPr/>
        </p:nvSpPr>
        <p:spPr>
          <a:xfrm>
            <a:off x="1097280" y="475488"/>
            <a:ext cx="10509199" cy="239941"/>
          </a:xfrm>
          <a:prstGeom prst="rect">
            <a:avLst/>
          </a:prstGeom>
          <a:noFill/>
        </p:spPr>
        <p:txBody>
          <a:bodyPr wrap="square" lIns="0" rIns="0" tIns="0" bIns="0">
            <a:spAutoFit/>
          </a:bodyPr>
          <a:lstStyle/>
          <a:p>
            <a:pPr algn="l">
              <a:lnSpc>
                <a:spcPct val="130000"/>
              </a:lnSpc>
            </a:pPr>
            <a:r>
              <a:rPr sz="950" b="0" i="0">
                <a:solidFill>
                  <a:srgbClr val="8A93A0"/>
                </a:solidFill>
                <a:latin typeface="Menlo"/>
              </a:rPr>
              <a:t>PROOF</a:t>
            </a:r>
          </a:p>
        </p:txBody>
      </p:sp>
      <p:sp>
        <p:nvSpPr>
          <p:cNvPr id="5" name="TextBox 4"/>
          <p:cNvSpPr txBox="1"/>
          <p:nvPr/>
        </p:nvSpPr>
        <p:spPr>
          <a:xfrm>
            <a:off x="1097280" y="667512"/>
            <a:ext cx="10509199" cy="479717"/>
          </a:xfrm>
          <a:prstGeom prst="rect">
            <a:avLst/>
          </a:prstGeom>
          <a:noFill/>
        </p:spPr>
        <p:txBody>
          <a:bodyPr wrap="square" lIns="0" rIns="0" tIns="0" bIns="0">
            <a:spAutoFit/>
          </a:bodyPr>
          <a:lstStyle/>
          <a:p>
            <a:pPr algn="l">
              <a:lnSpc>
                <a:spcPct val="105000"/>
              </a:lnSpc>
            </a:pPr>
            <a:r>
              <a:rPr sz="2700" b="1" i="0">
                <a:solidFill>
                  <a:srgbClr val="12161C"/>
                </a:solidFill>
                <a:latin typeface="Arial"/>
              </a:rPr>
              <a:t>Dual-track output — the same question, answered twice</a:t>
            </a:r>
          </a:p>
        </p:txBody>
      </p:sp>
      <p:sp>
        <p:nvSpPr>
          <p:cNvPr id="6" name="TextBox 5"/>
          <p:cNvSpPr txBox="1"/>
          <p:nvPr/>
        </p:nvSpPr>
        <p:spPr>
          <a:xfrm>
            <a:off x="566928" y="1344168"/>
            <a:ext cx="11057839" cy="580872"/>
          </a:xfrm>
          <a:prstGeom prst="rect">
            <a:avLst/>
          </a:prstGeom>
          <a:noFill/>
        </p:spPr>
        <p:txBody>
          <a:bodyPr wrap="square" lIns="0" rIns="0" tIns="0" bIns="0">
            <a:spAutoFit/>
          </a:bodyPr>
          <a:lstStyle/>
          <a:p>
            <a:pPr algn="l">
              <a:lnSpc>
                <a:spcPct val="135000"/>
              </a:lnSpc>
            </a:pPr>
            <a:r>
              <a:rPr sz="1300" b="0" i="0">
                <a:solidFill>
                  <a:srgbClr val="5A6472"/>
                </a:solidFill>
                <a:latin typeface="Arial"/>
              </a:rPr>
              <a:t>Shown side by side so the deterministic track proves the AI track invented nothing. If a figure appears in the prose that is not in the decomposition, it is visible immediately.</a:t>
            </a:r>
          </a:p>
        </p:txBody>
      </p:sp>
      <p:sp>
        <p:nvSpPr>
          <p:cNvPr id="7" name="Rectangle 6"/>
          <p:cNvSpPr/>
          <p:nvPr/>
        </p:nvSpPr>
        <p:spPr>
          <a:xfrm>
            <a:off x="566928" y="2126208"/>
            <a:ext cx="5623560" cy="2697480"/>
          </a:xfrm>
          <a:prstGeom prst="rect">
            <a:avLst/>
          </a:prstGeom>
          <a:solidFill>
            <a:srgbClr val="FFFFFF"/>
          </a:solidFill>
          <a:ln w="9525">
            <a:solidFill>
              <a:srgbClr val="C3C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2126208"/>
            <a:ext cx="5623560" cy="4572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77824" y="2455392"/>
            <a:ext cx="502920" cy="201168"/>
          </a:xfrm>
          <a:prstGeom prst="rect">
            <a:avLst/>
          </a:prstGeom>
          <a:solidFill>
            <a:srgbClr val="E7EF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1F5FA8"/>
                </a:solidFill>
                <a:latin typeface="Menlo"/>
              </a:rPr>
              <a:t>RULES</a:t>
            </a:r>
          </a:p>
        </p:txBody>
      </p:sp>
      <p:sp>
        <p:nvSpPr>
          <p:cNvPr id="10" name="TextBox 9"/>
          <p:cNvSpPr txBox="1"/>
          <p:nvPr/>
        </p:nvSpPr>
        <p:spPr>
          <a:xfrm>
            <a:off x="1545336" y="2473680"/>
            <a:ext cx="4023360" cy="259422"/>
          </a:xfrm>
          <a:prstGeom prst="rect">
            <a:avLst/>
          </a:prstGeom>
          <a:noFill/>
        </p:spPr>
        <p:txBody>
          <a:bodyPr wrap="square" lIns="0" rIns="0" tIns="0" bIns="0">
            <a:spAutoFit/>
          </a:bodyPr>
          <a:lstStyle/>
          <a:p>
            <a:pPr algn="l">
              <a:lnSpc>
                <a:spcPct val="130000"/>
              </a:lnSpc>
            </a:pPr>
            <a:r>
              <a:rPr sz="1050" b="0" i="0">
                <a:solidFill>
                  <a:srgbClr val="5A6472"/>
                </a:solidFill>
                <a:latin typeface="Menlo"/>
              </a:rPr>
              <a:t>deterministic · reproducible</a:t>
            </a:r>
          </a:p>
        </p:txBody>
      </p:sp>
      <p:sp>
        <p:nvSpPr>
          <p:cNvPr id="11" name="TextBox 10"/>
          <p:cNvSpPr txBox="1"/>
          <p:nvPr/>
        </p:nvSpPr>
        <p:spPr>
          <a:xfrm>
            <a:off x="877824" y="2876016"/>
            <a:ext cx="5001768" cy="1749780"/>
          </a:xfrm>
          <a:prstGeom prst="rect">
            <a:avLst/>
          </a:prstGeom>
          <a:noFill/>
        </p:spPr>
        <p:txBody>
          <a:bodyPr wrap="square" lIns="0" rIns="0" tIns="0" bIns="0">
            <a:spAutoFit/>
          </a:bodyPr>
          <a:lstStyle/>
          <a:p>
            <a:pPr algn="l">
              <a:lnSpc>
                <a:spcPct val="145000"/>
              </a:lnSpc>
            </a:pPr>
            <a:r>
              <a:rPr sz="1300" b="0" i="0">
                <a:solidFill>
                  <a:srgbClr val="12161C"/>
                </a:solidFill>
                <a:latin typeface="Arial"/>
              </a:rPr>
              <a:t>On-time arrival fell 2.0 points versus the prior period. Morning pickup (LOGIN) trips account for 1.8 of those points; within them the morning shift band is the worst, down 5.2 points to 89.5% on 54,972 trips. By location it is concentrated at Denver Office: 93.8% now versus 96.9% before, 0.9 of the points on its own.</a:t>
            </a:r>
          </a:p>
        </p:txBody>
      </p:sp>
      <p:sp>
        <p:nvSpPr>
          <p:cNvPr id="12" name="Rectangle 11"/>
          <p:cNvSpPr/>
          <p:nvPr/>
        </p:nvSpPr>
        <p:spPr>
          <a:xfrm>
            <a:off x="6556248" y="2126208"/>
            <a:ext cx="5623560" cy="2697480"/>
          </a:xfrm>
          <a:prstGeom prst="rect">
            <a:avLst/>
          </a:prstGeom>
          <a:solidFill>
            <a:srgbClr val="FFFFFF"/>
          </a:solidFill>
          <a:ln w="9525">
            <a:solidFill>
              <a:srgbClr val="C3C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56248" y="2126208"/>
            <a:ext cx="5623560" cy="45720"/>
          </a:xfrm>
          <a:prstGeom prst="rect">
            <a:avLst/>
          </a:prstGeom>
          <a:solidFill>
            <a:srgbClr val="B4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67144" y="2455392"/>
            <a:ext cx="360273" cy="201168"/>
          </a:xfrm>
          <a:prstGeom prst="rect">
            <a:avLst/>
          </a:prstGeom>
          <a:solidFill>
            <a:srgbClr val="FAF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B4741A"/>
                </a:solidFill>
                <a:latin typeface="Menlo"/>
              </a:rPr>
              <a:t>LLM</a:t>
            </a:r>
          </a:p>
        </p:txBody>
      </p:sp>
      <p:sp>
        <p:nvSpPr>
          <p:cNvPr id="15" name="TextBox 14"/>
          <p:cNvSpPr txBox="1"/>
          <p:nvPr/>
        </p:nvSpPr>
        <p:spPr>
          <a:xfrm>
            <a:off x="7392009" y="2473680"/>
            <a:ext cx="4023360" cy="259422"/>
          </a:xfrm>
          <a:prstGeom prst="rect">
            <a:avLst/>
          </a:prstGeom>
          <a:noFill/>
        </p:spPr>
        <p:txBody>
          <a:bodyPr wrap="square" lIns="0" rIns="0" tIns="0" bIns="0">
            <a:spAutoFit/>
          </a:bodyPr>
          <a:lstStyle/>
          <a:p>
            <a:pPr algn="l">
              <a:lnSpc>
                <a:spcPct val="130000"/>
              </a:lnSpc>
            </a:pPr>
            <a:r>
              <a:rPr sz="1050" b="0" i="0">
                <a:solidFill>
                  <a:srgbClr val="5A6472"/>
                </a:solidFill>
                <a:latin typeface="Menlo"/>
              </a:rPr>
              <a:t>sarvam-105b · persona-shaped</a:t>
            </a:r>
          </a:p>
        </p:txBody>
      </p:sp>
      <p:sp>
        <p:nvSpPr>
          <p:cNvPr id="16" name="TextBox 15"/>
          <p:cNvSpPr txBox="1"/>
          <p:nvPr/>
        </p:nvSpPr>
        <p:spPr>
          <a:xfrm>
            <a:off x="6867144" y="2876016"/>
            <a:ext cx="5001768" cy="1184808"/>
          </a:xfrm>
          <a:prstGeom prst="rect">
            <a:avLst/>
          </a:prstGeom>
          <a:noFill/>
        </p:spPr>
        <p:txBody>
          <a:bodyPr wrap="square" lIns="0" rIns="0" tIns="0" bIns="0">
            <a:spAutoFit/>
          </a:bodyPr>
          <a:lstStyle/>
          <a:p>
            <a:pPr algn="l">
              <a:lnSpc>
                <a:spcPct val="145000"/>
              </a:lnSpc>
            </a:pPr>
            <a:r>
              <a:rPr sz="1300" b="0" i="0">
                <a:solidFill>
                  <a:srgbClr val="12161C"/>
                </a:solidFill>
                <a:latin typeface="Arial"/>
              </a:rPr>
              <a:t>Written by the model over the rule-based numbers only, framed for whoever asked. The deterministic track above is what makes that checkable: every figure in the prose must already appear in the decomposition, or it is wrong on sight.</a:t>
            </a:r>
          </a:p>
        </p:txBody>
      </p:sp>
      <p:sp>
        <p:nvSpPr>
          <p:cNvPr id="17" name="TextBox 16"/>
          <p:cNvSpPr txBox="1"/>
          <p:nvPr/>
        </p:nvSpPr>
        <p:spPr>
          <a:xfrm>
            <a:off x="566928" y="5235168"/>
            <a:ext cx="11057839" cy="239941"/>
          </a:xfrm>
          <a:prstGeom prst="rect">
            <a:avLst/>
          </a:prstGeom>
          <a:noFill/>
        </p:spPr>
        <p:txBody>
          <a:bodyPr wrap="square" lIns="0" rIns="0" tIns="0" bIns="0">
            <a:spAutoFit/>
          </a:bodyPr>
          <a:lstStyle/>
          <a:p>
            <a:pPr algn="l">
              <a:lnSpc>
                <a:spcPct val="130000"/>
              </a:lnSpc>
            </a:pPr>
            <a:r>
              <a:rPr sz="950" b="1" i="0">
                <a:solidFill>
                  <a:srgbClr val="5A6472"/>
                </a:solidFill>
                <a:latin typeface="Menlo"/>
              </a:rPr>
              <a:t>COST AT SCALE</a:t>
            </a:r>
          </a:p>
        </p:txBody>
      </p:sp>
      <p:sp>
        <p:nvSpPr>
          <p:cNvPr id="18" name="Rectangle 17"/>
          <p:cNvSpPr/>
          <p:nvPr/>
        </p:nvSpPr>
        <p:spPr>
          <a:xfrm>
            <a:off x="566928" y="5509488"/>
            <a:ext cx="11057839" cy="777240"/>
          </a:xfrm>
          <a:prstGeom prst="rect">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 y="5509488"/>
            <a:ext cx="36576" cy="77724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824" y="5710656"/>
            <a:ext cx="10417759" cy="601103"/>
          </a:xfrm>
          <a:prstGeom prst="rect">
            <a:avLst/>
          </a:prstGeom>
          <a:noFill/>
        </p:spPr>
        <p:txBody>
          <a:bodyPr wrap="square" lIns="0" rIns="0" tIns="0" bIns="0">
            <a:spAutoFit/>
          </a:bodyPr>
          <a:lstStyle/>
          <a:p>
            <a:pPr algn="l">
              <a:lnSpc>
                <a:spcPct val="135000"/>
              </a:lnSpc>
            </a:pPr>
            <a:r>
              <a:rPr sz="1350" b="0" i="0">
                <a:solidFill>
                  <a:srgbClr val="12161C"/>
                </a:solidFill>
                <a:latin typeface="Arial"/>
              </a:rPr>
              <a:t>One inference per </a:t>
            </a:r>
            <a:r>
              <a:rPr sz="1350" b="1" i="0">
                <a:solidFill>
                  <a:srgbClr val="12161C"/>
                </a:solidFill>
                <a:latin typeface="Arial"/>
              </a:rPr>
              <a:t>ranked finding</a:t>
            </a:r>
            <a:r>
              <a:rPr sz="1350" b="0" i="0">
                <a:solidFill>
                  <a:srgbClr val="12161C"/>
                </a:solidFill>
                <a:latin typeface="Arial"/>
              </a:rPr>
              <a:t> — never per metric or per row — cached by (finding, persona, period). </a:t>
            </a:r>
            <a:r>
              <a:rPr sz="1350" b="1" i="0">
                <a:solidFill>
                  <a:srgbClr val="12161C"/>
                </a:solidFill>
                <a:latin typeface="Arial"/>
              </a:rPr>
              <a:t>A report read ten times costs one call.</a:t>
            </a:r>
          </a:p>
        </p:txBody>
      </p:sp>
      <p:sp>
        <p:nvSpPr>
          <p:cNvPr id="21" name="TextBox 20"/>
          <p:cNvSpPr txBox="1"/>
          <p:nvPr/>
        </p:nvSpPr>
        <p:spPr>
          <a:xfrm>
            <a:off x="566928" y="6455664"/>
            <a:ext cx="11057839" cy="230200"/>
          </a:xfrm>
          <a:prstGeom prst="rect">
            <a:avLst/>
          </a:prstGeom>
          <a:noFill/>
        </p:spPr>
        <p:txBody>
          <a:bodyPr wrap="square" lIns="0" rIns="0" tIns="0" bIns="0">
            <a:spAutoFit/>
          </a:bodyPr>
          <a:lstStyle/>
          <a:p>
            <a:pPr algn="ctr">
              <a:lnSpc>
                <a:spcPct val="130000"/>
              </a:lnSpc>
            </a:pPr>
            <a:r>
              <a:rPr sz="900" b="0" i="0">
                <a:solidFill>
                  <a:srgbClr val="8A93A0"/>
                </a:solidFill>
                <a:latin typeface="Menlo"/>
              </a:rPr>
              <a:t>RouteMind · figures computed live from the loaded dataset, 5 September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48640"/>
            <a:ext cx="457200" cy="288645"/>
          </a:xfrm>
          <a:prstGeom prst="rect">
            <a:avLst/>
          </a:prstGeom>
          <a:noFill/>
        </p:spPr>
        <p:txBody>
          <a:bodyPr wrap="square" lIns="0" rIns="0" tIns="0" bIns="0">
            <a:spAutoFit/>
          </a:bodyPr>
          <a:lstStyle/>
          <a:p>
            <a:pPr algn="l">
              <a:lnSpc>
                <a:spcPct val="130000"/>
              </a:lnSpc>
            </a:pPr>
            <a:r>
              <a:rPr sz="1200" b="1" i="0">
                <a:solidFill>
                  <a:srgbClr val="1F5FA8"/>
                </a:solidFill>
                <a:latin typeface="Menlo"/>
              </a:rPr>
              <a:t>04</a:t>
            </a:r>
          </a:p>
        </p:txBody>
      </p:sp>
      <p:sp>
        <p:nvSpPr>
          <p:cNvPr id="4" name="TextBox 3"/>
          <p:cNvSpPr txBox="1"/>
          <p:nvPr/>
        </p:nvSpPr>
        <p:spPr>
          <a:xfrm>
            <a:off x="1097280" y="475488"/>
            <a:ext cx="10509199" cy="239941"/>
          </a:xfrm>
          <a:prstGeom prst="rect">
            <a:avLst/>
          </a:prstGeom>
          <a:noFill/>
        </p:spPr>
        <p:txBody>
          <a:bodyPr wrap="square" lIns="0" rIns="0" tIns="0" bIns="0">
            <a:spAutoFit/>
          </a:bodyPr>
          <a:lstStyle/>
          <a:p>
            <a:pPr algn="l">
              <a:lnSpc>
                <a:spcPct val="130000"/>
              </a:lnSpc>
            </a:pPr>
            <a:r>
              <a:rPr sz="950" b="0" i="0">
                <a:solidFill>
                  <a:srgbClr val="8A93A0"/>
                </a:solidFill>
                <a:latin typeface="Menlo"/>
              </a:rPr>
              <a:t>QUESTION SHAPES</a:t>
            </a:r>
          </a:p>
        </p:txBody>
      </p:sp>
      <p:sp>
        <p:nvSpPr>
          <p:cNvPr id="5" name="TextBox 4"/>
          <p:cNvSpPr txBox="1"/>
          <p:nvPr/>
        </p:nvSpPr>
        <p:spPr>
          <a:xfrm>
            <a:off x="1097280" y="667512"/>
            <a:ext cx="10509199" cy="479717"/>
          </a:xfrm>
          <a:prstGeom prst="rect">
            <a:avLst/>
          </a:prstGeom>
          <a:noFill/>
        </p:spPr>
        <p:txBody>
          <a:bodyPr wrap="square" lIns="0" rIns="0" tIns="0" bIns="0">
            <a:spAutoFit/>
          </a:bodyPr>
          <a:lstStyle/>
          <a:p>
            <a:pPr algn="l">
              <a:lnSpc>
                <a:spcPct val="105000"/>
              </a:lnSpc>
            </a:pPr>
            <a:r>
              <a:rPr sz="2700" b="1" i="0">
                <a:solidFill>
                  <a:srgbClr val="12161C"/>
                </a:solidFill>
                <a:latin typeface="Arial"/>
              </a:rPr>
              <a:t>Answering the question that was asked</a:t>
            </a:r>
          </a:p>
        </p:txBody>
      </p:sp>
      <p:sp>
        <p:nvSpPr>
          <p:cNvPr id="6" name="TextBox 5"/>
          <p:cNvSpPr txBox="1"/>
          <p:nvPr/>
        </p:nvSpPr>
        <p:spPr>
          <a:xfrm>
            <a:off x="566928" y="1344168"/>
            <a:ext cx="11057839" cy="580872"/>
          </a:xfrm>
          <a:prstGeom prst="rect">
            <a:avLst/>
          </a:prstGeom>
          <a:noFill/>
        </p:spPr>
        <p:txBody>
          <a:bodyPr wrap="square" lIns="0" rIns="0" tIns="0" bIns="0">
            <a:spAutoFit/>
          </a:bodyPr>
          <a:lstStyle/>
          <a:p>
            <a:pPr algn="l">
              <a:lnSpc>
                <a:spcPct val="135000"/>
              </a:lnSpc>
            </a:pPr>
            <a:r>
              <a:rPr sz="1300" b="0" i="0">
                <a:solidFill>
                  <a:srgbClr val="5A6472"/>
                </a:solidFill>
                <a:latin typeface="Arial"/>
              </a:rPr>
              <a:t>A metric board answers “how are we doing”. Real questions are narrower, and each of these needed its own path — answering the general question when a specific one was asked is a wrong answer with correct arithmetic behind it.</a:t>
            </a:r>
          </a:p>
        </p:txBody>
      </p:sp>
      <p:sp>
        <p:nvSpPr>
          <p:cNvPr id="7" name="TextBox 6"/>
          <p:cNvSpPr txBox="1"/>
          <p:nvPr/>
        </p:nvSpPr>
        <p:spPr>
          <a:xfrm>
            <a:off x="566928" y="2217648"/>
            <a:ext cx="3004754" cy="220459"/>
          </a:xfrm>
          <a:prstGeom prst="rect">
            <a:avLst/>
          </a:prstGeom>
          <a:noFill/>
        </p:spPr>
        <p:txBody>
          <a:bodyPr wrap="square" lIns="0" rIns="0" tIns="0" bIns="0">
            <a:spAutoFit/>
          </a:bodyPr>
          <a:lstStyle/>
          <a:p>
            <a:pPr algn="l">
              <a:lnSpc>
                <a:spcPct val="130000"/>
              </a:lnSpc>
            </a:pPr>
            <a:r>
              <a:rPr sz="850" b="1" i="0">
                <a:solidFill>
                  <a:srgbClr val="5A6472"/>
                </a:solidFill>
                <a:latin typeface="Menlo"/>
              </a:rPr>
              <a:t>QUESTION</a:t>
            </a:r>
          </a:p>
        </p:txBody>
      </p:sp>
      <p:sp>
        <p:nvSpPr>
          <p:cNvPr id="8" name="TextBox 7"/>
          <p:cNvSpPr txBox="1"/>
          <p:nvPr/>
        </p:nvSpPr>
        <p:spPr>
          <a:xfrm>
            <a:off x="3663122" y="2217648"/>
            <a:ext cx="2120127" cy="220459"/>
          </a:xfrm>
          <a:prstGeom prst="rect">
            <a:avLst/>
          </a:prstGeom>
          <a:noFill/>
        </p:spPr>
        <p:txBody>
          <a:bodyPr wrap="square" lIns="0" rIns="0" tIns="0" bIns="0">
            <a:spAutoFit/>
          </a:bodyPr>
          <a:lstStyle/>
          <a:p>
            <a:pPr algn="l">
              <a:lnSpc>
                <a:spcPct val="130000"/>
              </a:lnSpc>
            </a:pPr>
            <a:r>
              <a:rPr sz="850" b="1" i="0">
                <a:solidFill>
                  <a:srgbClr val="5A6472"/>
                </a:solidFill>
                <a:latin typeface="Menlo"/>
              </a:rPr>
              <a:t>TOOL</a:t>
            </a:r>
          </a:p>
        </p:txBody>
      </p:sp>
      <p:sp>
        <p:nvSpPr>
          <p:cNvPr id="9" name="TextBox 8"/>
          <p:cNvSpPr txBox="1"/>
          <p:nvPr/>
        </p:nvSpPr>
        <p:spPr>
          <a:xfrm>
            <a:off x="5874690" y="2217648"/>
            <a:ext cx="5658636" cy="220459"/>
          </a:xfrm>
          <a:prstGeom prst="rect">
            <a:avLst/>
          </a:prstGeom>
          <a:noFill/>
        </p:spPr>
        <p:txBody>
          <a:bodyPr wrap="square" lIns="0" rIns="0" tIns="0" bIns="0">
            <a:spAutoFit/>
          </a:bodyPr>
          <a:lstStyle/>
          <a:p>
            <a:pPr algn="l">
              <a:lnSpc>
                <a:spcPct val="130000"/>
              </a:lnSpc>
            </a:pPr>
            <a:r>
              <a:rPr sz="850" b="1" i="0">
                <a:solidFill>
                  <a:srgbClr val="5A6472"/>
                </a:solidFill>
                <a:latin typeface="Menlo"/>
              </a:rPr>
              <a:t>WHY IT NEEDS ITS OWN QUERY</a:t>
            </a:r>
          </a:p>
        </p:txBody>
      </p:sp>
      <p:sp>
        <p:nvSpPr>
          <p:cNvPr id="10" name="Rectangle 9"/>
          <p:cNvSpPr/>
          <p:nvPr/>
        </p:nvSpPr>
        <p:spPr>
          <a:xfrm>
            <a:off x="566928" y="2455392"/>
            <a:ext cx="11057839" cy="8229"/>
          </a:xfrm>
          <a:prstGeom prst="rect">
            <a:avLst/>
          </a:prstGeom>
          <a:solidFill>
            <a:srgbClr val="C3C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546832"/>
            <a:ext cx="3004754" cy="298386"/>
          </a:xfrm>
          <a:prstGeom prst="rect">
            <a:avLst/>
          </a:prstGeom>
          <a:noFill/>
        </p:spPr>
        <p:txBody>
          <a:bodyPr wrap="square" lIns="0" rIns="0" tIns="0" bIns="0">
            <a:spAutoFit/>
          </a:bodyPr>
          <a:lstStyle/>
          <a:p>
            <a:pPr algn="l">
              <a:lnSpc>
                <a:spcPct val="125000"/>
              </a:lnSpc>
            </a:pPr>
            <a:r>
              <a:rPr sz="1300" b="0" i="0">
                <a:solidFill>
                  <a:srgbClr val="12161C"/>
                </a:solidFill>
                <a:latin typeface="Arial"/>
              </a:rPr>
              <a:t>“How is OTA on the </a:t>
            </a:r>
            <a:r>
              <a:rPr sz="1300" b="1" i="0">
                <a:solidFill>
                  <a:srgbClr val="12161C"/>
                </a:solidFill>
                <a:latin typeface="Arial"/>
              </a:rPr>
              <a:t>night shift</a:t>
            </a:r>
            <a:r>
              <a:rPr sz="1300" b="0" i="0">
                <a:solidFill>
                  <a:srgbClr val="12161C"/>
                </a:solidFill>
                <a:latin typeface="Arial"/>
              </a:rPr>
              <a:t>?”</a:t>
            </a:r>
          </a:p>
        </p:txBody>
      </p:sp>
      <p:sp>
        <p:nvSpPr>
          <p:cNvPr id="12" name="Rectangle 11"/>
          <p:cNvSpPr/>
          <p:nvPr/>
        </p:nvSpPr>
        <p:spPr>
          <a:xfrm>
            <a:off x="3663122" y="2565120"/>
            <a:ext cx="502920" cy="201168"/>
          </a:xfrm>
          <a:prstGeom prst="rect">
            <a:avLst/>
          </a:prstGeom>
          <a:solidFill>
            <a:srgbClr val="E7EF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1F5FA8"/>
                </a:solidFill>
                <a:latin typeface="Menlo"/>
              </a:rPr>
              <a:t>SLICE</a:t>
            </a:r>
          </a:p>
        </p:txBody>
      </p:sp>
      <p:sp>
        <p:nvSpPr>
          <p:cNvPr id="13" name="TextBox 12"/>
          <p:cNvSpPr txBox="1"/>
          <p:nvPr/>
        </p:nvSpPr>
        <p:spPr>
          <a:xfrm>
            <a:off x="5874690" y="2546832"/>
            <a:ext cx="5658636" cy="785431"/>
          </a:xfrm>
          <a:prstGeom prst="rect">
            <a:avLst/>
          </a:prstGeom>
          <a:noFill/>
        </p:spPr>
        <p:txBody>
          <a:bodyPr wrap="square" lIns="0" rIns="0" tIns="0" bIns="0">
            <a:spAutoFit/>
          </a:bodyPr>
          <a:lstStyle/>
          <a:p>
            <a:pPr algn="l">
              <a:lnSpc>
                <a:spcPct val="125000"/>
              </a:lnSpc>
            </a:pPr>
            <a:r>
              <a:rPr sz="1300" b="0" i="0">
                <a:solidFill>
                  <a:srgbClr val="12161C"/>
                </a:solidFill>
                <a:latin typeface="Arial"/>
              </a:rPr>
              <a:t>The filter is extracted from the question deterministically, then applied — 99.4% over 27,023 night trips, not the 97.1% all-trips figure.</a:t>
            </a:r>
          </a:p>
        </p:txBody>
      </p:sp>
      <p:sp>
        <p:nvSpPr>
          <p:cNvPr id="14" name="Rectangle 13"/>
          <p:cNvSpPr/>
          <p:nvPr/>
        </p:nvSpPr>
        <p:spPr>
          <a:xfrm>
            <a:off x="566928" y="3432848"/>
            <a:ext cx="11057839" cy="8229"/>
          </a:xfrm>
          <a:prstGeom prst="rect">
            <a:avLst/>
          </a:prstGeom>
          <a:solidFill>
            <a:srgbClr val="DCD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3588296"/>
            <a:ext cx="3004754" cy="298386"/>
          </a:xfrm>
          <a:prstGeom prst="rect">
            <a:avLst/>
          </a:prstGeom>
          <a:noFill/>
        </p:spPr>
        <p:txBody>
          <a:bodyPr wrap="square" lIns="0" rIns="0" tIns="0" bIns="0">
            <a:spAutoFit/>
          </a:bodyPr>
          <a:lstStyle/>
          <a:p>
            <a:pPr algn="l">
              <a:lnSpc>
                <a:spcPct val="125000"/>
              </a:lnSpc>
            </a:pPr>
            <a:r>
              <a:rPr sz="1300" b="0" i="0">
                <a:solidFill>
                  <a:srgbClr val="12161C"/>
                </a:solidFill>
                <a:latin typeface="Arial"/>
              </a:rPr>
              <a:t>“Is any vendor </a:t>
            </a:r>
            <a:r>
              <a:rPr sz="1300" b="1" i="0">
                <a:solidFill>
                  <a:srgbClr val="12161C"/>
                </a:solidFill>
                <a:latin typeface="Arial"/>
              </a:rPr>
              <a:t>consistently</a:t>
            </a:r>
            <a:r>
              <a:rPr sz="1300" b="0" i="0">
                <a:solidFill>
                  <a:srgbClr val="12161C"/>
                </a:solidFill>
                <a:latin typeface="Arial"/>
              </a:rPr>
              <a:t> bad?”</a:t>
            </a:r>
          </a:p>
        </p:txBody>
      </p:sp>
      <p:sp>
        <p:nvSpPr>
          <p:cNvPr id="16" name="Rectangle 15"/>
          <p:cNvSpPr/>
          <p:nvPr/>
        </p:nvSpPr>
        <p:spPr>
          <a:xfrm>
            <a:off x="3663122" y="3606584"/>
            <a:ext cx="1287475" cy="201168"/>
          </a:xfrm>
          <a:prstGeom prst="rect">
            <a:avLst/>
          </a:prstGeom>
          <a:solidFill>
            <a:srgbClr val="E7EF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1F5FA8"/>
                </a:solidFill>
                <a:latin typeface="Menlo"/>
              </a:rPr>
              <a:t>REPEAT_OFFENDERS</a:t>
            </a:r>
          </a:p>
        </p:txBody>
      </p:sp>
      <p:sp>
        <p:nvSpPr>
          <p:cNvPr id="17" name="TextBox 16"/>
          <p:cNvSpPr txBox="1"/>
          <p:nvPr/>
        </p:nvSpPr>
        <p:spPr>
          <a:xfrm>
            <a:off x="5874690" y="3588296"/>
            <a:ext cx="5658636" cy="785431"/>
          </a:xfrm>
          <a:prstGeom prst="rect">
            <a:avLst/>
          </a:prstGeom>
          <a:noFill/>
        </p:spPr>
        <p:txBody>
          <a:bodyPr wrap="square" lIns="0" rIns="0" tIns="0" bIns="0">
            <a:spAutoFit/>
          </a:bodyPr>
          <a:lstStyle/>
          <a:p>
            <a:pPr algn="l">
              <a:lnSpc>
                <a:spcPct val="125000"/>
              </a:lnSpc>
            </a:pPr>
            <a:r>
              <a:rPr sz="1300" b="0" i="0">
                <a:solidFill>
                  <a:srgbClr val="12161C"/>
                </a:solidFill>
                <a:latin typeface="Arial"/>
              </a:rPr>
              <a:t>Weekly buckets. The prior-period comparison only ever sees one window against one, so it cannot see a vendor that has simply always been bad.</a:t>
            </a:r>
          </a:p>
        </p:txBody>
      </p:sp>
      <p:sp>
        <p:nvSpPr>
          <p:cNvPr id="18" name="Rectangle 17"/>
          <p:cNvSpPr/>
          <p:nvPr/>
        </p:nvSpPr>
        <p:spPr>
          <a:xfrm>
            <a:off x="566928" y="4474311"/>
            <a:ext cx="11057839" cy="8229"/>
          </a:xfrm>
          <a:prstGeom prst="rect">
            <a:avLst/>
          </a:prstGeom>
          <a:solidFill>
            <a:srgbClr val="DCD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4629759"/>
            <a:ext cx="3004754" cy="541909"/>
          </a:xfrm>
          <a:prstGeom prst="rect">
            <a:avLst/>
          </a:prstGeom>
          <a:noFill/>
        </p:spPr>
        <p:txBody>
          <a:bodyPr wrap="square" lIns="0" rIns="0" tIns="0" bIns="0">
            <a:spAutoFit/>
          </a:bodyPr>
          <a:lstStyle/>
          <a:p>
            <a:pPr algn="l">
              <a:lnSpc>
                <a:spcPct val="125000"/>
              </a:lnSpc>
            </a:pPr>
            <a:r>
              <a:rPr sz="1300" b="0" i="0">
                <a:solidFill>
                  <a:srgbClr val="12161C"/>
                </a:solidFill>
                <a:latin typeface="Arial"/>
              </a:rPr>
              <a:t>“Which vendor has the most </a:t>
            </a:r>
            <a:r>
              <a:rPr sz="1300" b="1" i="0">
                <a:solidFill>
                  <a:srgbClr val="12161C"/>
                </a:solidFill>
                <a:latin typeface="Arial"/>
              </a:rPr>
              <a:t>penalties</a:t>
            </a:r>
            <a:r>
              <a:rPr sz="1300" b="0" i="0">
                <a:solidFill>
                  <a:srgbClr val="12161C"/>
                </a:solidFill>
                <a:latin typeface="Arial"/>
              </a:rPr>
              <a:t>?”</a:t>
            </a:r>
          </a:p>
        </p:txBody>
      </p:sp>
      <p:sp>
        <p:nvSpPr>
          <p:cNvPr id="20" name="Rectangle 19"/>
          <p:cNvSpPr/>
          <p:nvPr/>
        </p:nvSpPr>
        <p:spPr>
          <a:xfrm>
            <a:off x="3663122" y="4648047"/>
            <a:ext cx="1287475" cy="201168"/>
          </a:xfrm>
          <a:prstGeom prst="rect">
            <a:avLst/>
          </a:prstGeom>
          <a:solidFill>
            <a:srgbClr val="E7EF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1F5FA8"/>
                </a:solidFill>
                <a:latin typeface="Menlo"/>
              </a:rPr>
              <a:t>VENDOR_PENALTIES</a:t>
            </a:r>
          </a:p>
        </p:txBody>
      </p:sp>
      <p:sp>
        <p:nvSpPr>
          <p:cNvPr id="21" name="TextBox 20"/>
          <p:cNvSpPr txBox="1"/>
          <p:nvPr/>
        </p:nvSpPr>
        <p:spPr>
          <a:xfrm>
            <a:off x="5874690" y="4629759"/>
            <a:ext cx="5658636" cy="541909"/>
          </a:xfrm>
          <a:prstGeom prst="rect">
            <a:avLst/>
          </a:prstGeom>
          <a:noFill/>
        </p:spPr>
        <p:txBody>
          <a:bodyPr wrap="square" lIns="0" rIns="0" tIns="0" bIns="0">
            <a:spAutoFit/>
          </a:bodyPr>
          <a:lstStyle/>
          <a:p>
            <a:pPr algn="l">
              <a:lnSpc>
                <a:spcPct val="125000"/>
              </a:lnSpc>
            </a:pPr>
            <a:r>
              <a:rPr sz="1300" b="0" i="0">
                <a:solidFill>
                  <a:srgbClr val="12161C"/>
                </a:solidFill>
                <a:latin typeface="Arial"/>
              </a:rPr>
              <a:t>Penalties live on billing, dated by billing cycle — a July penalty can be raised in August. A trip-date filter finds almost nothing.</a:t>
            </a:r>
          </a:p>
        </p:txBody>
      </p:sp>
      <p:sp>
        <p:nvSpPr>
          <p:cNvPr id="22" name="Rectangle 21"/>
          <p:cNvSpPr/>
          <p:nvPr/>
        </p:nvSpPr>
        <p:spPr>
          <a:xfrm>
            <a:off x="566928" y="5272252"/>
            <a:ext cx="11057839" cy="8229"/>
          </a:xfrm>
          <a:prstGeom prst="rect">
            <a:avLst/>
          </a:prstGeom>
          <a:solidFill>
            <a:srgbClr val="DCD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5427700"/>
            <a:ext cx="3004754" cy="541909"/>
          </a:xfrm>
          <a:prstGeom prst="rect">
            <a:avLst/>
          </a:prstGeom>
          <a:noFill/>
        </p:spPr>
        <p:txBody>
          <a:bodyPr wrap="square" lIns="0" rIns="0" tIns="0" bIns="0">
            <a:spAutoFit/>
          </a:bodyPr>
          <a:lstStyle/>
          <a:p>
            <a:pPr algn="l">
              <a:lnSpc>
                <a:spcPct val="125000"/>
              </a:lnSpc>
            </a:pPr>
            <a:r>
              <a:rPr sz="1300" b="0" i="0">
                <a:solidFill>
                  <a:srgbClr val="12161C"/>
                </a:solidFill>
                <a:latin typeface="Arial"/>
              </a:rPr>
              <a:t>“Are we over budget </a:t>
            </a:r>
            <a:r>
              <a:rPr sz="1300" b="1" i="0">
                <a:solidFill>
                  <a:srgbClr val="12161C"/>
                </a:solidFill>
                <a:latin typeface="Arial"/>
              </a:rPr>
              <a:t>and</a:t>
            </a:r>
            <a:r>
              <a:rPr sz="1300" b="0" i="0">
                <a:solidFill>
                  <a:srgbClr val="12161C"/>
                </a:solidFill>
                <a:latin typeface="Arial"/>
              </a:rPr>
              <a:t> should we renegotiate?”</a:t>
            </a:r>
          </a:p>
        </p:txBody>
      </p:sp>
      <p:sp>
        <p:nvSpPr>
          <p:cNvPr id="24" name="Rectangle 23"/>
          <p:cNvSpPr/>
          <p:nvPr/>
        </p:nvSpPr>
        <p:spPr>
          <a:xfrm>
            <a:off x="3663122" y="5445988"/>
            <a:ext cx="716889" cy="201168"/>
          </a:xfrm>
          <a:prstGeom prst="rect">
            <a:avLst/>
          </a:prstGeom>
          <a:solidFill>
            <a:srgbClr val="E7EF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1F5FA8"/>
                </a:solidFill>
                <a:latin typeface="Menlo"/>
              </a:rPr>
              <a:t>COMPOUND</a:t>
            </a:r>
          </a:p>
        </p:txBody>
      </p:sp>
      <p:sp>
        <p:nvSpPr>
          <p:cNvPr id="25" name="TextBox 24"/>
          <p:cNvSpPr txBox="1"/>
          <p:nvPr/>
        </p:nvSpPr>
        <p:spPr>
          <a:xfrm>
            <a:off x="5874690" y="5427700"/>
            <a:ext cx="5658636" cy="541909"/>
          </a:xfrm>
          <a:prstGeom prst="rect">
            <a:avLst/>
          </a:prstGeom>
          <a:noFill/>
        </p:spPr>
        <p:txBody>
          <a:bodyPr wrap="square" lIns="0" rIns="0" tIns="0" bIns="0">
            <a:spAutoFit/>
          </a:bodyPr>
          <a:lstStyle/>
          <a:p>
            <a:pPr algn="l">
              <a:lnSpc>
                <a:spcPct val="125000"/>
              </a:lnSpc>
            </a:pPr>
            <a:r>
              <a:rPr sz="1300" b="0" i="0">
                <a:solidFill>
                  <a:srgbClr val="12161C"/>
                </a:solidFill>
                <a:latin typeface="Arial"/>
              </a:rPr>
              <a:t>Two halves. The tool answers the contract question; the cost metric is attached alongside so the budget half is not silently dropped.</a:t>
            </a:r>
          </a:p>
        </p:txBody>
      </p:sp>
      <p:sp>
        <p:nvSpPr>
          <p:cNvPr id="26" name="TextBox 25"/>
          <p:cNvSpPr txBox="1"/>
          <p:nvPr/>
        </p:nvSpPr>
        <p:spPr>
          <a:xfrm>
            <a:off x="566928" y="6455664"/>
            <a:ext cx="11057839" cy="230200"/>
          </a:xfrm>
          <a:prstGeom prst="rect">
            <a:avLst/>
          </a:prstGeom>
          <a:noFill/>
        </p:spPr>
        <p:txBody>
          <a:bodyPr wrap="square" lIns="0" rIns="0" tIns="0" bIns="0">
            <a:spAutoFit/>
          </a:bodyPr>
          <a:lstStyle/>
          <a:p>
            <a:pPr algn="ctr">
              <a:lnSpc>
                <a:spcPct val="130000"/>
              </a:lnSpc>
            </a:pPr>
            <a:r>
              <a:rPr sz="900" b="0" i="0">
                <a:solidFill>
                  <a:srgbClr val="8A93A0"/>
                </a:solidFill>
                <a:latin typeface="Menlo"/>
              </a:rPr>
              <a:t>RouteMind · figures computed live from the loaded dataset, 5 September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48640"/>
            <a:ext cx="457200" cy="288645"/>
          </a:xfrm>
          <a:prstGeom prst="rect">
            <a:avLst/>
          </a:prstGeom>
          <a:noFill/>
        </p:spPr>
        <p:txBody>
          <a:bodyPr wrap="square" lIns="0" rIns="0" tIns="0" bIns="0">
            <a:spAutoFit/>
          </a:bodyPr>
          <a:lstStyle/>
          <a:p>
            <a:pPr algn="l">
              <a:lnSpc>
                <a:spcPct val="130000"/>
              </a:lnSpc>
            </a:pPr>
            <a:r>
              <a:rPr sz="1200" b="1" i="0">
                <a:solidFill>
                  <a:srgbClr val="1F5FA8"/>
                </a:solidFill>
                <a:latin typeface="Menlo"/>
              </a:rPr>
              <a:t>04</a:t>
            </a:r>
          </a:p>
        </p:txBody>
      </p:sp>
      <p:sp>
        <p:nvSpPr>
          <p:cNvPr id="4" name="TextBox 3"/>
          <p:cNvSpPr txBox="1"/>
          <p:nvPr/>
        </p:nvSpPr>
        <p:spPr>
          <a:xfrm>
            <a:off x="1097280" y="475488"/>
            <a:ext cx="10509199" cy="239941"/>
          </a:xfrm>
          <a:prstGeom prst="rect">
            <a:avLst/>
          </a:prstGeom>
          <a:noFill/>
        </p:spPr>
        <p:txBody>
          <a:bodyPr wrap="square" lIns="0" rIns="0" tIns="0" bIns="0">
            <a:spAutoFit/>
          </a:bodyPr>
          <a:lstStyle/>
          <a:p>
            <a:pPr algn="l">
              <a:lnSpc>
                <a:spcPct val="130000"/>
              </a:lnSpc>
            </a:pPr>
            <a:r>
              <a:rPr sz="950" b="0" i="0">
                <a:solidFill>
                  <a:srgbClr val="8A93A0"/>
                </a:solidFill>
                <a:latin typeface="Menlo"/>
              </a:rPr>
              <a:t>QUESTION SHAPES</a:t>
            </a:r>
          </a:p>
        </p:txBody>
      </p:sp>
      <p:sp>
        <p:nvSpPr>
          <p:cNvPr id="5" name="TextBox 4"/>
          <p:cNvSpPr txBox="1"/>
          <p:nvPr/>
        </p:nvSpPr>
        <p:spPr>
          <a:xfrm>
            <a:off x="1097280" y="667512"/>
            <a:ext cx="10509199" cy="479717"/>
          </a:xfrm>
          <a:prstGeom prst="rect">
            <a:avLst/>
          </a:prstGeom>
          <a:noFill/>
        </p:spPr>
        <p:txBody>
          <a:bodyPr wrap="square" lIns="0" rIns="0" tIns="0" bIns="0">
            <a:spAutoFit/>
          </a:bodyPr>
          <a:lstStyle/>
          <a:p>
            <a:pPr algn="l">
              <a:lnSpc>
                <a:spcPct val="105000"/>
              </a:lnSpc>
            </a:pPr>
            <a:r>
              <a:rPr sz="2700" b="1" i="0">
                <a:solidFill>
                  <a:srgbClr val="12161C"/>
                </a:solidFill>
                <a:latin typeface="Arial"/>
              </a:rPr>
              <a:t>Concentration is the finding</a:t>
            </a:r>
          </a:p>
        </p:txBody>
      </p:sp>
      <p:sp>
        <p:nvSpPr>
          <p:cNvPr id="6" name="TextBox 5"/>
          <p:cNvSpPr txBox="1"/>
          <p:nvPr/>
        </p:nvSpPr>
        <p:spPr>
          <a:xfrm>
            <a:off x="566928" y="1344168"/>
            <a:ext cx="11057839" cy="317868"/>
          </a:xfrm>
          <a:prstGeom prst="rect">
            <a:avLst/>
          </a:prstGeom>
          <a:noFill/>
        </p:spPr>
        <p:txBody>
          <a:bodyPr wrap="square" lIns="0" rIns="0" tIns="0" bIns="0">
            <a:spAutoFit/>
          </a:bodyPr>
          <a:lstStyle/>
          <a:p>
            <a:pPr algn="l">
              <a:lnSpc>
                <a:spcPct val="135000"/>
              </a:lnSpc>
            </a:pPr>
            <a:r>
              <a:rPr sz="1300" b="0" i="0">
                <a:solidFill>
                  <a:srgbClr val="5A6472"/>
                </a:solidFill>
                <a:latin typeface="Arial"/>
              </a:rPr>
              <a:t>Asked who carries the penalties, the answer is not an average — it is that one contract carries nearly all of it.</a:t>
            </a:r>
          </a:p>
        </p:txBody>
      </p:sp>
      <p:sp>
        <p:nvSpPr>
          <p:cNvPr id="7" name="TextBox 6"/>
          <p:cNvSpPr txBox="1"/>
          <p:nvPr/>
        </p:nvSpPr>
        <p:spPr>
          <a:xfrm>
            <a:off x="566928" y="2000364"/>
            <a:ext cx="5486400" cy="239941"/>
          </a:xfrm>
          <a:prstGeom prst="rect">
            <a:avLst/>
          </a:prstGeom>
          <a:noFill/>
        </p:spPr>
        <p:txBody>
          <a:bodyPr wrap="square" lIns="0" rIns="0" tIns="0" bIns="0">
            <a:spAutoFit/>
          </a:bodyPr>
          <a:lstStyle/>
          <a:p>
            <a:pPr algn="l">
              <a:lnSpc>
                <a:spcPct val="130000"/>
              </a:lnSpc>
            </a:pPr>
            <a:r>
              <a:rPr sz="950" b="1" i="0">
                <a:solidFill>
                  <a:srgbClr val="5A6472"/>
                </a:solidFill>
                <a:latin typeface="Menlo"/>
              </a:rPr>
              <a:t>SHARE OF PENALTY VALUE BY CONTRACT</a:t>
            </a:r>
          </a:p>
        </p:txBody>
      </p:sp>
      <p:sp>
        <p:nvSpPr>
          <p:cNvPr id="8" name="TextBox 7"/>
          <p:cNvSpPr txBox="1"/>
          <p:nvPr/>
        </p:nvSpPr>
        <p:spPr>
          <a:xfrm>
            <a:off x="566928" y="2302116"/>
            <a:ext cx="1737360" cy="278904"/>
          </a:xfrm>
          <a:prstGeom prst="rect">
            <a:avLst/>
          </a:prstGeom>
          <a:noFill/>
        </p:spPr>
        <p:txBody>
          <a:bodyPr wrap="square" lIns="0" rIns="0" tIns="0" bIns="0">
            <a:spAutoFit/>
          </a:bodyPr>
          <a:lstStyle/>
          <a:p>
            <a:pPr algn="l">
              <a:lnSpc>
                <a:spcPct val="130000"/>
              </a:lnSpc>
            </a:pPr>
            <a:r>
              <a:rPr sz="1150" b="0" i="0">
                <a:solidFill>
                  <a:srgbClr val="12161C"/>
                </a:solidFill>
                <a:latin typeface="Arial"/>
              </a:rPr>
              <a:t>Meera Lebedev</a:t>
            </a:r>
          </a:p>
        </p:txBody>
      </p:sp>
      <p:sp>
        <p:nvSpPr>
          <p:cNvPr id="9" name="Rectangle 8"/>
          <p:cNvSpPr/>
          <p:nvPr/>
        </p:nvSpPr>
        <p:spPr>
          <a:xfrm>
            <a:off x="2395728" y="2274684"/>
            <a:ext cx="2761488" cy="276514"/>
          </a:xfrm>
          <a:prstGeom prst="rect">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395728" y="2274684"/>
            <a:ext cx="2761488" cy="276514"/>
          </a:xfrm>
          <a:prstGeom prst="rect">
            <a:avLst/>
          </a:prstGeom>
          <a:solidFill>
            <a:srgbClr val="A63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48656" y="2302116"/>
            <a:ext cx="640080" cy="278904"/>
          </a:xfrm>
          <a:prstGeom prst="rect">
            <a:avLst/>
          </a:prstGeom>
          <a:noFill/>
        </p:spPr>
        <p:txBody>
          <a:bodyPr wrap="square" lIns="0" rIns="0" tIns="0" bIns="0">
            <a:spAutoFit/>
          </a:bodyPr>
          <a:lstStyle/>
          <a:p>
            <a:pPr algn="r">
              <a:lnSpc>
                <a:spcPct val="130000"/>
              </a:lnSpc>
            </a:pPr>
            <a:r>
              <a:rPr sz="1150" b="0" i="0">
                <a:solidFill>
                  <a:srgbClr val="5A6472"/>
                </a:solidFill>
                <a:latin typeface="Menlo"/>
              </a:rPr>
              <a:t>94.6%</a:t>
            </a:r>
          </a:p>
        </p:txBody>
      </p:sp>
      <p:sp>
        <p:nvSpPr>
          <p:cNvPr id="12" name="TextBox 11"/>
          <p:cNvSpPr txBox="1"/>
          <p:nvPr/>
        </p:nvSpPr>
        <p:spPr>
          <a:xfrm>
            <a:off x="566928" y="2887332"/>
            <a:ext cx="1737360" cy="278904"/>
          </a:xfrm>
          <a:prstGeom prst="rect">
            <a:avLst/>
          </a:prstGeom>
          <a:noFill/>
        </p:spPr>
        <p:txBody>
          <a:bodyPr wrap="square" lIns="0" rIns="0" tIns="0" bIns="0">
            <a:spAutoFit/>
          </a:bodyPr>
          <a:lstStyle/>
          <a:p>
            <a:pPr algn="l">
              <a:lnSpc>
                <a:spcPct val="130000"/>
              </a:lnSpc>
            </a:pPr>
            <a:r>
              <a:rPr sz="1150" b="0" i="0">
                <a:solidFill>
                  <a:srgbClr val="12161C"/>
                </a:solidFill>
                <a:latin typeface="Arial"/>
              </a:rPr>
              <a:t>Amit Mikhailov</a:t>
            </a:r>
          </a:p>
        </p:txBody>
      </p:sp>
      <p:sp>
        <p:nvSpPr>
          <p:cNvPr id="13" name="Rectangle 12"/>
          <p:cNvSpPr/>
          <p:nvPr/>
        </p:nvSpPr>
        <p:spPr>
          <a:xfrm>
            <a:off x="2395728" y="2859900"/>
            <a:ext cx="2761488" cy="276514"/>
          </a:xfrm>
          <a:prstGeom prst="rect">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95728" y="2859900"/>
            <a:ext cx="151881" cy="276514"/>
          </a:xfrm>
          <a:prstGeom prst="rect">
            <a:avLst/>
          </a:prstGeom>
          <a:solidFill>
            <a:srgbClr val="B4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48656" y="2887332"/>
            <a:ext cx="640080" cy="278904"/>
          </a:xfrm>
          <a:prstGeom prst="rect">
            <a:avLst/>
          </a:prstGeom>
          <a:noFill/>
        </p:spPr>
        <p:txBody>
          <a:bodyPr wrap="square" lIns="0" rIns="0" tIns="0" bIns="0">
            <a:spAutoFit/>
          </a:bodyPr>
          <a:lstStyle/>
          <a:p>
            <a:pPr algn="r">
              <a:lnSpc>
                <a:spcPct val="130000"/>
              </a:lnSpc>
            </a:pPr>
            <a:r>
              <a:rPr sz="1150" b="0" i="0">
                <a:solidFill>
                  <a:srgbClr val="5A6472"/>
                </a:solidFill>
                <a:latin typeface="Menlo"/>
              </a:rPr>
              <a:t>5.2%</a:t>
            </a:r>
          </a:p>
        </p:txBody>
      </p:sp>
      <p:sp>
        <p:nvSpPr>
          <p:cNvPr id="16" name="TextBox 15"/>
          <p:cNvSpPr txBox="1"/>
          <p:nvPr/>
        </p:nvSpPr>
        <p:spPr>
          <a:xfrm>
            <a:off x="566928" y="3472548"/>
            <a:ext cx="1737360" cy="278904"/>
          </a:xfrm>
          <a:prstGeom prst="rect">
            <a:avLst/>
          </a:prstGeom>
          <a:noFill/>
        </p:spPr>
        <p:txBody>
          <a:bodyPr wrap="square" lIns="0" rIns="0" tIns="0" bIns="0">
            <a:spAutoFit/>
          </a:bodyPr>
          <a:lstStyle/>
          <a:p>
            <a:pPr algn="l">
              <a:lnSpc>
                <a:spcPct val="130000"/>
              </a:lnSpc>
            </a:pPr>
            <a:r>
              <a:rPr sz="1150" b="0" i="0">
                <a:solidFill>
                  <a:srgbClr val="12161C"/>
                </a:solidFill>
                <a:latin typeface="Arial"/>
              </a:rPr>
              <a:t>Neha Mikhailov</a:t>
            </a:r>
          </a:p>
        </p:txBody>
      </p:sp>
      <p:sp>
        <p:nvSpPr>
          <p:cNvPr id="17" name="Rectangle 16"/>
          <p:cNvSpPr/>
          <p:nvPr/>
        </p:nvSpPr>
        <p:spPr>
          <a:xfrm>
            <a:off x="2395728" y="3445116"/>
            <a:ext cx="2761488" cy="276514"/>
          </a:xfrm>
          <a:prstGeom prst="rect">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395728" y="3445116"/>
            <a:ext cx="32004" cy="276514"/>
          </a:xfrm>
          <a:prstGeom prst="rect">
            <a:avLst/>
          </a:prstGeom>
          <a:solidFill>
            <a:srgbClr val="B4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48656" y="3472548"/>
            <a:ext cx="640080" cy="278904"/>
          </a:xfrm>
          <a:prstGeom prst="rect">
            <a:avLst/>
          </a:prstGeom>
          <a:noFill/>
        </p:spPr>
        <p:txBody>
          <a:bodyPr wrap="square" lIns="0" rIns="0" tIns="0" bIns="0">
            <a:spAutoFit/>
          </a:bodyPr>
          <a:lstStyle/>
          <a:p>
            <a:pPr algn="r">
              <a:lnSpc>
                <a:spcPct val="130000"/>
              </a:lnSpc>
            </a:pPr>
            <a:r>
              <a:rPr sz="1150" b="0" i="0">
                <a:solidFill>
                  <a:srgbClr val="5A6472"/>
                </a:solidFill>
                <a:latin typeface="Menlo"/>
              </a:rPr>
              <a:t>0.1%</a:t>
            </a:r>
          </a:p>
        </p:txBody>
      </p:sp>
      <p:sp>
        <p:nvSpPr>
          <p:cNvPr id="20" name="Rectangle 19"/>
          <p:cNvSpPr/>
          <p:nvPr/>
        </p:nvSpPr>
        <p:spPr>
          <a:xfrm>
            <a:off x="566928" y="4304652"/>
            <a:ext cx="5394960" cy="713232"/>
          </a:xfrm>
          <a:prstGeom prst="rect">
            <a:avLst/>
          </a:prstGeom>
          <a:solidFill>
            <a:srgbClr val="FA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4487532"/>
            <a:ext cx="4937760" cy="561390"/>
          </a:xfrm>
          <a:prstGeom prst="rect">
            <a:avLst/>
          </a:prstGeom>
          <a:noFill/>
        </p:spPr>
        <p:txBody>
          <a:bodyPr wrap="square" lIns="0" rIns="0" tIns="0" bIns="0">
            <a:spAutoFit/>
          </a:bodyPr>
          <a:lstStyle/>
          <a:p>
            <a:pPr algn="l">
              <a:lnSpc>
                <a:spcPct val="130000"/>
              </a:lnSpc>
            </a:pPr>
            <a:r>
              <a:rPr sz="1300" b="1" i="0">
                <a:solidFill>
                  <a:srgbClr val="A63328"/>
                </a:solidFill>
                <a:latin typeface="Arial"/>
              </a:rPr>
              <a:t>₹14.66M of ₹15.5M total</a:t>
            </a:r>
            <a:r>
              <a:rPr sz="1300" b="0" i="0">
                <a:solidFill>
                  <a:srgbClr val="A63328"/>
                </a:solidFill>
                <a:latin typeface="Arial"/>
              </a:rPr>
              <a:t>, on 152 penalty lines against a single vendor.</a:t>
            </a:r>
          </a:p>
        </p:txBody>
      </p:sp>
      <p:sp>
        <p:nvSpPr>
          <p:cNvPr id="22" name="TextBox 21"/>
          <p:cNvSpPr txBox="1"/>
          <p:nvPr/>
        </p:nvSpPr>
        <p:spPr>
          <a:xfrm>
            <a:off x="6601968" y="2000364"/>
            <a:ext cx="5577840" cy="239941"/>
          </a:xfrm>
          <a:prstGeom prst="rect">
            <a:avLst/>
          </a:prstGeom>
          <a:noFill/>
        </p:spPr>
        <p:txBody>
          <a:bodyPr wrap="square" lIns="0" rIns="0" tIns="0" bIns="0">
            <a:spAutoFit/>
          </a:bodyPr>
          <a:lstStyle/>
          <a:p>
            <a:pPr algn="l">
              <a:lnSpc>
                <a:spcPct val="130000"/>
              </a:lnSpc>
            </a:pPr>
            <a:r>
              <a:rPr sz="950" b="1" i="0">
                <a:solidFill>
                  <a:srgbClr val="5A6472"/>
                </a:solidFill>
                <a:latin typeface="Menlo"/>
              </a:rPr>
              <a:t>EVERY ANSWER CARRIES ITS COMPARISON SET</a:t>
            </a:r>
          </a:p>
        </p:txBody>
      </p:sp>
      <p:sp>
        <p:nvSpPr>
          <p:cNvPr id="23" name="TextBox 22"/>
          <p:cNvSpPr txBox="1"/>
          <p:nvPr/>
        </p:nvSpPr>
        <p:spPr>
          <a:xfrm>
            <a:off x="6601968" y="2274684"/>
            <a:ext cx="5532120" cy="873099"/>
          </a:xfrm>
          <a:prstGeom prst="rect">
            <a:avLst/>
          </a:prstGeom>
          <a:noFill/>
        </p:spPr>
        <p:txBody>
          <a:bodyPr wrap="square" lIns="0" rIns="0" tIns="0" bIns="0">
            <a:spAutoFit/>
          </a:bodyPr>
          <a:lstStyle/>
          <a:p>
            <a:pPr algn="l">
              <a:lnSpc>
                <a:spcPct val="140000"/>
              </a:lnSpc>
            </a:pPr>
            <a:r>
              <a:rPr sz="1300" b="0" i="0">
                <a:solidFill>
                  <a:srgbClr val="5A6472"/>
                </a:solidFill>
                <a:latin typeface="Arial"/>
              </a:rPr>
              <a:t>“94.0% against a 95.0% target” is half an answer — whether that is bad depends on whether every peer is at 98% or at 91%. So a verdict always ships with the spread it was judged against.</a:t>
            </a:r>
          </a:p>
        </p:txBody>
      </p:sp>
      <p:sp>
        <p:nvSpPr>
          <p:cNvPr id="24" name="Rectangle 23"/>
          <p:cNvSpPr/>
          <p:nvPr/>
        </p:nvSpPr>
        <p:spPr>
          <a:xfrm>
            <a:off x="6601968" y="3458679"/>
            <a:ext cx="5532120" cy="1622450"/>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601968" y="3458679"/>
            <a:ext cx="21945" cy="162245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48272" y="3577551"/>
            <a:ext cx="5294376" cy="1402994"/>
          </a:xfrm>
          <a:prstGeom prst="rect">
            <a:avLst/>
          </a:prstGeom>
          <a:noFill/>
        </p:spPr>
        <p:txBody>
          <a:bodyPr wrap="square" lIns="0" rIns="0" tIns="0" bIns="0">
            <a:spAutoFit/>
          </a:bodyPr>
          <a:lstStyle/>
          <a:p>
            <a:pPr>
              <a:lnSpc>
                <a:spcPct val="140000"/>
              </a:lnSpc>
            </a:pPr>
            <a:r>
              <a:rPr sz="1100" b="0" i="0">
                <a:solidFill>
                  <a:srgbClr val="8A93A0"/>
                </a:solidFill>
                <a:latin typeface="Menlo"/>
              </a:rPr>
              <a:t>BENCHMARK</a:t>
            </a:r>
          </a:p>
          <a:p>
            <a:pPr>
              <a:lnSpc>
                <a:spcPct val="140000"/>
              </a:lnSpc>
            </a:pPr>
            <a:r>
              <a:rPr sz="1100" b="0" i="0">
                <a:solidFill>
                  <a:srgbClr val="12161C"/>
                </a:solidFill>
                <a:latin typeface="Menlo"/>
              </a:rPr>
              <a:t>  Across 5 business units, cost_per_trip ranges</a:t>
            </a:r>
          </a:p>
          <a:p>
            <a:pPr>
              <a:lnSpc>
                <a:spcPct val="140000"/>
              </a:lnSpc>
            </a:pPr>
            <a:r>
              <a:rPr sz="1100" b="0" i="0">
                <a:solidFill>
                  <a:srgbClr val="12161C"/>
                </a:solidFill>
                <a:latin typeface="Menlo"/>
              </a:rPr>
              <a:t>  from </a:t>
            </a:r>
            <a:r>
              <a:rPr sz="1100" b="0" i="0">
                <a:solidFill>
                  <a:srgbClr val="1F5FA8"/>
                </a:solidFill>
                <a:latin typeface="Menlo"/>
              </a:rPr>
              <a:t>1123.0</a:t>
            </a:r>
            <a:r>
              <a:rPr sz="1100" b="0" i="0">
                <a:solidFill>
                  <a:srgbClr val="12161C"/>
                </a:solidFill>
                <a:latin typeface="Menlo"/>
              </a:rPr>
              <a:t> (best: pinnacle-Slc) to a median</a:t>
            </a:r>
          </a:p>
          <a:p>
            <a:pPr>
              <a:lnSpc>
                <a:spcPct val="140000"/>
              </a:lnSpc>
            </a:pPr>
            <a:r>
              <a:rPr sz="1100" b="0" i="0">
                <a:solidFill>
                  <a:srgbClr val="12161C"/>
                </a:solidFill>
                <a:latin typeface="Menlo"/>
              </a:rPr>
              <a:t>  of </a:t>
            </a:r>
            <a:r>
              <a:rPr sz="1100" b="0" i="0">
                <a:solidFill>
                  <a:srgbClr val="1F5FA8"/>
                </a:solidFill>
                <a:latin typeface="Menlo"/>
              </a:rPr>
              <a:t>1337.4</a:t>
            </a:r>
            <a:r>
              <a:rPr sz="1100" b="0" i="0">
                <a:solidFill>
                  <a:srgbClr val="12161C"/>
                </a:solidFill>
                <a:latin typeface="Menlo"/>
              </a:rPr>
              <a:t>.</a:t>
            </a:r>
          </a:p>
          <a:p>
            <a:pPr>
              <a:lnSpc>
                <a:spcPct val="140000"/>
              </a:lnSpc>
            </a:pPr>
            <a:r>
              <a:rPr sz="1100" b="0" i="0">
                <a:solidFill>
                  <a:srgbClr val="12161C"/>
                </a:solidFill>
                <a:latin typeface="Menlo"/>
              </a:rPr>
              <a:t>  Peer spread — best 1123.0, median 1337.4,</a:t>
            </a:r>
          </a:p>
          <a:p>
            <a:pPr>
              <a:lnSpc>
                <a:spcPct val="140000"/>
              </a:lnSpc>
            </a:pPr>
            <a:r>
              <a:rPr sz="1100" b="0" i="0">
                <a:solidFill>
                  <a:srgbClr val="12161C"/>
                </a:solidFill>
                <a:latin typeface="Menlo"/>
              </a:rPr>
              <a:t>  worst 1585.4.</a:t>
            </a:r>
          </a:p>
        </p:txBody>
      </p:sp>
      <p:sp>
        <p:nvSpPr>
          <p:cNvPr id="27" name="TextBox 26"/>
          <p:cNvSpPr txBox="1"/>
          <p:nvPr/>
        </p:nvSpPr>
        <p:spPr>
          <a:xfrm>
            <a:off x="566928" y="6455664"/>
            <a:ext cx="11057839" cy="230200"/>
          </a:xfrm>
          <a:prstGeom prst="rect">
            <a:avLst/>
          </a:prstGeom>
          <a:noFill/>
        </p:spPr>
        <p:txBody>
          <a:bodyPr wrap="square" lIns="0" rIns="0" tIns="0" bIns="0">
            <a:spAutoFit/>
          </a:bodyPr>
          <a:lstStyle/>
          <a:p>
            <a:pPr algn="ctr">
              <a:lnSpc>
                <a:spcPct val="130000"/>
              </a:lnSpc>
            </a:pPr>
            <a:r>
              <a:rPr sz="900" b="0" i="0">
                <a:solidFill>
                  <a:srgbClr val="8A93A0"/>
                </a:solidFill>
                <a:latin typeface="Menlo"/>
              </a:rPr>
              <a:t>RouteMind · figures computed live from the loaded dataset, 5 September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48640"/>
            <a:ext cx="457200" cy="288645"/>
          </a:xfrm>
          <a:prstGeom prst="rect">
            <a:avLst/>
          </a:prstGeom>
          <a:noFill/>
        </p:spPr>
        <p:txBody>
          <a:bodyPr wrap="square" lIns="0" rIns="0" tIns="0" bIns="0">
            <a:spAutoFit/>
          </a:bodyPr>
          <a:lstStyle/>
          <a:p>
            <a:pPr algn="l">
              <a:lnSpc>
                <a:spcPct val="130000"/>
              </a:lnSpc>
            </a:pPr>
            <a:r>
              <a:rPr sz="1200" b="1" i="0">
                <a:solidFill>
                  <a:srgbClr val="1F5FA8"/>
                </a:solidFill>
                <a:latin typeface="Menlo"/>
              </a:rPr>
              <a:t>05</a:t>
            </a:r>
          </a:p>
        </p:txBody>
      </p:sp>
      <p:sp>
        <p:nvSpPr>
          <p:cNvPr id="4" name="TextBox 3"/>
          <p:cNvSpPr txBox="1"/>
          <p:nvPr/>
        </p:nvSpPr>
        <p:spPr>
          <a:xfrm>
            <a:off x="1097280" y="475488"/>
            <a:ext cx="10509199" cy="239941"/>
          </a:xfrm>
          <a:prstGeom prst="rect">
            <a:avLst/>
          </a:prstGeom>
          <a:noFill/>
        </p:spPr>
        <p:txBody>
          <a:bodyPr wrap="square" lIns="0" rIns="0" tIns="0" bIns="0">
            <a:spAutoFit/>
          </a:bodyPr>
          <a:lstStyle/>
          <a:p>
            <a:pPr algn="l">
              <a:lnSpc>
                <a:spcPct val="130000"/>
              </a:lnSpc>
            </a:pPr>
            <a:r>
              <a:rPr sz="950" b="0" i="0">
                <a:solidFill>
                  <a:srgbClr val="8A93A0"/>
                </a:solidFill>
                <a:latin typeface="Menlo"/>
              </a:rPr>
              <a:t>ACTING ON IT</a:t>
            </a:r>
          </a:p>
        </p:txBody>
      </p:sp>
      <p:sp>
        <p:nvSpPr>
          <p:cNvPr id="5" name="TextBox 4"/>
          <p:cNvSpPr txBox="1"/>
          <p:nvPr/>
        </p:nvSpPr>
        <p:spPr>
          <a:xfrm>
            <a:off x="1097280" y="667512"/>
            <a:ext cx="10509199" cy="479717"/>
          </a:xfrm>
          <a:prstGeom prst="rect">
            <a:avLst/>
          </a:prstGeom>
          <a:noFill/>
        </p:spPr>
        <p:txBody>
          <a:bodyPr wrap="square" lIns="0" rIns="0" tIns="0" bIns="0">
            <a:spAutoFit/>
          </a:bodyPr>
          <a:lstStyle/>
          <a:p>
            <a:pPr algn="l">
              <a:lnSpc>
                <a:spcPct val="105000"/>
              </a:lnSpc>
            </a:pPr>
            <a:r>
              <a:rPr sz="2700" b="1" i="0">
                <a:solidFill>
                  <a:srgbClr val="12161C"/>
                </a:solidFill>
                <a:latin typeface="Arial"/>
              </a:rPr>
              <a:t>Alerts, on a schedule and on demand</a:t>
            </a:r>
          </a:p>
        </p:txBody>
      </p:sp>
      <p:sp>
        <p:nvSpPr>
          <p:cNvPr id="6" name="TextBox 5"/>
          <p:cNvSpPr txBox="1"/>
          <p:nvPr/>
        </p:nvSpPr>
        <p:spPr>
          <a:xfrm>
            <a:off x="566928" y="1344168"/>
            <a:ext cx="11057839" cy="580872"/>
          </a:xfrm>
          <a:prstGeom prst="rect">
            <a:avLst/>
          </a:prstGeom>
          <a:noFill/>
        </p:spPr>
        <p:txBody>
          <a:bodyPr wrap="square" lIns="0" rIns="0" tIns="0" bIns="0">
            <a:spAutoFit/>
          </a:bodyPr>
          <a:lstStyle/>
          <a:p>
            <a:pPr algn="l">
              <a:lnSpc>
                <a:spcPct val="135000"/>
              </a:lnSpc>
            </a:pPr>
            <a:r>
              <a:rPr sz="1300" b="0" i="0">
                <a:solidFill>
                  <a:srgbClr val="5A6472"/>
                </a:solidFill>
                <a:latin typeface="Arial"/>
              </a:rPr>
              <a:t>Alerts land in the app rather than an inbox, so the whole sense → reason → notify loop runs with nothing external configured. The UI's “trigger now” button calls the same code path as the 07:00 cron — which is what makes the demo honest rather than a mock.</a:t>
            </a:r>
          </a:p>
        </p:txBody>
      </p:sp>
      <p:sp>
        <p:nvSpPr>
          <p:cNvPr id="7" name="TextBox 6"/>
          <p:cNvSpPr txBox="1"/>
          <p:nvPr/>
        </p:nvSpPr>
        <p:spPr>
          <a:xfrm>
            <a:off x="566928" y="2126208"/>
            <a:ext cx="6675120" cy="239941"/>
          </a:xfrm>
          <a:prstGeom prst="rect">
            <a:avLst/>
          </a:prstGeom>
          <a:noFill/>
        </p:spPr>
        <p:txBody>
          <a:bodyPr wrap="square" lIns="0" rIns="0" tIns="0" bIns="0">
            <a:spAutoFit/>
          </a:bodyPr>
          <a:lstStyle/>
          <a:p>
            <a:pPr algn="l">
              <a:lnSpc>
                <a:spcPct val="130000"/>
              </a:lnSpc>
            </a:pPr>
            <a:r>
              <a:rPr sz="950" b="1" i="0">
                <a:solidFill>
                  <a:srgbClr val="5A6472"/>
                </a:solidFill>
                <a:latin typeface="Menlo"/>
              </a:rPr>
              <a:t>THE LOOP</a:t>
            </a:r>
          </a:p>
        </p:txBody>
      </p:sp>
      <p:sp>
        <p:nvSpPr>
          <p:cNvPr id="8" name="Rectangle 7"/>
          <p:cNvSpPr/>
          <p:nvPr/>
        </p:nvSpPr>
        <p:spPr>
          <a:xfrm>
            <a:off x="566928" y="2400528"/>
            <a:ext cx="6629400" cy="1779803"/>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400528"/>
            <a:ext cx="21945" cy="1779803"/>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519400"/>
            <a:ext cx="6391656" cy="1560347"/>
          </a:xfrm>
          <a:prstGeom prst="rect">
            <a:avLst/>
          </a:prstGeom>
          <a:noFill/>
        </p:spPr>
        <p:txBody>
          <a:bodyPr wrap="square" lIns="0" rIns="0" tIns="0" bIns="0">
            <a:spAutoFit/>
          </a:bodyPr>
          <a:lstStyle/>
          <a:p>
            <a:pPr>
              <a:lnSpc>
                <a:spcPct val="140000"/>
              </a:lnSpc>
            </a:pPr>
            <a:r>
              <a:rPr sz="1050" b="0" i="0">
                <a:solidFill>
                  <a:srgbClr val="12161C"/>
                </a:solidFill>
                <a:latin typeface="Menlo"/>
              </a:rPr>
              <a:t>AlertScheduler  </a:t>
            </a:r>
            <a:r>
              <a:rPr sz="1050" b="0" i="0">
                <a:solidFill>
                  <a:srgbClr val="8A93A0"/>
                </a:solidFill>
                <a:latin typeface="Menlo"/>
              </a:rPr>
              <a:t>ticks every 60s</a:t>
            </a:r>
          </a:p>
          <a:p>
            <a:pPr>
              <a:lnSpc>
                <a:spcPct val="140000"/>
              </a:lnSpc>
            </a:pPr>
            <a:r>
              <a:rPr sz="1050" b="0" i="0">
                <a:solidFill>
                  <a:srgbClr val="12161C"/>
                </a:solidFill>
                <a:latin typeface="Menlo"/>
              </a:rPr>
              <a:t>   └─ reads alert_schedule   </a:t>
            </a:r>
            <a:r>
              <a:rPr sz="1050" b="0" i="0">
                <a:solidFill>
                  <a:srgbClr val="8A93A0"/>
                </a:solidFill>
                <a:latin typeface="Menlo"/>
              </a:rPr>
              <a:t>cron · timezone · next_run_at</a:t>
            </a:r>
          </a:p>
          <a:p>
            <a:pPr>
              <a:lnSpc>
                <a:spcPct val="140000"/>
              </a:lnSpc>
            </a:pPr>
            <a:r>
              <a:rPr sz="1050" b="0" i="0">
                <a:solidFill>
                  <a:srgbClr val="12161C"/>
                </a:solidFill>
                <a:latin typeface="Menlo"/>
              </a:rPr>
              <a:t>        └─ ReportService.run(code, asOf, bu, force)</a:t>
            </a:r>
          </a:p>
          <a:p>
            <a:pPr>
              <a:lnSpc>
                <a:spcPct val="140000"/>
              </a:lnSpc>
            </a:pPr>
            <a:r>
              <a:rPr sz="1050" b="0" i="0">
                <a:solidFill>
                  <a:srgbClr val="12161C"/>
                </a:solidFill>
                <a:latin typeface="Menlo"/>
              </a:rPr>
              <a:t>             └─ ReportGenerator   </a:t>
            </a:r>
            <a:r>
              <a:rPr sz="1050" b="0" i="0">
                <a:solidFill>
                  <a:srgbClr val="8A93A0"/>
                </a:solidFill>
                <a:latin typeface="Menlo"/>
              </a:rPr>
              <a:t>(plugin)</a:t>
            </a:r>
          </a:p>
          <a:p>
            <a:pPr>
              <a:lnSpc>
                <a:spcPct val="140000"/>
              </a:lnSpc>
            </a:pPr>
            <a:r>
              <a:rPr sz="1050" b="0" i="0">
                <a:solidFill>
                  <a:srgbClr val="12161C"/>
                </a:solidFill>
                <a:latin typeface="Menlo"/>
              </a:rPr>
              <a:t>                  └─ NotificationChannel</a:t>
            </a:r>
          </a:p>
          <a:p>
            <a:pPr>
              <a:lnSpc>
                <a:spcPct val="140000"/>
              </a:lnSpc>
            </a:pPr>
            <a:r>
              <a:rPr sz="1050" b="0" i="0">
                <a:solidFill>
                  <a:srgbClr val="12161C"/>
                </a:solidFill>
                <a:latin typeface="Menlo"/>
              </a:rPr>
              <a:t>                       ├─ </a:t>
            </a:r>
            <a:r>
              <a:rPr sz="1050" b="0" i="0">
                <a:solidFill>
                  <a:srgbClr val="1F5FA8"/>
                </a:solidFill>
                <a:latin typeface="Menlo"/>
              </a:rPr>
              <a:t>IN_APP</a:t>
            </a:r>
            <a:r>
              <a:rPr sz="1050" b="0" i="0">
                <a:solidFill>
                  <a:srgbClr val="12161C"/>
                </a:solidFill>
                <a:latin typeface="Menlo"/>
              </a:rPr>
              <a:t> → in_app_alert → UI inbox</a:t>
            </a:r>
          </a:p>
          <a:p>
            <a:pPr>
              <a:lnSpc>
                <a:spcPct val="140000"/>
              </a:lnSpc>
            </a:pPr>
            <a:r>
              <a:rPr sz="1050" b="0" i="0">
                <a:solidFill>
                  <a:srgbClr val="12161C"/>
                </a:solidFill>
                <a:latin typeface="Menlo"/>
              </a:rPr>
              <a:t>                       └─ EMAIL  → JavaMailSender </a:t>
            </a:r>
            <a:r>
              <a:rPr sz="1050" b="0" i="0">
                <a:solidFill>
                  <a:srgbClr val="8A93A0"/>
                </a:solidFill>
                <a:latin typeface="Menlo"/>
              </a:rPr>
              <a:t>(optional)</a:t>
            </a:r>
          </a:p>
        </p:txBody>
      </p:sp>
      <p:sp>
        <p:nvSpPr>
          <p:cNvPr id="11" name="Rectangle 10"/>
          <p:cNvSpPr/>
          <p:nvPr/>
        </p:nvSpPr>
        <p:spPr>
          <a:xfrm>
            <a:off x="566928" y="4454651"/>
            <a:ext cx="20116" cy="481660"/>
          </a:xfrm>
          <a:prstGeom prst="rect">
            <a:avLst/>
          </a:prstGeom>
          <a:solidFill>
            <a:srgbClr val="C3C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454651"/>
            <a:ext cx="6464808" cy="499948"/>
          </a:xfrm>
          <a:prstGeom prst="rect">
            <a:avLst/>
          </a:prstGeom>
          <a:noFill/>
        </p:spPr>
        <p:txBody>
          <a:bodyPr wrap="square" lIns="0" rIns="0" tIns="0" bIns="0">
            <a:spAutoFit/>
          </a:bodyPr>
          <a:lstStyle/>
          <a:p>
            <a:pPr algn="l">
              <a:lnSpc>
                <a:spcPct val="135000"/>
              </a:lnSpc>
            </a:pPr>
            <a:r>
              <a:rPr sz="1100" b="0" i="0">
                <a:solidFill>
                  <a:srgbClr val="5A6472"/>
                </a:solidFill>
                <a:latin typeface="Arial"/>
              </a:rPr>
              <a:t>The tick is the only fixed timing in the system. Everything about when comes from the database row, so an admin changes a cadence from the UI rather than by redeploying.</a:t>
            </a:r>
          </a:p>
        </p:txBody>
      </p:sp>
      <p:sp>
        <p:nvSpPr>
          <p:cNvPr id="13" name="TextBox 12"/>
          <p:cNvSpPr txBox="1"/>
          <p:nvPr/>
        </p:nvSpPr>
        <p:spPr>
          <a:xfrm>
            <a:off x="7653527" y="2126208"/>
            <a:ext cx="4526280" cy="239941"/>
          </a:xfrm>
          <a:prstGeom prst="rect">
            <a:avLst/>
          </a:prstGeom>
          <a:noFill/>
        </p:spPr>
        <p:txBody>
          <a:bodyPr wrap="square" lIns="0" rIns="0" tIns="0" bIns="0">
            <a:spAutoFit/>
          </a:bodyPr>
          <a:lstStyle/>
          <a:p>
            <a:pPr algn="l">
              <a:lnSpc>
                <a:spcPct val="130000"/>
              </a:lnSpc>
            </a:pPr>
            <a:r>
              <a:rPr sz="950" b="1" i="0">
                <a:solidFill>
                  <a:srgbClr val="5A6472"/>
                </a:solidFill>
                <a:latin typeface="Menlo"/>
              </a:rPr>
              <a:t>WHAT RUNS</a:t>
            </a:r>
          </a:p>
        </p:txBody>
      </p:sp>
      <p:sp>
        <p:nvSpPr>
          <p:cNvPr id="14" name="TextBox 13"/>
          <p:cNvSpPr txBox="1"/>
          <p:nvPr/>
        </p:nvSpPr>
        <p:spPr>
          <a:xfrm>
            <a:off x="7653527" y="2400528"/>
            <a:ext cx="2462479" cy="220459"/>
          </a:xfrm>
          <a:prstGeom prst="rect">
            <a:avLst/>
          </a:prstGeom>
          <a:noFill/>
        </p:spPr>
        <p:txBody>
          <a:bodyPr wrap="square" lIns="0" rIns="0" tIns="0" bIns="0">
            <a:spAutoFit/>
          </a:bodyPr>
          <a:lstStyle/>
          <a:p>
            <a:pPr algn="l">
              <a:lnSpc>
                <a:spcPct val="130000"/>
              </a:lnSpc>
            </a:pPr>
            <a:r>
              <a:rPr sz="850" b="1" i="0">
                <a:solidFill>
                  <a:srgbClr val="5A6472"/>
                </a:solidFill>
                <a:latin typeface="Menlo"/>
              </a:rPr>
              <a:t>ALERT</a:t>
            </a:r>
          </a:p>
        </p:txBody>
      </p:sp>
      <p:sp>
        <p:nvSpPr>
          <p:cNvPr id="15" name="TextBox 14"/>
          <p:cNvSpPr txBox="1"/>
          <p:nvPr/>
        </p:nvSpPr>
        <p:spPr>
          <a:xfrm>
            <a:off x="10207447" y="2400528"/>
            <a:ext cx="1835200" cy="220459"/>
          </a:xfrm>
          <a:prstGeom prst="rect">
            <a:avLst/>
          </a:prstGeom>
          <a:noFill/>
        </p:spPr>
        <p:txBody>
          <a:bodyPr wrap="square" lIns="0" rIns="0" tIns="0" bIns="0">
            <a:spAutoFit/>
          </a:bodyPr>
          <a:lstStyle/>
          <a:p>
            <a:pPr algn="r">
              <a:lnSpc>
                <a:spcPct val="130000"/>
              </a:lnSpc>
            </a:pPr>
            <a:r>
              <a:rPr sz="850" b="1" i="0">
                <a:solidFill>
                  <a:srgbClr val="5A6472"/>
                </a:solidFill>
                <a:latin typeface="Menlo"/>
              </a:rPr>
              <a:t>CADENCE</a:t>
            </a:r>
          </a:p>
        </p:txBody>
      </p:sp>
      <p:sp>
        <p:nvSpPr>
          <p:cNvPr id="16" name="Rectangle 15"/>
          <p:cNvSpPr/>
          <p:nvPr/>
        </p:nvSpPr>
        <p:spPr>
          <a:xfrm>
            <a:off x="7653527" y="2638272"/>
            <a:ext cx="4480560" cy="8229"/>
          </a:xfrm>
          <a:prstGeom prst="rect">
            <a:avLst/>
          </a:prstGeom>
          <a:solidFill>
            <a:srgbClr val="C3C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53527" y="2729712"/>
            <a:ext cx="2462479" cy="289020"/>
          </a:xfrm>
          <a:prstGeom prst="rect">
            <a:avLst/>
          </a:prstGeom>
          <a:noFill/>
        </p:spPr>
        <p:txBody>
          <a:bodyPr wrap="square" lIns="0" rIns="0" tIns="0" bIns="0">
            <a:spAutoFit/>
          </a:bodyPr>
          <a:lstStyle/>
          <a:p>
            <a:pPr algn="l">
              <a:lnSpc>
                <a:spcPct val="125000"/>
              </a:lnSpc>
            </a:pPr>
            <a:r>
              <a:rPr sz="1250" b="0" i="0">
                <a:solidFill>
                  <a:srgbClr val="12161C"/>
                </a:solidFill>
                <a:latin typeface="Arial"/>
              </a:rPr>
              <a:t>Transport manager signals</a:t>
            </a:r>
          </a:p>
        </p:txBody>
      </p:sp>
      <p:sp>
        <p:nvSpPr>
          <p:cNvPr id="18" name="TextBox 17"/>
          <p:cNvSpPr txBox="1"/>
          <p:nvPr/>
        </p:nvSpPr>
        <p:spPr>
          <a:xfrm>
            <a:off x="10207447" y="2729712"/>
            <a:ext cx="1835200" cy="289020"/>
          </a:xfrm>
          <a:prstGeom prst="rect">
            <a:avLst/>
          </a:prstGeom>
          <a:noFill/>
        </p:spPr>
        <p:txBody>
          <a:bodyPr wrap="square" lIns="0" rIns="0" tIns="0" bIns="0">
            <a:spAutoFit/>
          </a:bodyPr>
          <a:lstStyle/>
          <a:p>
            <a:pPr algn="r">
              <a:lnSpc>
                <a:spcPct val="125000"/>
              </a:lnSpc>
            </a:pPr>
            <a:r>
              <a:rPr sz="1250" b="0" i="0">
                <a:solidFill>
                  <a:srgbClr val="12161C"/>
                </a:solidFill>
                <a:latin typeface="Menlo"/>
              </a:rPr>
              <a:t>weekdays 07:00</a:t>
            </a:r>
          </a:p>
        </p:txBody>
      </p:sp>
      <p:sp>
        <p:nvSpPr>
          <p:cNvPr id="19" name="Rectangle 18"/>
          <p:cNvSpPr/>
          <p:nvPr/>
        </p:nvSpPr>
        <p:spPr>
          <a:xfrm>
            <a:off x="7653527" y="3064452"/>
            <a:ext cx="4480560" cy="8229"/>
          </a:xfrm>
          <a:prstGeom prst="rect">
            <a:avLst/>
          </a:prstGeom>
          <a:solidFill>
            <a:srgbClr val="DCD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53527" y="3165036"/>
            <a:ext cx="2462479" cy="289020"/>
          </a:xfrm>
          <a:prstGeom prst="rect">
            <a:avLst/>
          </a:prstGeom>
          <a:noFill/>
        </p:spPr>
        <p:txBody>
          <a:bodyPr wrap="square" lIns="0" rIns="0" tIns="0" bIns="0">
            <a:spAutoFit/>
          </a:bodyPr>
          <a:lstStyle/>
          <a:p>
            <a:pPr algn="l">
              <a:lnSpc>
                <a:spcPct val="125000"/>
              </a:lnSpc>
            </a:pPr>
            <a:r>
              <a:rPr sz="1250" b="0" i="0">
                <a:solidFill>
                  <a:srgbClr val="12161C"/>
                </a:solidFill>
                <a:latin typeface="Arial"/>
              </a:rPr>
              <a:t>Weekly detailed report</a:t>
            </a:r>
          </a:p>
        </p:txBody>
      </p:sp>
      <p:sp>
        <p:nvSpPr>
          <p:cNvPr id="21" name="TextBox 20"/>
          <p:cNvSpPr txBox="1"/>
          <p:nvPr/>
        </p:nvSpPr>
        <p:spPr>
          <a:xfrm>
            <a:off x="10207447" y="3165036"/>
            <a:ext cx="1835200" cy="289020"/>
          </a:xfrm>
          <a:prstGeom prst="rect">
            <a:avLst/>
          </a:prstGeom>
          <a:noFill/>
        </p:spPr>
        <p:txBody>
          <a:bodyPr wrap="square" lIns="0" rIns="0" tIns="0" bIns="0">
            <a:spAutoFit/>
          </a:bodyPr>
          <a:lstStyle/>
          <a:p>
            <a:pPr algn="r">
              <a:lnSpc>
                <a:spcPct val="125000"/>
              </a:lnSpc>
            </a:pPr>
            <a:r>
              <a:rPr sz="1250" b="0" i="0">
                <a:solidFill>
                  <a:srgbClr val="12161C"/>
                </a:solidFill>
                <a:latin typeface="Menlo"/>
              </a:rPr>
              <a:t>Mondays 08:00</a:t>
            </a:r>
          </a:p>
        </p:txBody>
      </p:sp>
      <p:sp>
        <p:nvSpPr>
          <p:cNvPr id="22" name="Rectangle 21"/>
          <p:cNvSpPr/>
          <p:nvPr/>
        </p:nvSpPr>
        <p:spPr>
          <a:xfrm>
            <a:off x="7653527" y="3499777"/>
            <a:ext cx="4480560" cy="8229"/>
          </a:xfrm>
          <a:prstGeom prst="rect">
            <a:avLst/>
          </a:prstGeom>
          <a:solidFill>
            <a:srgbClr val="DCD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53527" y="3600361"/>
            <a:ext cx="2462479" cy="289020"/>
          </a:xfrm>
          <a:prstGeom prst="rect">
            <a:avLst/>
          </a:prstGeom>
          <a:noFill/>
        </p:spPr>
        <p:txBody>
          <a:bodyPr wrap="square" lIns="0" rIns="0" tIns="0" bIns="0">
            <a:spAutoFit/>
          </a:bodyPr>
          <a:lstStyle/>
          <a:p>
            <a:pPr algn="l">
              <a:lnSpc>
                <a:spcPct val="125000"/>
              </a:lnSpc>
            </a:pPr>
            <a:r>
              <a:rPr sz="1250" b="0" i="0">
                <a:solidFill>
                  <a:srgbClr val="12161C"/>
                </a:solidFill>
                <a:latin typeface="Arial"/>
              </a:rPr>
              <a:t>Facilities head briefing</a:t>
            </a:r>
          </a:p>
        </p:txBody>
      </p:sp>
      <p:sp>
        <p:nvSpPr>
          <p:cNvPr id="24" name="TextBox 23"/>
          <p:cNvSpPr txBox="1"/>
          <p:nvPr/>
        </p:nvSpPr>
        <p:spPr>
          <a:xfrm>
            <a:off x="10207447" y="3600361"/>
            <a:ext cx="1835200" cy="289020"/>
          </a:xfrm>
          <a:prstGeom prst="rect">
            <a:avLst/>
          </a:prstGeom>
          <a:noFill/>
        </p:spPr>
        <p:txBody>
          <a:bodyPr wrap="square" lIns="0" rIns="0" tIns="0" bIns="0">
            <a:spAutoFit/>
          </a:bodyPr>
          <a:lstStyle/>
          <a:p>
            <a:pPr algn="r">
              <a:lnSpc>
                <a:spcPct val="125000"/>
              </a:lnSpc>
            </a:pPr>
            <a:r>
              <a:rPr sz="1250" b="0" i="0">
                <a:solidFill>
                  <a:srgbClr val="12161C"/>
                </a:solidFill>
                <a:latin typeface="Menlo"/>
              </a:rPr>
              <a:t>1st, 08:00</a:t>
            </a:r>
          </a:p>
        </p:txBody>
      </p:sp>
      <p:sp>
        <p:nvSpPr>
          <p:cNvPr id="25" name="TextBox 24"/>
          <p:cNvSpPr txBox="1"/>
          <p:nvPr/>
        </p:nvSpPr>
        <p:spPr>
          <a:xfrm>
            <a:off x="7653527" y="4346581"/>
            <a:ext cx="4526280" cy="239941"/>
          </a:xfrm>
          <a:prstGeom prst="rect">
            <a:avLst/>
          </a:prstGeom>
          <a:noFill/>
        </p:spPr>
        <p:txBody>
          <a:bodyPr wrap="square" lIns="0" rIns="0" tIns="0" bIns="0">
            <a:spAutoFit/>
          </a:bodyPr>
          <a:lstStyle/>
          <a:p>
            <a:pPr algn="l">
              <a:lnSpc>
                <a:spcPct val="130000"/>
              </a:lnSpc>
            </a:pPr>
            <a:r>
              <a:rPr sz="950" b="1" i="0">
                <a:solidFill>
                  <a:srgbClr val="5A6472"/>
                </a:solidFill>
                <a:latin typeface="Menlo"/>
              </a:rPr>
              <a:t>A QUIET WEEK IS ITSELF THE FINDING</a:t>
            </a:r>
          </a:p>
        </p:txBody>
      </p:sp>
      <p:sp>
        <p:nvSpPr>
          <p:cNvPr id="26" name="TextBox 25"/>
          <p:cNvSpPr txBox="1"/>
          <p:nvPr/>
        </p:nvSpPr>
        <p:spPr>
          <a:xfrm>
            <a:off x="7653527" y="4620901"/>
            <a:ext cx="4480560" cy="1103884"/>
          </a:xfrm>
          <a:prstGeom prst="rect">
            <a:avLst/>
          </a:prstGeom>
          <a:noFill/>
        </p:spPr>
        <p:txBody>
          <a:bodyPr wrap="square" lIns="0" rIns="0" tIns="0" bIns="0">
            <a:spAutoFit/>
          </a:bodyPr>
          <a:lstStyle/>
          <a:p>
            <a:pPr algn="l">
              <a:lnSpc>
                <a:spcPct val="140000"/>
              </a:lnSpc>
            </a:pPr>
            <a:r>
              <a:rPr sz="1250" b="0" i="0">
                <a:solidFill>
                  <a:srgbClr val="5A6472"/>
                </a:solidFill>
                <a:latin typeface="Arial"/>
              </a:rPr>
              <a:t>The weekly review is always delivered, unlike the alert stream, which suppresses a repeat within its cooldown. Suppression is recorded — SUPPRESSED with a reason — so a silent week is never confused with a broken job.</a:t>
            </a:r>
          </a:p>
        </p:txBody>
      </p:sp>
      <p:sp>
        <p:nvSpPr>
          <p:cNvPr id="27" name="TextBox 26"/>
          <p:cNvSpPr txBox="1"/>
          <p:nvPr/>
        </p:nvSpPr>
        <p:spPr>
          <a:xfrm>
            <a:off x="566928" y="6455664"/>
            <a:ext cx="11057839" cy="230200"/>
          </a:xfrm>
          <a:prstGeom prst="rect">
            <a:avLst/>
          </a:prstGeom>
          <a:noFill/>
        </p:spPr>
        <p:txBody>
          <a:bodyPr wrap="square" lIns="0" rIns="0" tIns="0" bIns="0">
            <a:spAutoFit/>
          </a:bodyPr>
          <a:lstStyle/>
          <a:p>
            <a:pPr algn="ctr">
              <a:lnSpc>
                <a:spcPct val="130000"/>
              </a:lnSpc>
            </a:pPr>
            <a:r>
              <a:rPr sz="900" b="0" i="0">
                <a:solidFill>
                  <a:srgbClr val="8A93A0"/>
                </a:solidFill>
                <a:latin typeface="Menlo"/>
              </a:rPr>
              <a:t>RouteMind · figures computed live from the loaded dataset, 5 September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48640"/>
            <a:ext cx="457200" cy="288645"/>
          </a:xfrm>
          <a:prstGeom prst="rect">
            <a:avLst/>
          </a:prstGeom>
          <a:noFill/>
        </p:spPr>
        <p:txBody>
          <a:bodyPr wrap="square" lIns="0" rIns="0" tIns="0" bIns="0">
            <a:spAutoFit/>
          </a:bodyPr>
          <a:lstStyle/>
          <a:p>
            <a:pPr algn="l">
              <a:lnSpc>
                <a:spcPct val="130000"/>
              </a:lnSpc>
            </a:pPr>
            <a:r>
              <a:rPr sz="1200" b="1" i="0">
                <a:solidFill>
                  <a:srgbClr val="1F5FA8"/>
                </a:solidFill>
                <a:latin typeface="Menlo"/>
              </a:rPr>
              <a:t>06</a:t>
            </a:r>
          </a:p>
        </p:txBody>
      </p:sp>
      <p:sp>
        <p:nvSpPr>
          <p:cNvPr id="4" name="TextBox 3"/>
          <p:cNvSpPr txBox="1"/>
          <p:nvPr/>
        </p:nvSpPr>
        <p:spPr>
          <a:xfrm>
            <a:off x="1097280" y="475488"/>
            <a:ext cx="10509199" cy="239941"/>
          </a:xfrm>
          <a:prstGeom prst="rect">
            <a:avLst/>
          </a:prstGeom>
          <a:noFill/>
        </p:spPr>
        <p:txBody>
          <a:bodyPr wrap="square" lIns="0" rIns="0" tIns="0" bIns="0">
            <a:spAutoFit/>
          </a:bodyPr>
          <a:lstStyle/>
          <a:p>
            <a:pPr algn="l">
              <a:lnSpc>
                <a:spcPct val="130000"/>
              </a:lnSpc>
            </a:pPr>
            <a:r>
              <a:rPr sz="950" b="0" i="0">
                <a:solidFill>
                  <a:srgbClr val="8A93A0"/>
                </a:solidFill>
                <a:latin typeface="Menlo"/>
              </a:rPr>
              <a:t>ARCHITECTURE</a:t>
            </a:r>
          </a:p>
        </p:txBody>
      </p:sp>
      <p:sp>
        <p:nvSpPr>
          <p:cNvPr id="5" name="TextBox 4"/>
          <p:cNvSpPr txBox="1"/>
          <p:nvPr/>
        </p:nvSpPr>
        <p:spPr>
          <a:xfrm>
            <a:off x="1097280" y="667512"/>
            <a:ext cx="10509199" cy="479717"/>
          </a:xfrm>
          <a:prstGeom prst="rect">
            <a:avLst/>
          </a:prstGeom>
          <a:noFill/>
        </p:spPr>
        <p:txBody>
          <a:bodyPr wrap="square" lIns="0" rIns="0" tIns="0" bIns="0">
            <a:spAutoFit/>
          </a:bodyPr>
          <a:lstStyle/>
          <a:p>
            <a:pPr algn="l">
              <a:lnSpc>
                <a:spcPct val="105000"/>
              </a:lnSpc>
            </a:pPr>
            <a:r>
              <a:rPr sz="2700" b="1" i="0">
                <a:solidFill>
                  <a:srgbClr val="12161C"/>
                </a:solidFill>
                <a:latin typeface="Arial"/>
              </a:rPr>
              <a:t>How it fits together</a:t>
            </a:r>
          </a:p>
        </p:txBody>
      </p:sp>
      <p:sp>
        <p:nvSpPr>
          <p:cNvPr id="6" name="TextBox 5"/>
          <p:cNvSpPr txBox="1"/>
          <p:nvPr/>
        </p:nvSpPr>
        <p:spPr>
          <a:xfrm>
            <a:off x="566928" y="1344168"/>
            <a:ext cx="11057839" cy="580872"/>
          </a:xfrm>
          <a:prstGeom prst="rect">
            <a:avLst/>
          </a:prstGeom>
          <a:noFill/>
        </p:spPr>
        <p:txBody>
          <a:bodyPr wrap="square" lIns="0" rIns="0" tIns="0" bIns="0">
            <a:spAutoFit/>
          </a:bodyPr>
          <a:lstStyle/>
          <a:p>
            <a:pPr algn="l">
              <a:lnSpc>
                <a:spcPct val="135000"/>
              </a:lnSpc>
            </a:pPr>
            <a:r>
              <a:rPr sz="1300" b="0" i="0">
                <a:solidFill>
                  <a:srgbClr val="5A6472"/>
                </a:solidFill>
                <a:latin typeface="Arial"/>
              </a:rPr>
              <a:t>One Spring Boot service over Postgres, with the LLM strictly at the edge. Every layer degrades to the one beneath it, so no single failure takes the product down — it only makes the wording less fluent.</a:t>
            </a:r>
          </a:p>
        </p:txBody>
      </p:sp>
      <p:sp>
        <p:nvSpPr>
          <p:cNvPr id="7" name="Rectangle 6"/>
          <p:cNvSpPr/>
          <p:nvPr/>
        </p:nvSpPr>
        <p:spPr>
          <a:xfrm>
            <a:off x="1938528" y="2171928"/>
            <a:ext cx="1838858" cy="246888"/>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i="0">
                <a:solidFill>
                  <a:srgbClr val="12161C"/>
                </a:solidFill>
                <a:latin typeface="Menlo"/>
              </a:rPr>
              <a:t>Angular 18 · standalone</a:t>
            </a:r>
          </a:p>
        </p:txBody>
      </p:sp>
      <p:sp>
        <p:nvSpPr>
          <p:cNvPr id="8" name="Rectangle 7"/>
          <p:cNvSpPr/>
          <p:nvPr/>
        </p:nvSpPr>
        <p:spPr>
          <a:xfrm>
            <a:off x="3859682" y="2171928"/>
            <a:ext cx="1416405" cy="246888"/>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i="0">
                <a:solidFill>
                  <a:srgbClr val="12161C"/>
                </a:solidFill>
                <a:latin typeface="Menlo"/>
              </a:rPr>
              <a:t>dev proxy → :8080</a:t>
            </a:r>
          </a:p>
        </p:txBody>
      </p:sp>
      <p:sp>
        <p:nvSpPr>
          <p:cNvPr id="9" name="Rectangle 8"/>
          <p:cNvSpPr/>
          <p:nvPr/>
        </p:nvSpPr>
        <p:spPr>
          <a:xfrm>
            <a:off x="5358384" y="2171928"/>
            <a:ext cx="2402128" cy="246888"/>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i="0">
                <a:solidFill>
                  <a:srgbClr val="12161C"/>
                </a:solidFill>
                <a:latin typeface="Menlo"/>
              </a:rPr>
              <a:t>persona + business-unit filters</a:t>
            </a:r>
          </a:p>
        </p:txBody>
      </p:sp>
      <p:sp>
        <p:nvSpPr>
          <p:cNvPr id="10" name="TextBox 9"/>
          <p:cNvSpPr txBox="1"/>
          <p:nvPr/>
        </p:nvSpPr>
        <p:spPr>
          <a:xfrm>
            <a:off x="566928" y="2217648"/>
            <a:ext cx="1280160" cy="239941"/>
          </a:xfrm>
          <a:prstGeom prst="rect">
            <a:avLst/>
          </a:prstGeom>
          <a:noFill/>
        </p:spPr>
        <p:txBody>
          <a:bodyPr wrap="square" lIns="0" rIns="0" tIns="0" bIns="0">
            <a:spAutoFit/>
          </a:bodyPr>
          <a:lstStyle/>
          <a:p>
            <a:pPr algn="l">
              <a:lnSpc>
                <a:spcPct val="130000"/>
              </a:lnSpc>
            </a:pPr>
            <a:r>
              <a:rPr sz="950" b="0" i="0">
                <a:solidFill>
                  <a:srgbClr val="5A6472"/>
                </a:solidFill>
                <a:latin typeface="Menlo"/>
              </a:rPr>
              <a:t>CLIENT</a:t>
            </a:r>
          </a:p>
        </p:txBody>
      </p:sp>
      <p:sp>
        <p:nvSpPr>
          <p:cNvPr id="11" name="Rectangle 10"/>
          <p:cNvSpPr/>
          <p:nvPr/>
        </p:nvSpPr>
        <p:spPr>
          <a:xfrm>
            <a:off x="566928" y="2565120"/>
            <a:ext cx="11057839" cy="8229"/>
          </a:xfrm>
          <a:prstGeom prst="rect">
            <a:avLst/>
          </a:prstGeom>
          <a:solidFill>
            <a:srgbClr val="DCD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938528" y="2693136"/>
            <a:ext cx="782726" cy="246888"/>
          </a:xfrm>
          <a:prstGeom prst="rect">
            <a:avLst/>
          </a:prstGeom>
          <a:solidFill>
            <a:srgbClr val="E7EFF8"/>
          </a:solidFill>
          <a:ln w="9525">
            <a:solidFill>
              <a:srgbClr val="1F5F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1F5FA8"/>
                </a:solidFill>
                <a:latin typeface="Menlo"/>
              </a:rPr>
              <a:t>/metrics</a:t>
            </a:r>
          </a:p>
        </p:txBody>
      </p:sp>
      <p:sp>
        <p:nvSpPr>
          <p:cNvPr id="13" name="Rectangle 12"/>
          <p:cNvSpPr/>
          <p:nvPr/>
        </p:nvSpPr>
        <p:spPr>
          <a:xfrm>
            <a:off x="2803550" y="2693136"/>
            <a:ext cx="1134770" cy="246888"/>
          </a:xfrm>
          <a:prstGeom prst="rect">
            <a:avLst/>
          </a:prstGeom>
          <a:solidFill>
            <a:srgbClr val="E7EFF8"/>
          </a:solidFill>
          <a:ln w="9525">
            <a:solidFill>
              <a:srgbClr val="1F5F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1F5FA8"/>
                </a:solidFill>
                <a:latin typeface="Menlo"/>
              </a:rPr>
              <a:t>/diagnose/ota</a:t>
            </a:r>
          </a:p>
        </p:txBody>
      </p:sp>
      <p:sp>
        <p:nvSpPr>
          <p:cNvPr id="14" name="Rectangle 13"/>
          <p:cNvSpPr/>
          <p:nvPr/>
        </p:nvSpPr>
        <p:spPr>
          <a:xfrm>
            <a:off x="4020616" y="2693136"/>
            <a:ext cx="1557223" cy="246888"/>
          </a:xfrm>
          <a:prstGeom prst="rect">
            <a:avLst/>
          </a:prstGeom>
          <a:solidFill>
            <a:srgbClr val="E7EFF8"/>
          </a:solidFill>
          <a:ln w="9525">
            <a:solidFill>
              <a:srgbClr val="1F5F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1F5FA8"/>
                </a:solidFill>
                <a:latin typeface="Menlo"/>
              </a:rPr>
              <a:t>/diagnose/degrading</a:t>
            </a:r>
          </a:p>
        </p:txBody>
      </p:sp>
      <p:sp>
        <p:nvSpPr>
          <p:cNvPr id="15" name="Rectangle 14"/>
          <p:cNvSpPr/>
          <p:nvPr/>
        </p:nvSpPr>
        <p:spPr>
          <a:xfrm>
            <a:off x="5660136" y="2693136"/>
            <a:ext cx="923544" cy="246888"/>
          </a:xfrm>
          <a:prstGeom prst="rect">
            <a:avLst/>
          </a:prstGeom>
          <a:solidFill>
            <a:srgbClr val="E7EFF8"/>
          </a:solidFill>
          <a:ln w="9525">
            <a:solidFill>
              <a:srgbClr val="1F5F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1F5FA8"/>
                </a:solidFill>
                <a:latin typeface="Menlo"/>
              </a:rPr>
              <a:t>/slice/ota</a:t>
            </a:r>
          </a:p>
        </p:txBody>
      </p:sp>
      <p:sp>
        <p:nvSpPr>
          <p:cNvPr id="16" name="Rectangle 15"/>
          <p:cNvSpPr/>
          <p:nvPr/>
        </p:nvSpPr>
        <p:spPr>
          <a:xfrm>
            <a:off x="6665976" y="2693136"/>
            <a:ext cx="1838858" cy="246888"/>
          </a:xfrm>
          <a:prstGeom prst="rect">
            <a:avLst/>
          </a:prstGeom>
          <a:solidFill>
            <a:srgbClr val="E7EFF8"/>
          </a:solidFill>
          <a:ln w="9525">
            <a:solidFill>
              <a:srgbClr val="1F5F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1F5FA8"/>
                </a:solidFill>
                <a:latin typeface="Menlo"/>
              </a:rPr>
              <a:t>/slice/repeat-offenders</a:t>
            </a:r>
          </a:p>
        </p:txBody>
      </p:sp>
      <p:sp>
        <p:nvSpPr>
          <p:cNvPr id="17" name="Rectangle 16"/>
          <p:cNvSpPr/>
          <p:nvPr/>
        </p:nvSpPr>
        <p:spPr>
          <a:xfrm>
            <a:off x="8587130" y="2693136"/>
            <a:ext cx="1345996" cy="246888"/>
          </a:xfrm>
          <a:prstGeom prst="rect">
            <a:avLst/>
          </a:prstGeom>
          <a:solidFill>
            <a:srgbClr val="E7EFF8"/>
          </a:solidFill>
          <a:ln w="9525">
            <a:solidFill>
              <a:srgbClr val="1F5F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1F5FA8"/>
                </a:solidFill>
                <a:latin typeface="Menlo"/>
              </a:rPr>
              <a:t>/slice/penalties</a:t>
            </a:r>
          </a:p>
        </p:txBody>
      </p:sp>
      <p:sp>
        <p:nvSpPr>
          <p:cNvPr id="18" name="Rectangle 17"/>
          <p:cNvSpPr/>
          <p:nvPr/>
        </p:nvSpPr>
        <p:spPr>
          <a:xfrm>
            <a:off x="10015423" y="2693136"/>
            <a:ext cx="712317" cy="246888"/>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i="0">
                <a:solidFill>
                  <a:srgbClr val="12161C"/>
                </a:solidFill>
                <a:latin typeface="Menlo"/>
              </a:rPr>
              <a:t>/alerts</a:t>
            </a:r>
          </a:p>
        </p:txBody>
      </p:sp>
      <p:sp>
        <p:nvSpPr>
          <p:cNvPr id="19" name="Rectangle 18"/>
          <p:cNvSpPr/>
          <p:nvPr/>
        </p:nvSpPr>
        <p:spPr>
          <a:xfrm>
            <a:off x="1938528" y="3022320"/>
            <a:ext cx="1557223" cy="246888"/>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i="0">
                <a:solidFill>
                  <a:srgbClr val="12161C"/>
                </a:solidFill>
                <a:latin typeface="Menlo"/>
              </a:rPr>
              <a:t>/insights/{persona}</a:t>
            </a:r>
          </a:p>
        </p:txBody>
      </p:sp>
      <p:sp>
        <p:nvSpPr>
          <p:cNvPr id="20" name="Rectangle 19"/>
          <p:cNvSpPr/>
          <p:nvPr/>
        </p:nvSpPr>
        <p:spPr>
          <a:xfrm>
            <a:off x="3578047" y="3022320"/>
            <a:ext cx="571500" cy="246888"/>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i="0">
                <a:solidFill>
                  <a:srgbClr val="12161C"/>
                </a:solidFill>
                <a:latin typeface="Menlo"/>
              </a:rPr>
              <a:t>/chat</a:t>
            </a:r>
          </a:p>
        </p:txBody>
      </p:sp>
      <p:sp>
        <p:nvSpPr>
          <p:cNvPr id="21" name="Rectangle 20"/>
          <p:cNvSpPr/>
          <p:nvPr/>
        </p:nvSpPr>
        <p:spPr>
          <a:xfrm>
            <a:off x="4231843" y="3022320"/>
            <a:ext cx="501091" cy="246888"/>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i="0">
                <a:solidFill>
                  <a:srgbClr val="12161C"/>
                </a:solidFill>
                <a:latin typeface="Menlo"/>
              </a:rPr>
              <a:t>/sla</a:t>
            </a:r>
          </a:p>
        </p:txBody>
      </p:sp>
      <p:sp>
        <p:nvSpPr>
          <p:cNvPr id="22" name="Rectangle 21"/>
          <p:cNvSpPr/>
          <p:nvPr/>
        </p:nvSpPr>
        <p:spPr>
          <a:xfrm>
            <a:off x="4815230" y="3022320"/>
            <a:ext cx="571500" cy="246888"/>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i="0">
                <a:solidFill>
                  <a:srgbClr val="12161C"/>
                </a:solidFill>
                <a:latin typeface="Menlo"/>
              </a:rPr>
              <a:t>/live</a:t>
            </a:r>
          </a:p>
        </p:txBody>
      </p:sp>
      <p:sp>
        <p:nvSpPr>
          <p:cNvPr id="23" name="Rectangle 22"/>
          <p:cNvSpPr/>
          <p:nvPr/>
        </p:nvSpPr>
        <p:spPr>
          <a:xfrm>
            <a:off x="5469026" y="3022320"/>
            <a:ext cx="641908" cy="246888"/>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i="0">
                <a:solidFill>
                  <a:srgbClr val="12161C"/>
                </a:solidFill>
                <a:latin typeface="Menlo"/>
              </a:rPr>
              <a:t>/admin</a:t>
            </a:r>
          </a:p>
        </p:txBody>
      </p:sp>
      <p:sp>
        <p:nvSpPr>
          <p:cNvPr id="24" name="Rectangle 23"/>
          <p:cNvSpPr/>
          <p:nvPr/>
        </p:nvSpPr>
        <p:spPr>
          <a:xfrm>
            <a:off x="6193231" y="3022320"/>
            <a:ext cx="712317" cy="246888"/>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i="0">
                <a:solidFill>
                  <a:srgbClr val="12161C"/>
                </a:solidFill>
                <a:latin typeface="Menlo"/>
              </a:rPr>
              <a:t>/schema</a:t>
            </a:r>
          </a:p>
        </p:txBody>
      </p:sp>
      <p:sp>
        <p:nvSpPr>
          <p:cNvPr id="25" name="TextBox 24"/>
          <p:cNvSpPr txBox="1"/>
          <p:nvPr/>
        </p:nvSpPr>
        <p:spPr>
          <a:xfrm>
            <a:off x="566928" y="2738856"/>
            <a:ext cx="1280160" cy="239941"/>
          </a:xfrm>
          <a:prstGeom prst="rect">
            <a:avLst/>
          </a:prstGeom>
          <a:noFill/>
        </p:spPr>
        <p:txBody>
          <a:bodyPr wrap="square" lIns="0" rIns="0" tIns="0" bIns="0">
            <a:spAutoFit/>
          </a:bodyPr>
          <a:lstStyle/>
          <a:p>
            <a:pPr algn="l">
              <a:lnSpc>
                <a:spcPct val="130000"/>
              </a:lnSpc>
            </a:pPr>
            <a:r>
              <a:rPr sz="950" b="0" i="0">
                <a:solidFill>
                  <a:srgbClr val="5A6472"/>
                </a:solidFill>
                <a:latin typeface="Menlo"/>
              </a:rPr>
              <a:t>REST API</a:t>
            </a:r>
          </a:p>
        </p:txBody>
      </p:sp>
      <p:sp>
        <p:nvSpPr>
          <p:cNvPr id="26" name="Rectangle 25"/>
          <p:cNvSpPr/>
          <p:nvPr/>
        </p:nvSpPr>
        <p:spPr>
          <a:xfrm>
            <a:off x="566928" y="3415512"/>
            <a:ext cx="11057839" cy="8229"/>
          </a:xfrm>
          <a:prstGeom prst="rect">
            <a:avLst/>
          </a:prstGeom>
          <a:solidFill>
            <a:srgbClr val="DCD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938528" y="3543528"/>
            <a:ext cx="1909267" cy="246888"/>
          </a:xfrm>
          <a:prstGeom prst="rect">
            <a:avLst/>
          </a:prstGeom>
          <a:solidFill>
            <a:srgbClr val="E7EFF8"/>
          </a:solidFill>
          <a:ln w="9525">
            <a:solidFill>
              <a:srgbClr val="1F5F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1F5FA8"/>
                </a:solidFill>
                <a:latin typeface="Menlo"/>
              </a:rPr>
              <a:t>MetricDegradationService</a:t>
            </a:r>
          </a:p>
        </p:txBody>
      </p:sp>
      <p:sp>
        <p:nvSpPr>
          <p:cNvPr id="28" name="Rectangle 27"/>
          <p:cNvSpPr/>
          <p:nvPr/>
        </p:nvSpPr>
        <p:spPr>
          <a:xfrm>
            <a:off x="3930091" y="3543528"/>
            <a:ext cx="1557223" cy="246888"/>
          </a:xfrm>
          <a:prstGeom prst="rect">
            <a:avLst/>
          </a:prstGeom>
          <a:solidFill>
            <a:srgbClr val="E7EFF8"/>
          </a:solidFill>
          <a:ln w="9525">
            <a:solidFill>
              <a:srgbClr val="1F5F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1F5FA8"/>
                </a:solidFill>
                <a:latin typeface="Menlo"/>
              </a:rPr>
              <a:t>OtaRootCauseService</a:t>
            </a:r>
          </a:p>
        </p:txBody>
      </p:sp>
      <p:sp>
        <p:nvSpPr>
          <p:cNvPr id="29" name="Rectangle 28"/>
          <p:cNvSpPr/>
          <p:nvPr/>
        </p:nvSpPr>
        <p:spPr>
          <a:xfrm>
            <a:off x="5569610" y="3543528"/>
            <a:ext cx="1064361" cy="246888"/>
          </a:xfrm>
          <a:prstGeom prst="rect">
            <a:avLst/>
          </a:prstGeom>
          <a:solidFill>
            <a:srgbClr val="E7EFF8"/>
          </a:solidFill>
          <a:ln w="9525">
            <a:solidFill>
              <a:srgbClr val="1F5F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1F5FA8"/>
                </a:solidFill>
                <a:latin typeface="Menlo"/>
              </a:rPr>
              <a:t>QueryPlanner</a:t>
            </a:r>
          </a:p>
        </p:txBody>
      </p:sp>
      <p:sp>
        <p:nvSpPr>
          <p:cNvPr id="30" name="Rectangle 29"/>
          <p:cNvSpPr/>
          <p:nvPr/>
        </p:nvSpPr>
        <p:spPr>
          <a:xfrm>
            <a:off x="6716268" y="3543528"/>
            <a:ext cx="1275588" cy="246888"/>
          </a:xfrm>
          <a:prstGeom prst="rect">
            <a:avLst/>
          </a:prstGeom>
          <a:solidFill>
            <a:srgbClr val="E7EFF8"/>
          </a:solidFill>
          <a:ln w="9525">
            <a:solidFill>
              <a:srgbClr val="1F5F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1F5FA8"/>
                </a:solidFill>
                <a:latin typeface="Menlo"/>
              </a:rPr>
              <a:t>SafeSqlExecutor</a:t>
            </a:r>
          </a:p>
        </p:txBody>
      </p:sp>
      <p:sp>
        <p:nvSpPr>
          <p:cNvPr id="31" name="Rectangle 30"/>
          <p:cNvSpPr/>
          <p:nvPr/>
        </p:nvSpPr>
        <p:spPr>
          <a:xfrm>
            <a:off x="8074152" y="3543528"/>
            <a:ext cx="1557223" cy="246888"/>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i="0">
                <a:solidFill>
                  <a:srgbClr val="12161C"/>
                </a:solidFill>
                <a:latin typeface="Menlo"/>
              </a:rPr>
              <a:t>SlicedMetricService</a:t>
            </a:r>
          </a:p>
        </p:txBody>
      </p:sp>
      <p:sp>
        <p:nvSpPr>
          <p:cNvPr id="32" name="Rectangle 31"/>
          <p:cNvSpPr/>
          <p:nvPr/>
        </p:nvSpPr>
        <p:spPr>
          <a:xfrm>
            <a:off x="9713671" y="3543528"/>
            <a:ext cx="782726" cy="246888"/>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i="0">
                <a:solidFill>
                  <a:srgbClr val="12161C"/>
                </a:solidFill>
                <a:latin typeface="Menlo"/>
              </a:rPr>
              <a:t>LlmTrace</a:t>
            </a:r>
          </a:p>
        </p:txBody>
      </p:sp>
      <p:sp>
        <p:nvSpPr>
          <p:cNvPr id="33" name="Rectangle 32"/>
          <p:cNvSpPr/>
          <p:nvPr/>
        </p:nvSpPr>
        <p:spPr>
          <a:xfrm>
            <a:off x="1938528" y="3872712"/>
            <a:ext cx="1134770" cy="246888"/>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i="0">
                <a:solidFill>
                  <a:srgbClr val="12161C"/>
                </a:solidFill>
                <a:latin typeface="Menlo"/>
              </a:rPr>
              <a:t>PersonaRouter</a:t>
            </a:r>
          </a:p>
        </p:txBody>
      </p:sp>
      <p:sp>
        <p:nvSpPr>
          <p:cNvPr id="34" name="Rectangle 33"/>
          <p:cNvSpPr/>
          <p:nvPr/>
        </p:nvSpPr>
        <p:spPr>
          <a:xfrm>
            <a:off x="3155594" y="3872712"/>
            <a:ext cx="1345996" cy="246888"/>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i="0">
                <a:solidFill>
                  <a:srgbClr val="12161C"/>
                </a:solidFill>
                <a:latin typeface="Menlo"/>
              </a:rPr>
              <a:t>SlaPolicyService</a:t>
            </a:r>
          </a:p>
        </p:txBody>
      </p:sp>
      <p:sp>
        <p:nvSpPr>
          <p:cNvPr id="35" name="Rectangle 34"/>
          <p:cNvSpPr/>
          <p:nvPr/>
        </p:nvSpPr>
        <p:spPr>
          <a:xfrm>
            <a:off x="4583887" y="3872712"/>
            <a:ext cx="1134770" cy="246888"/>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i="0">
                <a:solidFill>
                  <a:srgbClr val="12161C"/>
                </a:solidFill>
                <a:latin typeface="Menlo"/>
              </a:rPr>
              <a:t>RuleEvaluator</a:t>
            </a:r>
          </a:p>
        </p:txBody>
      </p:sp>
      <p:sp>
        <p:nvSpPr>
          <p:cNvPr id="36" name="Rectangle 35"/>
          <p:cNvSpPr/>
          <p:nvPr/>
        </p:nvSpPr>
        <p:spPr>
          <a:xfrm>
            <a:off x="5800953" y="3872712"/>
            <a:ext cx="1345996" cy="246888"/>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i="0">
                <a:solidFill>
                  <a:srgbClr val="12161C"/>
                </a:solidFill>
                <a:latin typeface="Menlo"/>
              </a:rPr>
              <a:t>ProactiveScanner</a:t>
            </a:r>
          </a:p>
        </p:txBody>
      </p:sp>
      <p:sp>
        <p:nvSpPr>
          <p:cNvPr id="37" name="TextBox 36"/>
          <p:cNvSpPr txBox="1"/>
          <p:nvPr/>
        </p:nvSpPr>
        <p:spPr>
          <a:xfrm>
            <a:off x="566928" y="3589248"/>
            <a:ext cx="1280160" cy="239941"/>
          </a:xfrm>
          <a:prstGeom prst="rect">
            <a:avLst/>
          </a:prstGeom>
          <a:noFill/>
        </p:spPr>
        <p:txBody>
          <a:bodyPr wrap="square" lIns="0" rIns="0" tIns="0" bIns="0">
            <a:spAutoFit/>
          </a:bodyPr>
          <a:lstStyle/>
          <a:p>
            <a:pPr algn="l">
              <a:lnSpc>
                <a:spcPct val="130000"/>
              </a:lnSpc>
            </a:pPr>
            <a:r>
              <a:rPr sz="950" b="0" i="0">
                <a:solidFill>
                  <a:srgbClr val="5A6472"/>
                </a:solidFill>
                <a:latin typeface="Menlo"/>
              </a:rPr>
              <a:t>DOMAIN</a:t>
            </a:r>
          </a:p>
        </p:txBody>
      </p:sp>
      <p:sp>
        <p:nvSpPr>
          <p:cNvPr id="38" name="Rectangle 37"/>
          <p:cNvSpPr/>
          <p:nvPr/>
        </p:nvSpPr>
        <p:spPr>
          <a:xfrm>
            <a:off x="566928" y="4265904"/>
            <a:ext cx="11057839" cy="8229"/>
          </a:xfrm>
          <a:prstGeom prst="rect">
            <a:avLst/>
          </a:prstGeom>
          <a:solidFill>
            <a:srgbClr val="DCD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938528" y="4393920"/>
            <a:ext cx="430682" cy="246888"/>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i="0">
                <a:solidFill>
                  <a:srgbClr val="12161C"/>
                </a:solidFill>
                <a:latin typeface="Menlo"/>
              </a:rPr>
              <a:t>ota</a:t>
            </a:r>
          </a:p>
        </p:txBody>
      </p:sp>
      <p:sp>
        <p:nvSpPr>
          <p:cNvPr id="40" name="Rectangle 39"/>
          <p:cNvSpPr/>
          <p:nvPr/>
        </p:nvSpPr>
        <p:spPr>
          <a:xfrm>
            <a:off x="2451506" y="4393920"/>
            <a:ext cx="1134770" cy="246888"/>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i="0">
                <a:solidFill>
                  <a:srgbClr val="12161C"/>
                </a:solidFill>
                <a:latin typeface="Menlo"/>
              </a:rPr>
              <a:t>cost_per_trip</a:t>
            </a:r>
          </a:p>
        </p:txBody>
      </p:sp>
      <p:sp>
        <p:nvSpPr>
          <p:cNvPr id="41" name="Rectangle 40"/>
          <p:cNvSpPr/>
          <p:nvPr/>
        </p:nvSpPr>
        <p:spPr>
          <a:xfrm>
            <a:off x="3668572" y="4393920"/>
            <a:ext cx="1064361" cy="246888"/>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i="0">
                <a:solidFill>
                  <a:srgbClr val="12161C"/>
                </a:solidFill>
                <a:latin typeface="Menlo"/>
              </a:rPr>
              <a:t>no_show_rate</a:t>
            </a:r>
          </a:p>
        </p:txBody>
      </p:sp>
      <p:sp>
        <p:nvSpPr>
          <p:cNvPr id="42" name="Rectangle 41"/>
          <p:cNvSpPr/>
          <p:nvPr/>
        </p:nvSpPr>
        <p:spPr>
          <a:xfrm>
            <a:off x="4815230" y="4393920"/>
            <a:ext cx="923544" cy="246888"/>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i="0">
                <a:solidFill>
                  <a:srgbClr val="12161C"/>
                </a:solidFill>
                <a:latin typeface="Menlo"/>
              </a:rPr>
              <a:t>experience</a:t>
            </a:r>
          </a:p>
        </p:txBody>
      </p:sp>
      <p:sp>
        <p:nvSpPr>
          <p:cNvPr id="43" name="Rectangle 42"/>
          <p:cNvSpPr/>
          <p:nvPr/>
        </p:nvSpPr>
        <p:spPr>
          <a:xfrm>
            <a:off x="5821070" y="4393920"/>
            <a:ext cx="1627632" cy="246888"/>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i="0">
                <a:solidFill>
                  <a:srgbClr val="12161C"/>
                </a:solidFill>
                <a:latin typeface="Menlo"/>
              </a:rPr>
              <a:t>safety_alerts_per_1k</a:t>
            </a:r>
          </a:p>
        </p:txBody>
      </p:sp>
      <p:sp>
        <p:nvSpPr>
          <p:cNvPr id="44" name="Rectangle 43"/>
          <p:cNvSpPr/>
          <p:nvPr/>
        </p:nvSpPr>
        <p:spPr>
          <a:xfrm>
            <a:off x="7530998" y="4393920"/>
            <a:ext cx="1345996" cy="246888"/>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i="0">
                <a:solidFill>
                  <a:srgbClr val="12161C"/>
                </a:solidFill>
                <a:latin typeface="Menlo"/>
              </a:rPr>
              <a:t>seat_utilisation</a:t>
            </a:r>
          </a:p>
        </p:txBody>
      </p:sp>
      <p:sp>
        <p:nvSpPr>
          <p:cNvPr id="45" name="Rectangle 44"/>
          <p:cNvSpPr/>
          <p:nvPr/>
        </p:nvSpPr>
        <p:spPr>
          <a:xfrm>
            <a:off x="8959291" y="4393920"/>
            <a:ext cx="782726" cy="246888"/>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i="0">
                <a:solidFill>
                  <a:srgbClr val="12161C"/>
                </a:solidFill>
                <a:latin typeface="Menlo"/>
              </a:rPr>
              <a:t>ev_share</a:t>
            </a:r>
          </a:p>
        </p:txBody>
      </p:sp>
      <p:sp>
        <p:nvSpPr>
          <p:cNvPr id="46" name="Rectangle 45"/>
          <p:cNvSpPr/>
          <p:nvPr/>
        </p:nvSpPr>
        <p:spPr>
          <a:xfrm>
            <a:off x="9824313" y="4393920"/>
            <a:ext cx="1416405" cy="246888"/>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i="0">
                <a:solidFill>
                  <a:srgbClr val="12161C"/>
                </a:solidFill>
                <a:latin typeface="Menlo"/>
              </a:rPr>
              <a:t>worst_product_ota</a:t>
            </a:r>
          </a:p>
        </p:txBody>
      </p:sp>
      <p:sp>
        <p:nvSpPr>
          <p:cNvPr id="47" name="Rectangle 46"/>
          <p:cNvSpPr/>
          <p:nvPr/>
        </p:nvSpPr>
        <p:spPr>
          <a:xfrm>
            <a:off x="1938528" y="4723104"/>
            <a:ext cx="1345996" cy="246888"/>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i="0">
                <a:solidFill>
                  <a:srgbClr val="12161C"/>
                </a:solidFill>
                <a:latin typeface="Menlo"/>
              </a:rPr>
              <a:t>penalty_exposure</a:t>
            </a:r>
          </a:p>
        </p:txBody>
      </p:sp>
      <p:sp>
        <p:nvSpPr>
          <p:cNvPr id="48" name="TextBox 47"/>
          <p:cNvSpPr txBox="1"/>
          <p:nvPr/>
        </p:nvSpPr>
        <p:spPr>
          <a:xfrm>
            <a:off x="566928" y="4439640"/>
            <a:ext cx="1280160" cy="239941"/>
          </a:xfrm>
          <a:prstGeom prst="rect">
            <a:avLst/>
          </a:prstGeom>
          <a:noFill/>
        </p:spPr>
        <p:txBody>
          <a:bodyPr wrap="square" lIns="0" rIns="0" tIns="0" bIns="0">
            <a:spAutoFit/>
          </a:bodyPr>
          <a:lstStyle/>
          <a:p>
            <a:pPr algn="l">
              <a:lnSpc>
                <a:spcPct val="130000"/>
              </a:lnSpc>
            </a:pPr>
            <a:r>
              <a:rPr sz="950" b="0" i="0">
                <a:solidFill>
                  <a:srgbClr val="5A6472"/>
                </a:solidFill>
                <a:latin typeface="Menlo"/>
              </a:rPr>
              <a:t>METRIC SPI</a:t>
            </a:r>
          </a:p>
        </p:txBody>
      </p:sp>
      <p:sp>
        <p:nvSpPr>
          <p:cNvPr id="49" name="Rectangle 48"/>
          <p:cNvSpPr/>
          <p:nvPr/>
        </p:nvSpPr>
        <p:spPr>
          <a:xfrm>
            <a:off x="566928" y="5116296"/>
            <a:ext cx="11057839" cy="8229"/>
          </a:xfrm>
          <a:prstGeom prst="rect">
            <a:avLst/>
          </a:prstGeom>
          <a:solidFill>
            <a:srgbClr val="DCD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938528" y="5244312"/>
            <a:ext cx="1627632" cy="246888"/>
          </a:xfrm>
          <a:prstGeom prst="rect">
            <a:avLst/>
          </a:prstGeom>
          <a:solidFill>
            <a:srgbClr val="E7EFF8"/>
          </a:solidFill>
          <a:ln w="9525">
            <a:solidFill>
              <a:srgbClr val="1F5F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1F5FA8"/>
                </a:solidFill>
                <a:latin typeface="Menlo"/>
              </a:rPr>
              <a:t>Sarvam (priority 10)</a:t>
            </a:r>
          </a:p>
        </p:txBody>
      </p:sp>
      <p:sp>
        <p:nvSpPr>
          <p:cNvPr id="51" name="Rectangle 50"/>
          <p:cNvSpPr/>
          <p:nvPr/>
        </p:nvSpPr>
        <p:spPr>
          <a:xfrm>
            <a:off x="3648456" y="5244312"/>
            <a:ext cx="1838858" cy="246888"/>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i="0">
                <a:solidFill>
                  <a:srgbClr val="12161C"/>
                </a:solidFill>
                <a:latin typeface="Menlo"/>
              </a:rPr>
              <a:t>→ Template (priority 0)</a:t>
            </a:r>
          </a:p>
        </p:txBody>
      </p:sp>
      <p:sp>
        <p:nvSpPr>
          <p:cNvPr id="52" name="Rectangle 51"/>
          <p:cNvSpPr/>
          <p:nvPr/>
        </p:nvSpPr>
        <p:spPr>
          <a:xfrm>
            <a:off x="5569610" y="5244312"/>
            <a:ext cx="2120493" cy="246888"/>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i="0">
                <a:solidFill>
                  <a:srgbClr val="12161C"/>
                </a:solidFill>
                <a:latin typeface="Menlo"/>
              </a:rPr>
              <a:t>cached by finding × persona</a:t>
            </a:r>
          </a:p>
        </p:txBody>
      </p:sp>
      <p:sp>
        <p:nvSpPr>
          <p:cNvPr id="53" name="Rectangle 52"/>
          <p:cNvSpPr/>
          <p:nvPr/>
        </p:nvSpPr>
        <p:spPr>
          <a:xfrm>
            <a:off x="7772400" y="5244312"/>
            <a:ext cx="1416405" cy="246888"/>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i="0">
                <a:solidFill>
                  <a:srgbClr val="12161C"/>
                </a:solidFill>
                <a:latin typeface="Menlo"/>
              </a:rPr>
              <a:t>every call traced</a:t>
            </a:r>
          </a:p>
        </p:txBody>
      </p:sp>
      <p:sp>
        <p:nvSpPr>
          <p:cNvPr id="54" name="TextBox 53"/>
          <p:cNvSpPr txBox="1"/>
          <p:nvPr/>
        </p:nvSpPr>
        <p:spPr>
          <a:xfrm>
            <a:off x="566928" y="5290032"/>
            <a:ext cx="1280160" cy="239941"/>
          </a:xfrm>
          <a:prstGeom prst="rect">
            <a:avLst/>
          </a:prstGeom>
          <a:noFill/>
        </p:spPr>
        <p:txBody>
          <a:bodyPr wrap="square" lIns="0" rIns="0" tIns="0" bIns="0">
            <a:spAutoFit/>
          </a:bodyPr>
          <a:lstStyle/>
          <a:p>
            <a:pPr algn="l">
              <a:lnSpc>
                <a:spcPct val="130000"/>
              </a:lnSpc>
            </a:pPr>
            <a:r>
              <a:rPr sz="950" b="0" i="0">
                <a:solidFill>
                  <a:srgbClr val="5A6472"/>
                </a:solidFill>
                <a:latin typeface="Menlo"/>
              </a:rPr>
              <a:t>NARRATIVE</a:t>
            </a:r>
          </a:p>
        </p:txBody>
      </p:sp>
      <p:sp>
        <p:nvSpPr>
          <p:cNvPr id="55" name="Rectangle 54"/>
          <p:cNvSpPr/>
          <p:nvPr/>
        </p:nvSpPr>
        <p:spPr>
          <a:xfrm>
            <a:off x="566928" y="5637504"/>
            <a:ext cx="11057839" cy="8229"/>
          </a:xfrm>
          <a:prstGeom prst="rect">
            <a:avLst/>
          </a:prstGeom>
          <a:solidFill>
            <a:srgbClr val="DCD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938528" y="5765520"/>
            <a:ext cx="1698040" cy="246888"/>
          </a:xfrm>
          <a:prstGeom prst="rect">
            <a:avLst/>
          </a:prstGeom>
          <a:solidFill>
            <a:srgbClr val="E7EFF8"/>
          </a:solidFill>
          <a:ln w="9525">
            <a:solidFill>
              <a:srgbClr val="1F5F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i="0">
                <a:solidFill>
                  <a:srgbClr val="1F5FA8"/>
                </a:solidFill>
                <a:latin typeface="Menlo"/>
              </a:rPr>
              <a:t>IN_APP → in_app_alert</a:t>
            </a:r>
          </a:p>
        </p:txBody>
      </p:sp>
      <p:sp>
        <p:nvSpPr>
          <p:cNvPr id="57" name="Rectangle 56"/>
          <p:cNvSpPr/>
          <p:nvPr/>
        </p:nvSpPr>
        <p:spPr>
          <a:xfrm>
            <a:off x="3718864" y="5765520"/>
            <a:ext cx="1345996" cy="246888"/>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i="0">
                <a:solidFill>
                  <a:srgbClr val="12161C"/>
                </a:solidFill>
                <a:latin typeface="Menlo"/>
              </a:rPr>
              <a:t>EMAIL (optional)</a:t>
            </a:r>
          </a:p>
        </p:txBody>
      </p:sp>
      <p:sp>
        <p:nvSpPr>
          <p:cNvPr id="58" name="Rectangle 57"/>
          <p:cNvSpPr/>
          <p:nvPr/>
        </p:nvSpPr>
        <p:spPr>
          <a:xfrm>
            <a:off x="5147157" y="5765520"/>
            <a:ext cx="1979676" cy="246888"/>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i="0">
                <a:solidFill>
                  <a:srgbClr val="12161C"/>
                </a:solidFill>
                <a:latin typeface="Menlo"/>
              </a:rPr>
              <a:t>AlertScheduler · 60s tick</a:t>
            </a:r>
          </a:p>
        </p:txBody>
      </p:sp>
      <p:sp>
        <p:nvSpPr>
          <p:cNvPr id="59" name="TextBox 58"/>
          <p:cNvSpPr txBox="1"/>
          <p:nvPr/>
        </p:nvSpPr>
        <p:spPr>
          <a:xfrm>
            <a:off x="566928" y="5811240"/>
            <a:ext cx="1280160" cy="239941"/>
          </a:xfrm>
          <a:prstGeom prst="rect">
            <a:avLst/>
          </a:prstGeom>
          <a:noFill/>
        </p:spPr>
        <p:txBody>
          <a:bodyPr wrap="square" lIns="0" rIns="0" tIns="0" bIns="0">
            <a:spAutoFit/>
          </a:bodyPr>
          <a:lstStyle/>
          <a:p>
            <a:pPr algn="l">
              <a:lnSpc>
                <a:spcPct val="130000"/>
              </a:lnSpc>
            </a:pPr>
            <a:r>
              <a:rPr sz="950" b="0" i="0">
                <a:solidFill>
                  <a:srgbClr val="5A6472"/>
                </a:solidFill>
                <a:latin typeface="Menlo"/>
              </a:rPr>
              <a:t>DELIVERY</a:t>
            </a:r>
          </a:p>
        </p:txBody>
      </p:sp>
      <p:sp>
        <p:nvSpPr>
          <p:cNvPr id="60" name="Rectangle 59"/>
          <p:cNvSpPr/>
          <p:nvPr/>
        </p:nvSpPr>
        <p:spPr>
          <a:xfrm>
            <a:off x="566928" y="6158712"/>
            <a:ext cx="11057839" cy="8229"/>
          </a:xfrm>
          <a:prstGeom prst="rect">
            <a:avLst/>
          </a:prstGeom>
          <a:solidFill>
            <a:srgbClr val="DCD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938528" y="6286728"/>
            <a:ext cx="1698040" cy="246888"/>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i="0">
                <a:solidFill>
                  <a:srgbClr val="12161C"/>
                </a:solidFill>
                <a:latin typeface="Menlo"/>
              </a:rPr>
              <a:t>Postgres · 615K trips</a:t>
            </a:r>
          </a:p>
        </p:txBody>
      </p:sp>
      <p:sp>
        <p:nvSpPr>
          <p:cNvPr id="62" name="Rectangle 61"/>
          <p:cNvSpPr/>
          <p:nvPr/>
        </p:nvSpPr>
        <p:spPr>
          <a:xfrm>
            <a:off x="3718864" y="6286728"/>
            <a:ext cx="1557223" cy="246888"/>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i="0">
                <a:solidFill>
                  <a:srgbClr val="12161C"/>
                </a:solidFill>
                <a:latin typeface="Menlo"/>
              </a:rPr>
              <a:t>1.6M trip_employees</a:t>
            </a:r>
          </a:p>
        </p:txBody>
      </p:sp>
      <p:sp>
        <p:nvSpPr>
          <p:cNvPr id="63" name="Rectangle 62"/>
          <p:cNvSpPr/>
          <p:nvPr/>
        </p:nvSpPr>
        <p:spPr>
          <a:xfrm>
            <a:off x="5358384" y="6286728"/>
            <a:ext cx="1064361" cy="246888"/>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i="0">
                <a:solidFill>
                  <a:srgbClr val="12161C"/>
                </a:solidFill>
                <a:latin typeface="Menlo"/>
              </a:rPr>
              <a:t>620K billing</a:t>
            </a:r>
          </a:p>
        </p:txBody>
      </p:sp>
      <p:sp>
        <p:nvSpPr>
          <p:cNvPr id="64" name="Rectangle 63"/>
          <p:cNvSpPr/>
          <p:nvPr/>
        </p:nvSpPr>
        <p:spPr>
          <a:xfrm>
            <a:off x="6505041" y="6286728"/>
            <a:ext cx="1134770" cy="246888"/>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i="0">
                <a:solidFill>
                  <a:srgbClr val="12161C"/>
                </a:solidFill>
                <a:latin typeface="Menlo"/>
              </a:rPr>
              <a:t>513K feedback</a:t>
            </a:r>
          </a:p>
        </p:txBody>
      </p:sp>
      <p:sp>
        <p:nvSpPr>
          <p:cNvPr id="65" name="Rectangle 64"/>
          <p:cNvSpPr/>
          <p:nvPr/>
        </p:nvSpPr>
        <p:spPr>
          <a:xfrm>
            <a:off x="7722108" y="6286728"/>
            <a:ext cx="2050084" cy="246888"/>
          </a:xfrm>
          <a:prstGeom prst="rect">
            <a:avLst/>
          </a:prstGeom>
          <a:solidFill>
            <a:srgbClr val="F3F4F1"/>
          </a:solidFill>
          <a:ln w="9525">
            <a:solidFill>
              <a:srgbClr val="DCDFD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i="0">
                <a:solidFill>
                  <a:srgbClr val="12161C"/>
                </a:solidFill>
                <a:latin typeface="Menlo"/>
              </a:rPr>
              <a:t>ETL: one-time load + clean</a:t>
            </a:r>
          </a:p>
        </p:txBody>
      </p:sp>
      <p:sp>
        <p:nvSpPr>
          <p:cNvPr id="66" name="TextBox 65"/>
          <p:cNvSpPr txBox="1"/>
          <p:nvPr/>
        </p:nvSpPr>
        <p:spPr>
          <a:xfrm>
            <a:off x="566928" y="6332448"/>
            <a:ext cx="1280160" cy="239941"/>
          </a:xfrm>
          <a:prstGeom prst="rect">
            <a:avLst/>
          </a:prstGeom>
          <a:noFill/>
        </p:spPr>
        <p:txBody>
          <a:bodyPr wrap="square" lIns="0" rIns="0" tIns="0" bIns="0">
            <a:spAutoFit/>
          </a:bodyPr>
          <a:lstStyle/>
          <a:p>
            <a:pPr algn="l">
              <a:lnSpc>
                <a:spcPct val="130000"/>
              </a:lnSpc>
            </a:pPr>
            <a:r>
              <a:rPr sz="950" b="0" i="0">
                <a:solidFill>
                  <a:srgbClr val="5A6472"/>
                </a:solidFill>
                <a:latin typeface="Menlo"/>
              </a:rPr>
              <a:t>DATA</a:t>
            </a:r>
          </a:p>
        </p:txBody>
      </p:sp>
      <p:sp>
        <p:nvSpPr>
          <p:cNvPr id="67" name="TextBox 66"/>
          <p:cNvSpPr txBox="1"/>
          <p:nvPr/>
        </p:nvSpPr>
        <p:spPr>
          <a:xfrm>
            <a:off x="566928" y="6455664"/>
            <a:ext cx="11057839" cy="230200"/>
          </a:xfrm>
          <a:prstGeom prst="rect">
            <a:avLst/>
          </a:prstGeom>
          <a:noFill/>
        </p:spPr>
        <p:txBody>
          <a:bodyPr wrap="square" lIns="0" rIns="0" tIns="0" bIns="0">
            <a:spAutoFit/>
          </a:bodyPr>
          <a:lstStyle/>
          <a:p>
            <a:pPr algn="ctr">
              <a:lnSpc>
                <a:spcPct val="130000"/>
              </a:lnSpc>
            </a:pPr>
            <a:r>
              <a:rPr sz="900" b="0" i="0">
                <a:solidFill>
                  <a:srgbClr val="8A93A0"/>
                </a:solidFill>
                <a:latin typeface="Menlo"/>
              </a:rPr>
              <a:t>RouteMind · figures computed live from the loaded dataset, 5 September 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48640"/>
            <a:ext cx="457200" cy="288645"/>
          </a:xfrm>
          <a:prstGeom prst="rect">
            <a:avLst/>
          </a:prstGeom>
          <a:noFill/>
        </p:spPr>
        <p:txBody>
          <a:bodyPr wrap="square" lIns="0" rIns="0" tIns="0" bIns="0">
            <a:spAutoFit/>
          </a:bodyPr>
          <a:lstStyle/>
          <a:p>
            <a:pPr algn="l">
              <a:lnSpc>
                <a:spcPct val="130000"/>
              </a:lnSpc>
            </a:pPr>
            <a:r>
              <a:rPr sz="1200" b="1" i="0">
                <a:solidFill>
                  <a:srgbClr val="1F5FA8"/>
                </a:solidFill>
                <a:latin typeface="Menlo"/>
              </a:rPr>
              <a:t>06</a:t>
            </a:r>
          </a:p>
        </p:txBody>
      </p:sp>
      <p:sp>
        <p:nvSpPr>
          <p:cNvPr id="4" name="TextBox 3"/>
          <p:cNvSpPr txBox="1"/>
          <p:nvPr/>
        </p:nvSpPr>
        <p:spPr>
          <a:xfrm>
            <a:off x="1097280" y="475488"/>
            <a:ext cx="10509199" cy="239941"/>
          </a:xfrm>
          <a:prstGeom prst="rect">
            <a:avLst/>
          </a:prstGeom>
          <a:noFill/>
        </p:spPr>
        <p:txBody>
          <a:bodyPr wrap="square" lIns="0" rIns="0" tIns="0" bIns="0">
            <a:spAutoFit/>
          </a:bodyPr>
          <a:lstStyle/>
          <a:p>
            <a:pPr algn="l">
              <a:lnSpc>
                <a:spcPct val="130000"/>
              </a:lnSpc>
            </a:pPr>
            <a:r>
              <a:rPr sz="950" b="0" i="0">
                <a:solidFill>
                  <a:srgbClr val="8A93A0"/>
                </a:solidFill>
                <a:latin typeface="Menlo"/>
              </a:rPr>
              <a:t>ARCHITECTURE</a:t>
            </a:r>
          </a:p>
        </p:txBody>
      </p:sp>
      <p:sp>
        <p:nvSpPr>
          <p:cNvPr id="5" name="TextBox 4"/>
          <p:cNvSpPr txBox="1"/>
          <p:nvPr/>
        </p:nvSpPr>
        <p:spPr>
          <a:xfrm>
            <a:off x="1097280" y="667512"/>
            <a:ext cx="10509199" cy="479717"/>
          </a:xfrm>
          <a:prstGeom prst="rect">
            <a:avLst/>
          </a:prstGeom>
          <a:noFill/>
        </p:spPr>
        <p:txBody>
          <a:bodyPr wrap="square" lIns="0" rIns="0" tIns="0" bIns="0">
            <a:spAutoFit/>
          </a:bodyPr>
          <a:lstStyle/>
          <a:p>
            <a:pPr algn="l">
              <a:lnSpc>
                <a:spcPct val="105000"/>
              </a:lnSpc>
            </a:pPr>
            <a:r>
              <a:rPr sz="2700" b="1" i="0">
                <a:solidFill>
                  <a:srgbClr val="12161C"/>
                </a:solidFill>
                <a:latin typeface="Arial"/>
              </a:rPr>
              <a:t>Three properties that make it extensible</a:t>
            </a:r>
          </a:p>
        </p:txBody>
      </p:sp>
      <p:sp>
        <p:nvSpPr>
          <p:cNvPr id="6" name="Rectangle 5"/>
          <p:cNvSpPr/>
          <p:nvPr/>
        </p:nvSpPr>
        <p:spPr>
          <a:xfrm>
            <a:off x="566928" y="1527048"/>
            <a:ext cx="3490874" cy="2377440"/>
          </a:xfrm>
          <a:prstGeom prst="rect">
            <a:avLst/>
          </a:prstGeom>
          <a:solidFill>
            <a:srgbClr val="FFFFFF"/>
          </a:solidFill>
          <a:ln w="9525">
            <a:solidFill>
              <a:srgbClr val="C3C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527048"/>
            <a:ext cx="3490874" cy="4572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892808"/>
            <a:ext cx="2905658" cy="342595"/>
          </a:xfrm>
          <a:prstGeom prst="rect">
            <a:avLst/>
          </a:prstGeom>
          <a:noFill/>
        </p:spPr>
        <p:txBody>
          <a:bodyPr wrap="square" lIns="0" rIns="0" tIns="0" bIns="0">
            <a:spAutoFit/>
          </a:bodyPr>
          <a:lstStyle/>
          <a:p>
            <a:pPr algn="l">
              <a:lnSpc>
                <a:spcPct val="120000"/>
              </a:lnSpc>
            </a:pPr>
            <a:r>
              <a:rPr sz="1600" b="1" i="0">
                <a:solidFill>
                  <a:srgbClr val="12161C"/>
                </a:solidFill>
                <a:latin typeface="Arial"/>
              </a:rPr>
              <a:t>A metric is a plugin</a:t>
            </a:r>
          </a:p>
        </p:txBody>
      </p:sp>
      <p:sp>
        <p:nvSpPr>
          <p:cNvPr id="9" name="TextBox 8"/>
          <p:cNvSpPr txBox="1"/>
          <p:nvPr/>
        </p:nvSpPr>
        <p:spPr>
          <a:xfrm>
            <a:off x="859536" y="2441448"/>
            <a:ext cx="2905658" cy="1684591"/>
          </a:xfrm>
          <a:prstGeom prst="rect">
            <a:avLst/>
          </a:prstGeom>
          <a:noFill/>
        </p:spPr>
        <p:txBody>
          <a:bodyPr wrap="square" lIns="0" rIns="0" tIns="0" bIns="0">
            <a:spAutoFit/>
          </a:bodyPr>
          <a:lstStyle/>
          <a:p>
            <a:pPr algn="l">
              <a:lnSpc>
                <a:spcPct val="145000"/>
              </a:lnSpc>
            </a:pPr>
            <a:r>
              <a:rPr sz="1250" b="0" i="0">
                <a:solidFill>
                  <a:srgbClr val="5A6472"/>
                </a:solidFill>
                <a:latin typeface="Arial"/>
              </a:rPr>
              <a:t>Implement MetricDefinition, annotate @Component. It is then automatically registered, benchmarked, rule-evaluated, narrated and persona-routed. Adding a metric changes no other file.</a:t>
            </a:r>
          </a:p>
        </p:txBody>
      </p:sp>
      <p:sp>
        <p:nvSpPr>
          <p:cNvPr id="10" name="Rectangle 9"/>
          <p:cNvSpPr/>
          <p:nvPr/>
        </p:nvSpPr>
        <p:spPr>
          <a:xfrm>
            <a:off x="4350410" y="1527048"/>
            <a:ext cx="3490874" cy="2377440"/>
          </a:xfrm>
          <a:prstGeom prst="rect">
            <a:avLst/>
          </a:prstGeom>
          <a:solidFill>
            <a:srgbClr val="FFFFFF"/>
          </a:solidFill>
          <a:ln w="9525">
            <a:solidFill>
              <a:srgbClr val="C3C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50410" y="1527048"/>
            <a:ext cx="3490874" cy="45720"/>
          </a:xfrm>
          <a:prstGeom prst="rect">
            <a:avLst/>
          </a:prstGeom>
          <a:solidFill>
            <a:srgbClr val="B4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43018" y="1892808"/>
            <a:ext cx="2905658" cy="342595"/>
          </a:xfrm>
          <a:prstGeom prst="rect">
            <a:avLst/>
          </a:prstGeom>
          <a:noFill/>
        </p:spPr>
        <p:txBody>
          <a:bodyPr wrap="square" lIns="0" rIns="0" tIns="0" bIns="0">
            <a:spAutoFit/>
          </a:bodyPr>
          <a:lstStyle/>
          <a:p>
            <a:pPr algn="l">
              <a:lnSpc>
                <a:spcPct val="120000"/>
              </a:lnSpc>
            </a:pPr>
            <a:r>
              <a:rPr sz="1600" b="1" i="0">
                <a:solidFill>
                  <a:srgbClr val="12161C"/>
                </a:solidFill>
                <a:latin typeface="Arial"/>
              </a:rPr>
              <a:t>A tenant is config</a:t>
            </a:r>
          </a:p>
        </p:txBody>
      </p:sp>
      <p:sp>
        <p:nvSpPr>
          <p:cNvPr id="13" name="TextBox 12"/>
          <p:cNvSpPr txBox="1"/>
          <p:nvPr/>
        </p:nvSpPr>
        <p:spPr>
          <a:xfrm>
            <a:off x="4643018" y="2441448"/>
            <a:ext cx="2905658" cy="1412970"/>
          </a:xfrm>
          <a:prstGeom prst="rect">
            <a:avLst/>
          </a:prstGeom>
          <a:noFill/>
        </p:spPr>
        <p:txBody>
          <a:bodyPr wrap="square" lIns="0" rIns="0" tIns="0" bIns="0">
            <a:spAutoFit/>
          </a:bodyPr>
          <a:lstStyle/>
          <a:p>
            <a:pPr algn="l">
              <a:lnSpc>
                <a:spcPct val="145000"/>
              </a:lnSpc>
            </a:pPr>
            <a:r>
              <a:rPr sz="1250" b="0" i="0">
                <a:solidFill>
                  <a:srgbClr val="5A6472"/>
                </a:solidFill>
                <a:latin typeface="Arial"/>
              </a:rPr>
              <a:t>Targets, SLA tolerances, persona→metric routing, alert cadence and product exclusions all live in YAML or the database. A new customer is a config change, never a deploy.</a:t>
            </a:r>
          </a:p>
        </p:txBody>
      </p:sp>
      <p:sp>
        <p:nvSpPr>
          <p:cNvPr id="14" name="Rectangle 13"/>
          <p:cNvSpPr/>
          <p:nvPr/>
        </p:nvSpPr>
        <p:spPr>
          <a:xfrm>
            <a:off x="8133892" y="1527048"/>
            <a:ext cx="3490874" cy="2377440"/>
          </a:xfrm>
          <a:prstGeom prst="rect">
            <a:avLst/>
          </a:prstGeom>
          <a:solidFill>
            <a:srgbClr val="FFFFFF"/>
          </a:solidFill>
          <a:ln w="9525">
            <a:solidFill>
              <a:srgbClr val="C3C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3892" y="1527048"/>
            <a:ext cx="3490874" cy="45720"/>
          </a:xfrm>
          <a:prstGeom prst="rect">
            <a:avLst/>
          </a:prstGeom>
          <a:solidFill>
            <a:srgbClr val="2E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26500" y="1892808"/>
            <a:ext cx="2905658" cy="342595"/>
          </a:xfrm>
          <a:prstGeom prst="rect">
            <a:avLst/>
          </a:prstGeom>
          <a:noFill/>
        </p:spPr>
        <p:txBody>
          <a:bodyPr wrap="square" lIns="0" rIns="0" tIns="0" bIns="0">
            <a:spAutoFit/>
          </a:bodyPr>
          <a:lstStyle/>
          <a:p>
            <a:pPr algn="l">
              <a:lnSpc>
                <a:spcPct val="120000"/>
              </a:lnSpc>
            </a:pPr>
            <a:r>
              <a:rPr sz="1600" b="1" i="0">
                <a:solidFill>
                  <a:srgbClr val="12161C"/>
                </a:solidFill>
                <a:latin typeface="Arial"/>
              </a:rPr>
              <a:t>Everything degrades</a:t>
            </a:r>
          </a:p>
        </p:txBody>
      </p:sp>
      <p:sp>
        <p:nvSpPr>
          <p:cNvPr id="17" name="TextBox 16"/>
          <p:cNvSpPr txBox="1"/>
          <p:nvPr/>
        </p:nvSpPr>
        <p:spPr>
          <a:xfrm>
            <a:off x="8426500" y="2441448"/>
            <a:ext cx="2905658" cy="1412970"/>
          </a:xfrm>
          <a:prstGeom prst="rect">
            <a:avLst/>
          </a:prstGeom>
          <a:noFill/>
        </p:spPr>
        <p:txBody>
          <a:bodyPr wrap="square" lIns="0" rIns="0" tIns="0" bIns="0">
            <a:spAutoFit/>
          </a:bodyPr>
          <a:lstStyle/>
          <a:p>
            <a:pPr algn="l">
              <a:lnSpc>
                <a:spcPct val="145000"/>
              </a:lnSpc>
            </a:pPr>
            <a:r>
              <a:rPr sz="1250" b="0" i="0">
                <a:solidFill>
                  <a:srgbClr val="5A6472"/>
                </a:solidFill>
                <a:latin typeface="Arial"/>
              </a:rPr>
              <a:t>No LLM key → template narrative. No SMTP → dry-run to the log. No Kafka → historical-pattern prediction instead of live GPS. The demo runs end to end on a laptop.</a:t>
            </a:r>
          </a:p>
        </p:txBody>
      </p:sp>
      <p:sp>
        <p:nvSpPr>
          <p:cNvPr id="18" name="Rectangle 17"/>
          <p:cNvSpPr/>
          <p:nvPr/>
        </p:nvSpPr>
        <p:spPr>
          <a:xfrm>
            <a:off x="566928" y="4270248"/>
            <a:ext cx="11057839" cy="1051560"/>
          </a:xfrm>
          <a:prstGeom prst="rect">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 y="4270248"/>
            <a:ext cx="36576" cy="105156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824" y="4453128"/>
            <a:ext cx="10417759" cy="317868"/>
          </a:xfrm>
          <a:prstGeom prst="rect">
            <a:avLst/>
          </a:prstGeom>
          <a:noFill/>
        </p:spPr>
        <p:txBody>
          <a:bodyPr wrap="square" lIns="0" rIns="0" tIns="0" bIns="0">
            <a:spAutoFit/>
          </a:bodyPr>
          <a:lstStyle/>
          <a:p>
            <a:pPr algn="l">
              <a:lnSpc>
                <a:spcPct val="130000"/>
              </a:lnSpc>
            </a:pPr>
            <a:r>
              <a:rPr sz="1350" b="1" i="0">
                <a:solidFill>
                  <a:srgbClr val="12161C"/>
                </a:solidFill>
                <a:latin typeface="Arial"/>
              </a:rPr>
              <a:t>Java 24 virtual threads are enabled</a:t>
            </a:r>
          </a:p>
        </p:txBody>
      </p:sp>
      <p:sp>
        <p:nvSpPr>
          <p:cNvPr id="21" name="TextBox 20"/>
          <p:cNvSpPr txBox="1"/>
          <p:nvPr/>
        </p:nvSpPr>
        <p:spPr>
          <a:xfrm>
            <a:off x="877824" y="4754880"/>
            <a:ext cx="10417759" cy="810158"/>
          </a:xfrm>
          <a:prstGeom prst="rect">
            <a:avLst/>
          </a:prstGeom>
          <a:noFill/>
        </p:spPr>
        <p:txBody>
          <a:bodyPr wrap="square" lIns="0" rIns="0" tIns="0" bIns="0">
            <a:spAutoFit/>
          </a:bodyPr>
          <a:lstStyle/>
          <a:p>
            <a:pPr algn="l">
              <a:lnSpc>
                <a:spcPct val="140000"/>
              </a:lnSpc>
            </a:pPr>
            <a:r>
              <a:rPr sz="1200" b="0" i="0">
                <a:solidFill>
                  <a:srgbClr val="5A6472"/>
                </a:solidFill>
                <a:latin typeface="Arial"/>
              </a:rPr>
              <a:t>The workload is blocking I/O — Postgres plus at most one outbound LLM call — so each request gets a cheap virtual thread and the connection pool, not the thread pool, becomes the real limit. JEP 491 removed the synchronized-block pinning that used to make this counterproductive under JDBC.</a:t>
            </a:r>
          </a:p>
        </p:txBody>
      </p:sp>
      <p:sp>
        <p:nvSpPr>
          <p:cNvPr id="22" name="TextBox 21"/>
          <p:cNvSpPr txBox="1"/>
          <p:nvPr/>
        </p:nvSpPr>
        <p:spPr>
          <a:xfrm>
            <a:off x="566928" y="6455664"/>
            <a:ext cx="11057839" cy="230200"/>
          </a:xfrm>
          <a:prstGeom prst="rect">
            <a:avLst/>
          </a:prstGeom>
          <a:noFill/>
        </p:spPr>
        <p:txBody>
          <a:bodyPr wrap="square" lIns="0" rIns="0" tIns="0" bIns="0">
            <a:spAutoFit/>
          </a:bodyPr>
          <a:lstStyle/>
          <a:p>
            <a:pPr algn="ctr">
              <a:lnSpc>
                <a:spcPct val="130000"/>
              </a:lnSpc>
            </a:pPr>
            <a:r>
              <a:rPr sz="900" b="0" i="0">
                <a:solidFill>
                  <a:srgbClr val="8A93A0"/>
                </a:solidFill>
                <a:latin typeface="Menlo"/>
              </a:rPr>
              <a:t>RouteMind · figures computed live from the loaded dataset, 5 September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